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here — this is what's on screen while people sit down. Start on slide 2.
[FILL] Your team name and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the research properly. We prototyped several orchestration approaches and Step Functions won. Good decision.
And then implementation started, and within about a week it was clear that decision was going to be very hard to execute — for a reason that had nothing to do with architecture."
Pause. Then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three out loud, slowly, then move on without answering any of them. This is the arc of the talk — three promises you keep.
Tell them the amber/green convention explicitly. It costs eight seconds and it makes every payoff land, because they recognise it instead of having to be told.
Question 2 closes soon (four slides), which is deliberate — it teaches the room that the promises are real, so they keep holding 1 and 3.
The riskiest of the three is #1. If your real export-job number isn't striking, cut this promise and keep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explicitly, it earns you patience: "I'm not going to show you the architecture and then explain it. You're going to arrive at it with me, one question at a time."
Also say the production diagram is in the appendix and in the repo, so the architects stop waiting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flat. Let it sound as small as it sounded on day one.
Then ask the question out loud and actually pause. Let two or three people guess. This is the moment the audience joins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at a time. The last one changes the problem.
"A thousand lost recordings a day is a thousand lost recordings a day. This became a distributed systems problem the moment that number was zero."
[FILL] I derived 5.5 TB/day from 1M x 5.5 MB. Use the real S3 growth figure if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 for the vendor to build us something was not on the table.
"The question stopped being 'how do we move a file' and became 'how do you build enterprise ingestion when the only surface you're allowed to touch is someone else's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it's the setup for the first real experiment. The two labels do the work.
Say, without resolving it: "We were right about which one was painful. We were wrong about what that meant." That's open question 2 tightening. Don't explain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the 90% for a beat — it was a real result and the team was pleased.
Then: "Ninety percent is a great engineering result and a failing grade at the same time."
One spoken sentence on tracking, no slide: every call is tracked as state; streaming lands, the call closes; it doesn't land in the window, recovery opens automatically. Nobody reconciles by hand. Appendix A3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quickly. The point isn't the steps — it's that this thing has waits, retries and callbacks and spans several Lambdas.
Then close question 2 explicitly: "That's the first of the three. The painful API wasn't the peripheral one. Streaming was most of the traffic and almost none of the difficulty. Everything hard on this project lives in the recovery path — including the thing that nearly went wrong."
Closing one early is what buys you the other two for the next fifteen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shortlist. We built in each of them."
Say out loud, not on the slide: chosen on simplicity, resiliency — and honestly, on what the team already knew.
Say the last line as written. Team familiarity was genuinely part of this decision, and admitting it is what makes the rest of the talk credible — someone in that room was in those conversations. A talk that claims pure measurement when the room remembers otherwise loses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 this is the one factual claim in the talk someone will go and check.
[FILL] VERIFY whether this is still true today. Saying "this may have improved since" from the stage costs you nothing; being caught out costs you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with your finger, then land the number.
"That's the price of finding out you got a retry policy wrong."
[FILL] How long one deploy-and-test cycle actually took. This number makes the next three slides mean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TEXT ON SCREEN. Tell this one. Roughly:
"A single Step Function execution fans out across many Lambdas, and every one of them writes its own log stream. So when an execution failed, the question 'which state broke, and why' meant opening CloudWatch, finding each stream, and correlating them by hand — by timestamp, by request id, by eye.
I remember sitting there with [N] log streams open across [N] tabs, trying to reconstruct one execution, and thinking: I'm not debugging a workflow. I'm doing archaeology."
[FILL] The real number of streams/tabs. And if a teammate said something verbatim in that stretch, use it — verbatim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load-bearing sentence of the talk. Slow down.
"We'd made a rule at the start of this project — experiment first, implement later. That rule is free to say and it has a price, and the price is the cost of one iteration.
At [N] minutes a cycle, nobody runs a second experiment. They go with whoever sounds most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stopped building the product and went and built the loop. That felt wrong at the time. It was the highest-leverage week of the project."
[FILL] How long the local platform took to build. The objection on slide 27 lives or dies on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CDK point hard. It is what makes the local environment trustworthy rather than a parallel fiction — not a hand-written approximation of production, but production's own definitions.
Then answer your own next question flatly: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LocalStack solved half of it. The other half was that every developer still had to hand-assemble an environment before running anything. So I wrapped all of it in scripts — a few commands from cold laptop to a running execution.
[FILL] Show the real commands if you can. A live command on screen beats three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line matters more than it looks. Building the tracer to work against real cloud environments too is what stops the local environment becoming a private toy — the debugging experience is identical wherever the execution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screenshot, put it here and stop talking for five seconds. Show, don't describe.
[FILL] A screenshot of the visualization UI. Most persuasive artifact you have, and it costs you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points at this slide. Give both numbers, then stop talking for a second.
[FILL] THE most important pair of numbers in the deck. Before and after iteration time. If you get nothing else, get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no more.
Honest framing: building a local platform, a tracing tool and a UI on top of delivering the product is not something one engineer does at the old price of writing software. That is what changed.
Then the guard-rail: none of it chose anything. Every architectural call in this talk came from a measurement.
[FILL] Your drafts say "Cloud Code" — I've assumed Claude Code. Confirm both names before this goes on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had a worry: at our volume, the polling loop is going to be expensive."
"On most projects that sentence IS the decision. Someone senior says it, the room agrees, and you build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how good it was. The reversal only lands if the thing being reversed was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projected number. The one production actually gave us."
"We'd built a second architecture to save money on something that happens [N] times a day. The savings were about [$X] a month. The extra complexity was permanent — another service, another failure mode, another thing to explain at 3am."
"We deleted the clever solution and shipped the simpler one. Sometimes engineering means removing ideas."
You confirmed this is measured production data, not an estimate — have the source ready, because this is the slide a good engineer will question.
[FILL] Real export jobs per day, and the monthly cost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of the talk. The local platform isn't why the project was pleasant — it's why the architecture is right.
Then the outcome, briefly: shipped with one engineer, later three; onboarding was fast because everything was specified in the repo, so nobody needed tribal knowledge; hit the enterprise delivery commitments and the Payments regulatory deadline.
[FILL] The regulatory deadline date, if you can name it. A date makes this a fact rather than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right down. This is the sentence people will quote back to you.
"The cost of getting that wrong would never have shown up as a bug. It would have shown up as another service in the topology, another failure mode, another thing to explain at 3am — and no way to trace any of it back to a decision made in a meeting one afternoon."
Then the last line, as written. Pause. Then Q&amp;A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this fast and completely — it's the strongest objection in the room, and conceding it buys you everything after it. Do not defend the emulator.
"We never claimed the emulator was the last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version of the answer isn't hours saved — it's the deadline. We had a regulatory date and we hit it, and we hit it because the middle of the project was fast, not because the start was.
[FILL] How long the local platform took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boundary before someone else does. If a workflow isn't all four of those, this is overkill and I'd say so.
Add the line that cuts against you: a fast local loop tells you whether your logic is right. It tells you nothing about whether the architecture holds at a million files a day. The polling decision was made by a production volume number, and no emulator could have produced it.
Also add the cheap-to-reverse case: if the decision is easy to undo, don't build anything — pick one and change it later. That's what cheap-to-reverse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these five steps on every question I just walked you through. They're not a methodology, they're just refusing to decide from opinion."
"And they have a prerequisite nobody puts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line, and it's the best sentence in any of the drafts. Deliver it slowly and let it sit. Then one more slide — the thing you actually want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starting something with waits, retries and callbacks in it — before you design the workflow, work out what it costs to run one. If the answer is a pipeline, go fix that first.
Thank you."
Stop. No summary slide. No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 here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Downloading thousands of large ZIPs was never a Lambda problem. Each service does the one thing it's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not Lambda' — one sentence and redirect. This is a tar pit, and every minute here is a minute off your claim.
[FILL] One real measured comparison would make this slide much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vendor later added a single-recording download API for when only a few files are missing — cheaper than a full export for small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able to say precisely what the emulator does not cover. A vague answer here undoes slide 26.
[FILL] Correct the 'Not in' list — I inferred it. Add the command list if you want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if asked. Credibility, not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1417320"/>
            <a:ext cx="566928" cy="566928"/>
          </a:xfrm>
          <a:prstGeom prst="roundRect">
            <a:avLst>
              <a:gd name="adj" fmla="val 24194"/>
            </a:avLst>
          </a:prstGeom>
          <a:solidFill>
            <a:srgbClr val="00C08B"/>
          </a:solidFill>
          <a:ln/>
        </p:spPr>
      </p:sp>
      <p:sp>
        <p:nvSpPr>
          <p:cNvPr id="4" name="Text 2"/>
          <p:cNvSpPr/>
          <p:nvPr/>
        </p:nvSpPr>
        <p:spPr>
          <a:xfrm>
            <a:off x="685800" y="2240280"/>
            <a:ext cx="9448495" cy="1828800"/>
          </a:xfrm>
          <a:prstGeom prst="rect">
            <a:avLst/>
          </a:prstGeom>
          <a:noFill/>
          <a:ln/>
        </p:spPr>
        <p:txBody>
          <a:bodyPr wrap="square" lIns="0" tIns="0" rIns="0" bIns="0" rtlCol="0" anchor="t"/>
          <a:lstStyle/>
          <a:p>
            <a:pPr indent="0" marL="0">
              <a:lnSpc>
                <a:spcPts val="5800"/>
              </a:lnSpc>
              <a:buNone/>
            </a:pPr>
            <a:r>
              <a:rPr lang="en-US" sz="4800" b="1" dirty="0">
                <a:solidFill>
                  <a:srgbClr val="FFFFFF"/>
                </a:solidFill>
                <a:latin typeface="Arial" pitchFamily="34" charset="0"/>
                <a:ea typeface="Arial" pitchFamily="34" charset="-122"/>
                <a:cs typeface="Arial" pitchFamily="34" charset="-120"/>
              </a:rPr>
              <a:t>How LocalStack Saved</a:t>
            </a:r>
            <a:endParaRPr lang="en-US" sz="4800" dirty="0"/>
          </a:p>
          <a:p>
            <a:pPr indent="0" marL="0">
              <a:lnSpc>
                <a:spcPts val="5800"/>
              </a:lnSpc>
              <a:buNone/>
            </a:pPr>
            <a:r>
              <a:rPr lang="en-US" sz="4800" b="1" dirty="0">
                <a:solidFill>
                  <a:srgbClr val="FFFFFF"/>
                </a:solidFill>
                <a:latin typeface="Arial" pitchFamily="34" charset="0"/>
                <a:ea typeface="Arial" pitchFamily="34" charset="-122"/>
                <a:cs typeface="Arial" pitchFamily="34" charset="-120"/>
              </a:rPr>
              <a:t>the StateMachine</a:t>
            </a:r>
            <a:endParaRPr lang="en-US" sz="4800" dirty="0"/>
          </a:p>
        </p:txBody>
      </p:sp>
      <p:sp>
        <p:nvSpPr>
          <p:cNvPr id="5" name="Text 3"/>
          <p:cNvSpPr/>
          <p:nvPr/>
        </p:nvSpPr>
        <p:spPr>
          <a:xfrm>
            <a:off x="685800" y="4206240"/>
            <a:ext cx="94484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Step Functions, 1M recordings a day, and the loop that made every decision affordable</a:t>
            </a:r>
            <a:endParaRPr lang="en-US" sz="1700" dirty="0"/>
          </a:p>
        </p:txBody>
      </p:sp>
      <p:sp>
        <p:nvSpPr>
          <p:cNvPr id="6" name="Text 4"/>
          <p:cNvSpPr/>
          <p:nvPr/>
        </p:nvSpPr>
        <p:spPr>
          <a:xfrm>
            <a:off x="685800" y="5852160"/>
            <a:ext cx="10820095" cy="36576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Javier Benavides  ·  IVR Data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4608"/>
              </a:lnSpc>
              <a:buNone/>
            </a:pPr>
            <a:r>
              <a:rPr lang="en-US" sz="3600" b="1" dirty="0">
                <a:solidFill>
                  <a:srgbClr val="FFFFFF"/>
                </a:solidFill>
                <a:latin typeface="Arial" pitchFamily="34" charset="0"/>
                <a:ea typeface="Arial" pitchFamily="34" charset="-122"/>
                <a:cs typeface="Arial" pitchFamily="34" charset="-120"/>
              </a:rPr>
              <a:t>We picked Step Functions</a:t>
            </a:r>
            <a:endParaRPr lang="en-US" sz="3600" dirty="0"/>
          </a:p>
          <a:p>
            <a:pPr algn="l" indent="0" marL="0">
              <a:lnSpc>
                <a:spcPts val="4608"/>
              </a:lnSpc>
              <a:buNone/>
            </a:pPr>
            <a:r>
              <a:rPr lang="en-US" sz="3600" b="1" dirty="0">
                <a:solidFill>
                  <a:srgbClr val="FFFFFF"/>
                </a:solidFill>
                <a:latin typeface="Arial" pitchFamily="34" charset="0"/>
                <a:ea typeface="Arial" pitchFamily="34" charset="-122"/>
                <a:cs typeface="Arial" pitchFamily="34" charset="-120"/>
              </a:rPr>
              <a:t>because the experiments said so.</a:t>
            </a:r>
            <a:endParaRPr lang="en-US" sz="3600" dirty="0"/>
          </a:p>
          <a:p>
            <a:pPr algn="l" indent="0" marL="0">
              <a:lnSpc>
                <a:spcPts val="4608"/>
              </a:lnSpc>
              <a:buNone/>
            </a:pPr>
            <a:r>
              <a:rPr lang="en-US" sz="3600" b="1" dirty="0">
                <a:solidFill>
                  <a:srgbClr val="00C08B"/>
                </a:solidFill>
                <a:latin typeface="Arial" pitchFamily="34" charset="0"/>
                <a:ea typeface="Arial" pitchFamily="34" charset="-122"/>
                <a:cs typeface="Arial" pitchFamily="34" charset="-120"/>
              </a:rPr>
              <a:t>Then we almost couldn't build them.</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HOLD THESE</a:t>
            </a:r>
            <a:endParaRPr lang="en-US" sz="1100" dirty="0"/>
          </a:p>
        </p:txBody>
      </p:sp>
      <p:sp>
        <p:nvSpPr>
          <p:cNvPr id="4" name="Text 2"/>
          <p:cNvSpPr/>
          <p:nvPr/>
        </p:nvSpPr>
        <p:spPr>
          <a:xfrm>
            <a:off x="685800" y="1051560"/>
            <a:ext cx="10088575" cy="128016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Arial" pitchFamily="34" charset="0"/>
                <a:ea typeface="Arial" pitchFamily="34" charset="-122"/>
                <a:cs typeface="Arial" pitchFamily="34" charset="-120"/>
              </a:rPr>
              <a:t>Three questions I'm not going</a:t>
            </a:r>
            <a:endParaRPr lang="en-US" sz="3200" dirty="0"/>
          </a:p>
          <a:p>
            <a:pPr indent="0" marL="0">
              <a:lnSpc>
                <a:spcPts val="4200"/>
              </a:lnSpc>
              <a:buNone/>
            </a:pPr>
            <a:r>
              <a:rPr lang="en-US" sz="3200" b="1" dirty="0">
                <a:solidFill>
                  <a:srgbClr val="FFFFFF"/>
                </a:solidFill>
                <a:latin typeface="Arial" pitchFamily="34" charset="0"/>
                <a:ea typeface="Arial" pitchFamily="34" charset="-122"/>
                <a:cs typeface="Arial" pitchFamily="34" charset="-120"/>
              </a:rPr>
              <a:t>to answer yet</a:t>
            </a:r>
            <a:endParaRPr lang="en-US" sz="3200" dirty="0"/>
          </a:p>
        </p:txBody>
      </p:sp>
      <p:sp>
        <p:nvSpPr>
          <p:cNvPr id="5" name="Shape 3"/>
          <p:cNvSpPr/>
          <p:nvPr/>
        </p:nvSpPr>
        <p:spPr>
          <a:xfrm>
            <a:off x="685800" y="3063240"/>
            <a:ext cx="402336" cy="402336"/>
          </a:xfrm>
          <a:prstGeom prst="roundRect">
            <a:avLst>
              <a:gd name="adj" fmla="val 25000"/>
            </a:avLst>
          </a:prstGeom>
          <a:solidFill>
            <a:srgbClr val="E8743B"/>
          </a:solidFill>
          <a:ln/>
        </p:spPr>
      </p:sp>
      <p:sp>
        <p:nvSpPr>
          <p:cNvPr id="6" name="Text 4"/>
          <p:cNvSpPr/>
          <p:nvPr/>
        </p:nvSpPr>
        <p:spPr>
          <a:xfrm>
            <a:off x="685800" y="30632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344168" y="3017520"/>
            <a:ext cx="9722815"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There's a number in this talk that's embarrassingly small — smaller than any of us guessed.</a:t>
            </a:r>
            <a:endParaRPr lang="en-US" sz="1800" dirty="0"/>
          </a:p>
        </p:txBody>
      </p:sp>
      <p:sp>
        <p:nvSpPr>
          <p:cNvPr id="8" name="Shape 6"/>
          <p:cNvSpPr/>
          <p:nvPr/>
        </p:nvSpPr>
        <p:spPr>
          <a:xfrm>
            <a:off x="685800" y="3977640"/>
            <a:ext cx="402336" cy="402336"/>
          </a:xfrm>
          <a:prstGeom prst="roundRect">
            <a:avLst>
              <a:gd name="adj" fmla="val 25000"/>
            </a:avLst>
          </a:prstGeom>
          <a:solidFill>
            <a:srgbClr val="E8743B"/>
          </a:solidFill>
          <a:ln/>
        </p:spPr>
      </p:sp>
      <p:sp>
        <p:nvSpPr>
          <p:cNvPr id="9" name="Text 7"/>
          <p:cNvSpPr/>
          <p:nvPr/>
        </p:nvSpPr>
        <p:spPr>
          <a:xfrm>
            <a:off x="685800" y="39776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344168" y="3931920"/>
            <a:ext cx="9722815"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Most of the engineering went into a tenth of the traffic. Why?</a:t>
            </a:r>
            <a:endParaRPr lang="en-US" sz="1800" dirty="0"/>
          </a:p>
        </p:txBody>
      </p:sp>
      <p:sp>
        <p:nvSpPr>
          <p:cNvPr id="11" name="Shape 9"/>
          <p:cNvSpPr/>
          <p:nvPr/>
        </p:nvSpPr>
        <p:spPr>
          <a:xfrm>
            <a:off x="685800" y="4892040"/>
            <a:ext cx="402336" cy="402336"/>
          </a:xfrm>
          <a:prstGeom prst="roundRect">
            <a:avLst>
              <a:gd name="adj" fmla="val 25000"/>
            </a:avLst>
          </a:prstGeom>
          <a:solidFill>
            <a:srgbClr val="E8743B"/>
          </a:solidFill>
          <a:ln/>
        </p:spPr>
      </p:sp>
      <p:sp>
        <p:nvSpPr>
          <p:cNvPr id="12" name="Text 10"/>
          <p:cNvSpPr/>
          <p:nvPr/>
        </p:nvSpPr>
        <p:spPr>
          <a:xfrm>
            <a:off x="685800" y="48920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1344168" y="4846320"/>
            <a:ext cx="9722815"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We almost shipped the wrong architecture. What caught it?</a:t>
            </a:r>
            <a:endParaRPr lang="en-US" sz="1800" dirty="0"/>
          </a:p>
        </p:txBody>
      </p:sp>
      <p:sp>
        <p:nvSpPr>
          <p:cNvPr id="14" name="Text 12"/>
          <p:cNvSpPr/>
          <p:nvPr/>
        </p:nvSpPr>
        <p:spPr>
          <a:xfrm>
            <a:off x="685800" y="5852160"/>
            <a:ext cx="10362895" cy="411480"/>
          </a:xfrm>
          <a:prstGeom prst="rect">
            <a:avLst/>
          </a:prstGeom>
          <a:noFill/>
          <a:ln/>
        </p:spPr>
        <p:txBody>
          <a:bodyPr wrap="square" lIns="0" tIns="0" rIns="0" bIns="0" rtlCol="0" anchor="ctr"/>
          <a:lstStyle/>
          <a:p>
            <a:pPr indent="0" marL="0">
              <a:buNone/>
            </a:pPr>
            <a:r>
              <a:rPr lang="en-US" sz="1400" i="1" dirty="0">
                <a:solidFill>
                  <a:srgbClr val="6B7B93"/>
                </a:solidFill>
                <a:latin typeface="Calibri" pitchFamily="34" charset="0"/>
                <a:ea typeface="Calibri" pitchFamily="34" charset="-122"/>
                <a:cs typeface="Calibri" pitchFamily="34" charset="-120"/>
              </a:rPr>
              <a:t>Amber means still open. When one closes, you'll see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HOW THIS TALK WORKS</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Every slide is a question we had to answer</a:t>
            </a:r>
            <a:endParaRPr lang="en-US" sz="3200" dirty="0"/>
          </a:p>
        </p:txBody>
      </p:sp>
      <p:sp>
        <p:nvSpPr>
          <p:cNvPr id="6" name="Shape 4"/>
          <p:cNvSpPr/>
          <p:nvPr/>
        </p:nvSpPr>
        <p:spPr>
          <a:xfrm>
            <a:off x="685800" y="2377440"/>
            <a:ext cx="402336" cy="402336"/>
          </a:xfrm>
          <a:prstGeom prst="roundRect">
            <a:avLst>
              <a:gd name="adj" fmla="val 25000"/>
            </a:avLst>
          </a:prstGeom>
          <a:solidFill>
            <a:srgbClr val="00C08B"/>
          </a:solidFill>
          <a:ln/>
        </p:spPr>
      </p:sp>
      <p:sp>
        <p:nvSpPr>
          <p:cNvPr id="7" name="Text 5"/>
          <p:cNvSpPr/>
          <p:nvPr/>
        </p:nvSpPr>
        <p:spPr>
          <a:xfrm>
            <a:off x="685800" y="23774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3774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the question we were stuck on</a:t>
            </a:r>
            <a:endParaRPr lang="en-US" sz="1800" dirty="0"/>
          </a:p>
        </p:txBody>
      </p:sp>
      <p:sp>
        <p:nvSpPr>
          <p:cNvPr id="9" name="Shape 7"/>
          <p:cNvSpPr/>
          <p:nvPr/>
        </p:nvSpPr>
        <p:spPr>
          <a:xfrm>
            <a:off x="685800" y="3108960"/>
            <a:ext cx="402336" cy="402336"/>
          </a:xfrm>
          <a:prstGeom prst="roundRect">
            <a:avLst>
              <a:gd name="adj" fmla="val 25000"/>
            </a:avLst>
          </a:prstGeom>
          <a:solidFill>
            <a:srgbClr val="00C08B"/>
          </a:solidFill>
          <a:ln/>
        </p:spPr>
      </p:sp>
      <p:sp>
        <p:nvSpPr>
          <p:cNvPr id="10" name="Text 8"/>
          <p:cNvSpPr/>
          <p:nvPr/>
        </p:nvSpPr>
        <p:spPr>
          <a:xfrm>
            <a:off x="685800" y="310896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310896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the experiment we built</a:t>
            </a:r>
            <a:endParaRPr lang="en-US" sz="1800" dirty="0"/>
          </a:p>
        </p:txBody>
      </p:sp>
      <p:sp>
        <p:nvSpPr>
          <p:cNvPr id="12" name="Shape 10"/>
          <p:cNvSpPr/>
          <p:nvPr/>
        </p:nvSpPr>
        <p:spPr>
          <a:xfrm>
            <a:off x="685800" y="3840480"/>
            <a:ext cx="402336" cy="402336"/>
          </a:xfrm>
          <a:prstGeom prst="roundRect">
            <a:avLst>
              <a:gd name="adj" fmla="val 25000"/>
            </a:avLst>
          </a:prstGeom>
          <a:solidFill>
            <a:srgbClr val="00C08B"/>
          </a:solidFill>
          <a:ln/>
        </p:spPr>
      </p:sp>
      <p:sp>
        <p:nvSpPr>
          <p:cNvPr id="13" name="Text 11"/>
          <p:cNvSpPr/>
          <p:nvPr/>
        </p:nvSpPr>
        <p:spPr>
          <a:xfrm>
            <a:off x="685800" y="384048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84048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what it told us</a:t>
            </a:r>
            <a:endParaRPr lang="en-US" sz="1800" dirty="0"/>
          </a:p>
        </p:txBody>
      </p:sp>
      <p:sp>
        <p:nvSpPr>
          <p:cNvPr id="15" name="Shape 13"/>
          <p:cNvSpPr/>
          <p:nvPr/>
        </p:nvSpPr>
        <p:spPr>
          <a:xfrm>
            <a:off x="685800" y="4572000"/>
            <a:ext cx="402336" cy="402336"/>
          </a:xfrm>
          <a:prstGeom prst="roundRect">
            <a:avLst>
              <a:gd name="adj" fmla="val 25000"/>
            </a:avLst>
          </a:prstGeom>
          <a:solidFill>
            <a:srgbClr val="00C08B"/>
          </a:solidFill>
          <a:ln/>
        </p:spPr>
      </p:sp>
      <p:sp>
        <p:nvSpPr>
          <p:cNvPr id="16" name="Text 14"/>
          <p:cNvSpPr/>
          <p:nvPr/>
        </p:nvSpPr>
        <p:spPr>
          <a:xfrm>
            <a:off x="685800" y="45720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457200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the next question it created</a:t>
            </a:r>
            <a:endParaRPr lang="en-US" sz="1800" dirty="0"/>
          </a:p>
        </p:txBody>
      </p:sp>
      <p:sp>
        <p:nvSpPr>
          <p:cNvPr id="18" name="Text 16"/>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 what could possibly make moving a file difficult?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REQUIREMENT</a:t>
            </a:r>
            <a:endParaRPr lang="en-US" sz="1100" dirty="0"/>
          </a:p>
        </p:txBody>
      </p:sp>
      <p:sp>
        <p:nvSpPr>
          <p:cNvPr id="6" name="Text 4"/>
          <p:cNvSpPr/>
          <p:nvPr/>
        </p:nvSpPr>
        <p:spPr>
          <a:xfrm>
            <a:off x="685800" y="2194560"/>
            <a:ext cx="9357055" cy="2377440"/>
          </a:xfrm>
          <a:prstGeom prst="rect">
            <a:avLst/>
          </a:prstGeom>
          <a:noFill/>
          <a:ln/>
        </p:spPr>
        <p:txBody>
          <a:bodyPr wrap="square" lIns="0" tIns="0" rIns="0" bIns="0" rtlCol="0" anchor="t"/>
          <a:lstStyle/>
          <a:p>
            <a:pPr indent="0" marL="0">
              <a:lnSpc>
                <a:spcPts val="4500"/>
              </a:lnSpc>
              <a:buNone/>
            </a:pPr>
            <a:r>
              <a:rPr lang="en-US" sz="3300" i="1" dirty="0">
                <a:solidFill>
                  <a:srgbClr val="FFFFFF"/>
                </a:solidFill>
                <a:latin typeface="Arial" pitchFamily="34" charset="0"/>
                <a:ea typeface="Arial" pitchFamily="34" charset="-122"/>
                <a:cs typeface="Arial" pitchFamily="34" charset="-120"/>
              </a:rPr>
              <a:t>“A call ends, an audio file is generated,</a:t>
            </a:r>
            <a:endParaRPr lang="en-US" sz="3300" dirty="0"/>
          </a:p>
          <a:p>
            <a:pPr indent="0" marL="0">
              <a:lnSpc>
                <a:spcPts val="4500"/>
              </a:lnSpc>
              <a:buNone/>
            </a:pPr>
            <a:r>
              <a:rPr lang="en-US" sz="3300" i="1" dirty="0">
                <a:solidFill>
                  <a:srgbClr val="FFFFFF"/>
                </a:solidFill>
                <a:latin typeface="Arial" pitchFamily="34" charset="0"/>
                <a:ea typeface="Arial" pitchFamily="34" charset="-122"/>
                <a:cs typeface="Arial" pitchFamily="34" charset="-120"/>
              </a:rPr>
              <a:t>and that file must be transferred</a:t>
            </a:r>
            <a:endParaRPr lang="en-US" sz="3300" dirty="0"/>
          </a:p>
          <a:p>
            <a:pPr indent="0" marL="0">
              <a:lnSpc>
                <a:spcPts val="4500"/>
              </a:lnSpc>
              <a:buNone/>
            </a:pPr>
            <a:r>
              <a:rPr lang="en-US" sz="3300" i="1" dirty="0">
                <a:solidFill>
                  <a:srgbClr val="FFFFFF"/>
                </a:solidFill>
                <a:latin typeface="Arial" pitchFamily="34" charset="0"/>
                <a:ea typeface="Arial" pitchFamily="34" charset="-122"/>
                <a:cs typeface="Arial" pitchFamily="34" charset="-120"/>
              </a:rPr>
              <a:t>into Capital One.”</a:t>
            </a:r>
            <a:endParaRPr lang="en-US" sz="3300" dirty="0"/>
          </a:p>
        </p:txBody>
      </p:sp>
      <p:sp>
        <p:nvSpPr>
          <p:cNvPr id="7" name="Text 5"/>
          <p:cNvSpPr/>
          <p:nvPr/>
        </p:nvSpPr>
        <p:spPr>
          <a:xfrm>
            <a:off x="685800" y="4846320"/>
            <a:ext cx="99056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That was the entire ticket.</a:t>
            </a:r>
            <a:endParaRPr lang="en-US" sz="1700" dirty="0"/>
          </a:p>
        </p:txBody>
      </p:sp>
      <p:sp>
        <p:nvSpPr>
          <p:cNvPr id="8" name="Text 6"/>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What could possibly make this difficult?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FOUND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It stopped being a file transfer problem</a:t>
            </a:r>
            <a:endParaRPr lang="en-US" sz="3200" dirty="0"/>
          </a:p>
        </p:txBody>
      </p:sp>
      <p:sp>
        <p:nvSpPr>
          <p:cNvPr id="6" name="Shape 4"/>
          <p:cNvSpPr/>
          <p:nvPr/>
        </p:nvSpPr>
        <p:spPr>
          <a:xfrm>
            <a:off x="685800" y="2331720"/>
            <a:ext cx="2499284" cy="1828800"/>
          </a:xfrm>
          <a:prstGeom prst="roundRect">
            <a:avLst>
              <a:gd name="adj" fmla="val 6000"/>
            </a:avLst>
          </a:prstGeom>
          <a:solidFill>
            <a:srgbClr val="EDF2F8"/>
          </a:solidFill>
          <a:ln/>
        </p:spPr>
      </p:sp>
      <p:sp>
        <p:nvSpPr>
          <p:cNvPr id="7" name="Text 5"/>
          <p:cNvSpPr/>
          <p:nvPr/>
        </p:nvSpPr>
        <p:spPr>
          <a:xfrm>
            <a:off x="868680" y="2606040"/>
            <a:ext cx="2133524" cy="868680"/>
          </a:xfrm>
          <a:prstGeom prst="rect">
            <a:avLst/>
          </a:prstGeom>
          <a:noFill/>
          <a:ln/>
        </p:spPr>
        <p:txBody>
          <a:bodyPr wrap="square" lIns="0" tIns="0" rIns="0" bIns="0" rtlCol="0" anchor="ctr"/>
          <a:lstStyle/>
          <a:p>
            <a:pPr algn="l" indent="0" marL="0">
              <a:buNone/>
            </a:pPr>
            <a:r>
              <a:rPr lang="en-US" sz="4200" b="1" dirty="0">
                <a:solidFill>
                  <a:srgbClr val="16233A"/>
                </a:solidFill>
                <a:latin typeface="Arial" pitchFamily="34" charset="0"/>
                <a:ea typeface="Arial" pitchFamily="34" charset="-122"/>
                <a:cs typeface="Arial" pitchFamily="34" charset="-120"/>
              </a:rPr>
              <a:t>1M+</a:t>
            </a:r>
            <a:endParaRPr lang="en-US" sz="4200" dirty="0"/>
          </a:p>
        </p:txBody>
      </p:sp>
      <p:sp>
        <p:nvSpPr>
          <p:cNvPr id="8" name="Text 6"/>
          <p:cNvSpPr/>
          <p:nvPr/>
        </p:nvSpPr>
        <p:spPr>
          <a:xfrm>
            <a:off x="868680"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calls a day</a:t>
            </a:r>
            <a:endParaRPr lang="en-US" sz="1300" dirty="0"/>
          </a:p>
        </p:txBody>
      </p:sp>
      <p:sp>
        <p:nvSpPr>
          <p:cNvPr id="9" name="Shape 7"/>
          <p:cNvSpPr/>
          <p:nvPr/>
        </p:nvSpPr>
        <p:spPr>
          <a:xfrm>
            <a:off x="3459404" y="2331720"/>
            <a:ext cx="2499284" cy="1828800"/>
          </a:xfrm>
          <a:prstGeom prst="roundRect">
            <a:avLst>
              <a:gd name="adj" fmla="val 6000"/>
            </a:avLst>
          </a:prstGeom>
          <a:solidFill>
            <a:srgbClr val="EDF2F8"/>
          </a:solidFill>
          <a:ln/>
        </p:spPr>
      </p:sp>
      <p:sp>
        <p:nvSpPr>
          <p:cNvPr id="10" name="Text 8"/>
          <p:cNvSpPr/>
          <p:nvPr/>
        </p:nvSpPr>
        <p:spPr>
          <a:xfrm>
            <a:off x="3642284" y="2606040"/>
            <a:ext cx="2133524" cy="868680"/>
          </a:xfrm>
          <a:prstGeom prst="rect">
            <a:avLst/>
          </a:prstGeom>
          <a:noFill/>
          <a:ln/>
        </p:spPr>
        <p:txBody>
          <a:bodyPr wrap="square" lIns="0" tIns="0" rIns="0" bIns="0" rtlCol="0" anchor="ctr"/>
          <a:lstStyle/>
          <a:p>
            <a:pPr algn="l" indent="0" marL="0">
              <a:buNone/>
            </a:pPr>
            <a:r>
              <a:rPr lang="en-US" sz="3200" b="1" dirty="0">
                <a:solidFill>
                  <a:srgbClr val="16233A"/>
                </a:solidFill>
                <a:latin typeface="Arial" pitchFamily="34" charset="0"/>
                <a:ea typeface="Arial" pitchFamily="34" charset="-122"/>
                <a:cs typeface="Arial" pitchFamily="34" charset="-120"/>
              </a:rPr>
              <a:t>5–6 MB</a:t>
            </a:r>
            <a:endParaRPr lang="en-US" sz="3200" dirty="0"/>
          </a:p>
        </p:txBody>
      </p:sp>
      <p:sp>
        <p:nvSpPr>
          <p:cNvPr id="11" name="Text 9"/>
          <p:cNvSpPr/>
          <p:nvPr/>
        </p:nvSpPr>
        <p:spPr>
          <a:xfrm>
            <a:off x="3642284"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per recording</a:t>
            </a:r>
            <a:endParaRPr lang="en-US" sz="1300" dirty="0"/>
          </a:p>
        </p:txBody>
      </p:sp>
      <p:sp>
        <p:nvSpPr>
          <p:cNvPr id="12" name="Shape 10"/>
          <p:cNvSpPr/>
          <p:nvPr/>
        </p:nvSpPr>
        <p:spPr>
          <a:xfrm>
            <a:off x="6233008" y="2331720"/>
            <a:ext cx="2499284" cy="1828800"/>
          </a:xfrm>
          <a:prstGeom prst="roundRect">
            <a:avLst>
              <a:gd name="adj" fmla="val 6000"/>
            </a:avLst>
          </a:prstGeom>
          <a:solidFill>
            <a:srgbClr val="EDF2F8"/>
          </a:solidFill>
          <a:ln/>
        </p:spPr>
      </p:sp>
      <p:sp>
        <p:nvSpPr>
          <p:cNvPr id="13" name="Text 11"/>
          <p:cNvSpPr/>
          <p:nvPr/>
        </p:nvSpPr>
        <p:spPr>
          <a:xfrm>
            <a:off x="6415888" y="2606040"/>
            <a:ext cx="2133524" cy="868680"/>
          </a:xfrm>
          <a:prstGeom prst="rect">
            <a:avLst/>
          </a:prstGeom>
          <a:noFill/>
          <a:ln/>
        </p:spPr>
        <p:txBody>
          <a:bodyPr wrap="square" lIns="0" tIns="0" rIns="0" bIns="0" rtlCol="0" anchor="ctr"/>
          <a:lstStyle/>
          <a:p>
            <a:pPr algn="l" indent="0" marL="0">
              <a:buNone/>
            </a:pPr>
            <a:r>
              <a:rPr lang="en-US" sz="3200" b="1" dirty="0">
                <a:solidFill>
                  <a:srgbClr val="16233A"/>
                </a:solidFill>
                <a:latin typeface="Arial" pitchFamily="34" charset="0"/>
                <a:ea typeface="Arial" pitchFamily="34" charset="-122"/>
                <a:cs typeface="Arial" pitchFamily="34" charset="-120"/>
              </a:rPr>
              <a:t>≈ 5.5 TB</a:t>
            </a:r>
            <a:endParaRPr lang="en-US" sz="3200" dirty="0"/>
          </a:p>
        </p:txBody>
      </p:sp>
      <p:sp>
        <p:nvSpPr>
          <p:cNvPr id="14" name="Text 12"/>
          <p:cNvSpPr/>
          <p:nvPr/>
        </p:nvSpPr>
        <p:spPr>
          <a:xfrm>
            <a:off x="6415888"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a day</a:t>
            </a:r>
            <a:endParaRPr lang="en-US" sz="1300" dirty="0"/>
          </a:p>
        </p:txBody>
      </p:sp>
      <p:sp>
        <p:nvSpPr>
          <p:cNvPr id="15" name="Shape 13"/>
          <p:cNvSpPr/>
          <p:nvPr/>
        </p:nvSpPr>
        <p:spPr>
          <a:xfrm>
            <a:off x="9006611" y="2331720"/>
            <a:ext cx="2499284" cy="1828800"/>
          </a:xfrm>
          <a:prstGeom prst="roundRect">
            <a:avLst>
              <a:gd name="adj" fmla="val 6000"/>
            </a:avLst>
          </a:prstGeom>
          <a:solidFill>
            <a:srgbClr val="EDF2F8"/>
          </a:solidFill>
          <a:ln/>
        </p:spPr>
      </p:sp>
      <p:sp>
        <p:nvSpPr>
          <p:cNvPr id="16" name="Text 14"/>
          <p:cNvSpPr/>
          <p:nvPr/>
        </p:nvSpPr>
        <p:spPr>
          <a:xfrm>
            <a:off x="9189491" y="2606040"/>
            <a:ext cx="2133524" cy="868680"/>
          </a:xfrm>
          <a:prstGeom prst="rect">
            <a:avLst/>
          </a:prstGeom>
          <a:noFill/>
          <a:ln/>
        </p:spPr>
        <p:txBody>
          <a:bodyPr wrap="square" lIns="0" tIns="0" rIns="0" bIns="0" rtlCol="0" anchor="ctr"/>
          <a:lstStyle/>
          <a:p>
            <a:pPr algn="l" indent="0" marL="0">
              <a:buNone/>
            </a:pPr>
            <a:r>
              <a:rPr lang="en-US" sz="4200" b="1" dirty="0">
                <a:solidFill>
                  <a:srgbClr val="AE4718"/>
                </a:solidFill>
                <a:latin typeface="Arial" pitchFamily="34" charset="0"/>
                <a:ea typeface="Arial" pitchFamily="34" charset="-122"/>
                <a:cs typeface="Arial" pitchFamily="34" charset="-120"/>
              </a:rPr>
              <a:t>0</a:t>
            </a:r>
            <a:endParaRPr lang="en-US" sz="4200" dirty="0"/>
          </a:p>
        </p:txBody>
      </p:sp>
      <p:sp>
        <p:nvSpPr>
          <p:cNvPr id="17" name="Text 15"/>
          <p:cNvSpPr/>
          <p:nvPr/>
        </p:nvSpPr>
        <p:spPr>
          <a:xfrm>
            <a:off x="9189491"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recordings may be lost</a:t>
            </a:r>
            <a:endParaRPr lang="en-US" sz="1300" dirty="0"/>
          </a:p>
        </p:txBody>
      </p:sp>
      <p:sp>
        <p:nvSpPr>
          <p:cNvPr id="18" name="Text 16"/>
          <p:cNvSpPr/>
          <p:nvPr/>
        </p:nvSpPr>
        <p:spPr>
          <a:xfrm>
            <a:off x="685800" y="4434840"/>
            <a:ext cx="103628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Payments-regulated recordings. That is why the last number is zero, not 99.9%.</a:t>
            </a:r>
            <a:endParaRPr lang="en-US" sz="1600" dirty="0"/>
          </a:p>
        </p:txBody>
      </p:sp>
      <p:sp>
        <p:nvSpPr>
          <p:cNvPr id="19" name="Text 1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are we actually allowed to build 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 AND THE ANSWER</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We evaluated every approved</a:t>
            </a:r>
            <a:endParaRPr lang="en-US" sz="3000" dirty="0"/>
          </a:p>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enterprise ingestion mechanism.</a:t>
            </a:r>
            <a:endParaRPr lang="en-US" sz="3000" dirty="0"/>
          </a:p>
          <a:p>
            <a:pPr algn="l" indent="0" marL="0">
              <a:lnSpc>
                <a:spcPts val="3840"/>
              </a:lnSpc>
              <a:buNone/>
            </a:pPr>
            <a:r>
              <a:rPr lang="en-US" sz="3000" dirty="0">
                <a:solidFill>
                  <a:srgbClr val="6B7B93"/>
                </a:solidFill>
                <a:latin typeface="Arial" pitchFamily="34" charset="0"/>
                <a:ea typeface="Arial" pitchFamily="34" charset="-122"/>
                <a:cs typeface="Arial" pitchFamily="34" charset="-120"/>
              </a:rPr>
              <a:t>None were compatible with the vendor.</a:t>
            </a:r>
            <a:endParaRPr lang="en-US" sz="3000" dirty="0"/>
          </a:p>
          <a:p>
            <a:pPr algn="l" indent="0" marL="0">
              <a:lnSpc>
                <a:spcPts val="3840"/>
              </a:lnSpc>
              <a:buNone/>
            </a:pPr>
            <a:r>
              <a:rPr lang="en-US" sz="3000" b="1" dirty="0">
                <a:solidFill>
                  <a:srgbClr val="05795A"/>
                </a:solidFill>
                <a:latin typeface="Arial" pitchFamily="34" charset="0"/>
                <a:ea typeface="Arial" pitchFamily="34" charset="-122"/>
                <a:cs typeface="Arial" pitchFamily="34" charset="-120"/>
              </a:rPr>
              <a:t>One integration point survived: their API.</a:t>
            </a:r>
            <a:endParaRPr lang="en-US" sz="30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can those APIs actually do?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FOUND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Two APIs, with opposite personalities</a:t>
            </a:r>
            <a:endParaRPr lang="en-US" sz="3200" dirty="0"/>
          </a:p>
        </p:txBody>
      </p:sp>
      <p:sp>
        <p:nvSpPr>
          <p:cNvPr id="6" name="Shape 4"/>
          <p:cNvSpPr/>
          <p:nvPr/>
        </p:nvSpPr>
        <p:spPr>
          <a:xfrm>
            <a:off x="685800" y="2377440"/>
            <a:ext cx="5181448" cy="2103120"/>
          </a:xfrm>
          <a:prstGeom prst="roundRect">
            <a:avLst>
              <a:gd name="adj" fmla="val 6087"/>
            </a:avLst>
          </a:prstGeom>
          <a:solidFill>
            <a:srgbClr val="EDF2F8"/>
          </a:solidFill>
          <a:ln/>
        </p:spPr>
      </p:sp>
      <p:sp>
        <p:nvSpPr>
          <p:cNvPr id="7" name="Shape 5"/>
          <p:cNvSpPr/>
          <p:nvPr/>
        </p:nvSpPr>
        <p:spPr>
          <a:xfrm>
            <a:off x="6324448" y="2377440"/>
            <a:ext cx="5181448" cy="2103120"/>
          </a:xfrm>
          <a:prstGeom prst="roundRect">
            <a:avLst>
              <a:gd name="adj" fmla="val 6087"/>
            </a:avLst>
          </a:prstGeom>
          <a:solidFill>
            <a:srgbClr val="EDF2F8"/>
          </a:solidFill>
          <a:ln/>
        </p:spPr>
      </p:sp>
      <p:sp>
        <p:nvSpPr>
          <p:cNvPr id="8" name="Text 6"/>
          <p:cNvSpPr/>
          <p:nvPr/>
        </p:nvSpPr>
        <p:spPr>
          <a:xfrm>
            <a:off x="1005840" y="2606040"/>
            <a:ext cx="4541368" cy="411480"/>
          </a:xfrm>
          <a:prstGeom prst="rect">
            <a:avLst/>
          </a:prstGeom>
          <a:noFill/>
          <a:ln/>
        </p:spPr>
        <p:txBody>
          <a:bodyPr wrap="square" lIns="0" tIns="0" rIns="0" bIns="0" rtlCol="0" anchor="ctr"/>
          <a:lstStyle/>
          <a:p>
            <a:pPr indent="0" marL="0">
              <a:buNone/>
            </a:pPr>
            <a:r>
              <a:rPr lang="en-US" sz="2000" b="1" dirty="0">
                <a:solidFill>
                  <a:srgbClr val="16233A"/>
                </a:solidFill>
                <a:latin typeface="Arial" pitchFamily="34" charset="0"/>
                <a:ea typeface="Arial" pitchFamily="34" charset="-122"/>
                <a:cs typeface="Arial" pitchFamily="34" charset="-120"/>
              </a:rPr>
              <a:t>Streaming On Demand</a:t>
            </a:r>
            <a:endParaRPr lang="en-US" sz="2000" dirty="0"/>
          </a:p>
        </p:txBody>
      </p:sp>
      <p:sp>
        <p:nvSpPr>
          <p:cNvPr id="9" name="Text 7"/>
          <p:cNvSpPr/>
          <p:nvPr/>
        </p:nvSpPr>
        <p:spPr>
          <a:xfrm>
            <a:off x="1005840" y="3063240"/>
            <a:ext cx="4541368" cy="54864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Pushes the recording the moment the call ends.</a:t>
            </a:r>
            <a:endParaRPr lang="en-US" sz="1500" dirty="0"/>
          </a:p>
        </p:txBody>
      </p:sp>
      <p:sp>
        <p:nvSpPr>
          <p:cNvPr id="10" name="Text 8"/>
          <p:cNvSpPr/>
          <p:nvPr/>
        </p:nvSpPr>
        <p:spPr>
          <a:xfrm>
            <a:off x="1005840" y="3749040"/>
            <a:ext cx="4541368" cy="502920"/>
          </a:xfrm>
          <a:prstGeom prst="rect">
            <a:avLst/>
          </a:prstGeom>
          <a:noFill/>
          <a:ln/>
        </p:spPr>
        <p:txBody>
          <a:bodyPr wrap="square" lIns="0" tIns="0" rIns="0" bIns="0" rtlCol="0" anchor="ctr"/>
          <a:lstStyle/>
          <a:p>
            <a:pPr indent="0" marL="0">
              <a:buNone/>
            </a:pPr>
            <a:r>
              <a:rPr lang="en-US" sz="2200" b="1" dirty="0">
                <a:solidFill>
                  <a:srgbClr val="05795A"/>
                </a:solidFill>
                <a:latin typeface="Arial" pitchFamily="34" charset="0"/>
                <a:ea typeface="Arial" pitchFamily="34" charset="-122"/>
                <a:cs typeface="Arial" pitchFamily="34" charset="-120"/>
              </a:rPr>
              <a:t>Looked promising.</a:t>
            </a:r>
            <a:endParaRPr lang="en-US" sz="2200" dirty="0"/>
          </a:p>
        </p:txBody>
      </p:sp>
      <p:sp>
        <p:nvSpPr>
          <p:cNvPr id="11" name="Text 9"/>
          <p:cNvSpPr/>
          <p:nvPr/>
        </p:nvSpPr>
        <p:spPr>
          <a:xfrm>
            <a:off x="6644488" y="2606040"/>
            <a:ext cx="4541368" cy="411480"/>
          </a:xfrm>
          <a:prstGeom prst="rect">
            <a:avLst/>
          </a:prstGeom>
          <a:noFill/>
          <a:ln/>
        </p:spPr>
        <p:txBody>
          <a:bodyPr wrap="square" lIns="0" tIns="0" rIns="0" bIns="0" rtlCol="0" anchor="ctr"/>
          <a:lstStyle/>
          <a:p>
            <a:pPr indent="0" marL="0">
              <a:buNone/>
            </a:pPr>
            <a:r>
              <a:rPr lang="en-US" sz="2000" b="1" dirty="0">
                <a:solidFill>
                  <a:srgbClr val="16233A"/>
                </a:solidFill>
                <a:latin typeface="Arial" pitchFamily="34" charset="0"/>
                <a:ea typeface="Arial" pitchFamily="34" charset="-122"/>
                <a:cs typeface="Arial" pitchFamily="34" charset="-120"/>
              </a:rPr>
              <a:t>Batch Export</a:t>
            </a:r>
            <a:endParaRPr lang="en-US" sz="2000" dirty="0"/>
          </a:p>
        </p:txBody>
      </p:sp>
      <p:sp>
        <p:nvSpPr>
          <p:cNvPr id="12" name="Text 10"/>
          <p:cNvSpPr/>
          <p:nvPr/>
        </p:nvSpPr>
        <p:spPr>
          <a:xfrm>
            <a:off x="6644488" y="3063240"/>
            <a:ext cx="4541368" cy="64008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An async job returning every recording in a requested time window, as ZIPs.</a:t>
            </a:r>
            <a:endParaRPr lang="en-US" sz="1500" dirty="0"/>
          </a:p>
        </p:txBody>
      </p:sp>
      <p:sp>
        <p:nvSpPr>
          <p:cNvPr id="13" name="Text 11"/>
          <p:cNvSpPr/>
          <p:nvPr/>
        </p:nvSpPr>
        <p:spPr>
          <a:xfrm>
            <a:off x="6644488" y="3749040"/>
            <a:ext cx="4541368" cy="502920"/>
          </a:xfrm>
          <a:prstGeom prst="rect">
            <a:avLst/>
          </a:prstGeom>
          <a:noFill/>
          <a:ln/>
        </p:spPr>
        <p:txBody>
          <a:bodyPr wrap="square" lIns="0" tIns="0" rIns="0" bIns="0" rtlCol="0" anchor="ctr"/>
          <a:lstStyle/>
          <a:p>
            <a:pPr indent="0" marL="0">
              <a:buNone/>
            </a:pPr>
            <a:r>
              <a:rPr lang="en-US" sz="2200" b="1" dirty="0">
                <a:solidFill>
                  <a:srgbClr val="AE4718"/>
                </a:solidFill>
                <a:latin typeface="Arial" pitchFamily="34" charset="0"/>
                <a:ea typeface="Arial" pitchFamily="34" charset="-122"/>
                <a:cs typeface="Arial" pitchFamily="34" charset="-120"/>
              </a:rPr>
              <a:t>Looked painful.</a:t>
            </a:r>
            <a:endParaRPr lang="en-US" sz="22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But does streaming hold up at a million calls a day?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EXPERIMENT 1</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Does Streaming On Demand scale?</a:t>
            </a:r>
            <a:endParaRPr lang="en-US" sz="3200" dirty="0"/>
          </a:p>
        </p:txBody>
      </p:sp>
      <p:sp>
        <p:nvSpPr>
          <p:cNvPr id="6" name="Shape 4"/>
          <p:cNvSpPr/>
          <p:nvPr/>
        </p:nvSpPr>
        <p:spPr>
          <a:xfrm>
            <a:off x="685800" y="2697480"/>
            <a:ext cx="5181448" cy="2194560"/>
          </a:xfrm>
          <a:prstGeom prst="roundRect">
            <a:avLst>
              <a:gd name="adj" fmla="val 5833"/>
            </a:avLst>
          </a:prstGeom>
          <a:solidFill>
            <a:srgbClr val="EDF2F8"/>
          </a:solidFill>
          <a:ln/>
        </p:spPr>
      </p:sp>
      <p:sp>
        <p:nvSpPr>
          <p:cNvPr id="7" name="Shape 5"/>
          <p:cNvSpPr/>
          <p:nvPr/>
        </p:nvSpPr>
        <p:spPr>
          <a:xfrm>
            <a:off x="6324448" y="2697480"/>
            <a:ext cx="5181448" cy="2194560"/>
          </a:xfrm>
          <a:prstGeom prst="roundRect">
            <a:avLst>
              <a:gd name="adj" fmla="val 5833"/>
            </a:avLst>
          </a:prstGeom>
          <a:solidFill>
            <a:srgbClr val="0E1626"/>
          </a:solidFill>
          <a:ln/>
        </p:spPr>
      </p:sp>
      <p:sp>
        <p:nvSpPr>
          <p:cNvPr id="8" name="Text 6"/>
          <p:cNvSpPr/>
          <p:nvPr/>
        </p:nvSpPr>
        <p:spPr>
          <a:xfrm>
            <a:off x="1051560" y="3017520"/>
            <a:ext cx="3657600" cy="365760"/>
          </a:xfrm>
          <a:prstGeom prst="rect">
            <a:avLst/>
          </a:prstGeom>
          <a:noFill/>
          <a:ln/>
        </p:spPr>
        <p:txBody>
          <a:bodyPr wrap="square" lIns="0" tIns="0" rIns="0" bIns="0" rtlCol="0" anchor="ctr"/>
          <a:lstStyle/>
          <a:p>
            <a:pPr indent="0" marL="0">
              <a:buNone/>
            </a:pPr>
            <a:r>
              <a:rPr lang="en-US" sz="1200" b="1" spc="200" kern="0" dirty="0">
                <a:solidFill>
                  <a:srgbClr val="6B7B93"/>
                </a:solidFill>
                <a:latin typeface="Arial" pitchFamily="34" charset="0"/>
                <a:ea typeface="Arial" pitchFamily="34" charset="-122"/>
                <a:cs typeface="Arial" pitchFamily="34" charset="-120"/>
              </a:rPr>
              <a:t>WE MEASURED</a:t>
            </a:r>
            <a:endParaRPr lang="en-US" sz="1200" dirty="0"/>
          </a:p>
        </p:txBody>
      </p:sp>
      <p:sp>
        <p:nvSpPr>
          <p:cNvPr id="9" name="Text 7"/>
          <p:cNvSpPr/>
          <p:nvPr/>
        </p:nvSpPr>
        <p:spPr>
          <a:xfrm>
            <a:off x="1051560" y="3520440"/>
            <a:ext cx="4114800" cy="1005840"/>
          </a:xfrm>
          <a:prstGeom prst="rect">
            <a:avLst/>
          </a:prstGeom>
          <a:noFill/>
          <a:ln/>
        </p:spPr>
        <p:txBody>
          <a:bodyPr wrap="square" lIns="0" tIns="0" rIns="0" bIns="0" rtlCol="0" anchor="ctr"/>
          <a:lstStyle/>
          <a:p>
            <a:pPr indent="0" marL="0">
              <a:buNone/>
            </a:pPr>
            <a:r>
              <a:rPr lang="en-US" sz="5400" b="1" dirty="0">
                <a:solidFill>
                  <a:srgbClr val="05795A"/>
                </a:solidFill>
                <a:latin typeface="Arial" pitchFamily="34" charset="0"/>
                <a:ea typeface="Arial" pitchFamily="34" charset="-122"/>
                <a:cs typeface="Arial" pitchFamily="34" charset="-120"/>
              </a:rPr>
              <a:t>&gt; 90%</a:t>
            </a:r>
            <a:endParaRPr lang="en-US" sz="5400" dirty="0"/>
          </a:p>
        </p:txBody>
      </p:sp>
      <p:sp>
        <p:nvSpPr>
          <p:cNvPr id="10" name="Text 8"/>
          <p:cNvSpPr/>
          <p:nvPr/>
        </p:nvSpPr>
        <p:spPr>
          <a:xfrm>
            <a:off x="1051560" y="4434840"/>
            <a:ext cx="4114800" cy="36576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of recordings delivered</a:t>
            </a:r>
            <a:endParaRPr lang="en-US" sz="1500" dirty="0"/>
          </a:p>
        </p:txBody>
      </p:sp>
      <p:sp>
        <p:nvSpPr>
          <p:cNvPr id="11" name="Text 9"/>
          <p:cNvSpPr/>
          <p:nvPr/>
        </p:nvSpPr>
        <p:spPr>
          <a:xfrm>
            <a:off x="6690208" y="3017520"/>
            <a:ext cx="4114800" cy="365760"/>
          </a:xfrm>
          <a:prstGeom prst="rect">
            <a:avLst/>
          </a:prstGeom>
          <a:noFill/>
          <a:ln/>
        </p:spPr>
        <p:txBody>
          <a:bodyPr wrap="square" lIns="0" tIns="0" rIns="0" bIns="0" rtlCol="0" anchor="ctr"/>
          <a:lstStyle/>
          <a:p>
            <a:pPr indent="0" marL="0">
              <a:buNone/>
            </a:pPr>
            <a:r>
              <a:rPr lang="en-US" sz="1200" b="1" spc="200" kern="0" dirty="0">
                <a:solidFill>
                  <a:srgbClr val="8FA3BF"/>
                </a:solidFill>
                <a:latin typeface="Arial" pitchFamily="34" charset="0"/>
                <a:ea typeface="Arial" pitchFamily="34" charset="-122"/>
                <a:cs typeface="Arial" pitchFamily="34" charset="-120"/>
              </a:rPr>
              <a:t>THE BUSINESS NEEDED</a:t>
            </a:r>
            <a:endParaRPr lang="en-US" sz="1200" dirty="0"/>
          </a:p>
        </p:txBody>
      </p:sp>
      <p:sp>
        <p:nvSpPr>
          <p:cNvPr id="12" name="Text 10"/>
          <p:cNvSpPr/>
          <p:nvPr/>
        </p:nvSpPr>
        <p:spPr>
          <a:xfrm>
            <a:off x="6690208" y="3520440"/>
            <a:ext cx="4114800" cy="1005840"/>
          </a:xfrm>
          <a:prstGeom prst="rect">
            <a:avLst/>
          </a:prstGeom>
          <a:noFill/>
          <a:ln/>
        </p:spPr>
        <p:txBody>
          <a:bodyPr wrap="square" lIns="0" tIns="0" rIns="0" bIns="0" rtlCol="0" anchor="ctr"/>
          <a:lstStyle/>
          <a:p>
            <a:pPr indent="0" marL="0">
              <a:buNone/>
            </a:pPr>
            <a:r>
              <a:rPr lang="en-US" sz="5400" b="1" dirty="0">
                <a:solidFill>
                  <a:srgbClr val="E8743B"/>
                </a:solidFill>
                <a:latin typeface="Arial" pitchFamily="34" charset="0"/>
                <a:ea typeface="Arial" pitchFamily="34" charset="-122"/>
                <a:cs typeface="Arial" pitchFamily="34" charset="-120"/>
              </a:rPr>
              <a:t>100%</a:t>
            </a:r>
            <a:endParaRPr lang="en-US" sz="5400" dirty="0"/>
          </a:p>
        </p:txBody>
      </p:sp>
      <p:sp>
        <p:nvSpPr>
          <p:cNvPr id="13" name="Text 11"/>
          <p:cNvSpPr/>
          <p:nvPr/>
        </p:nvSpPr>
        <p:spPr>
          <a:xfrm>
            <a:off x="6690208" y="4434840"/>
            <a:ext cx="4114800" cy="36576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no recording can ever be lost</a:t>
            </a:r>
            <a:endParaRPr lang="en-US" sz="15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how do we recover everything streaming misses?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FOUND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Recovery is not a download. It's a workflow.</a:t>
            </a:r>
            <a:endParaRPr lang="en-US" sz="3200" dirty="0"/>
          </a:p>
        </p:txBody>
      </p:sp>
      <p:sp>
        <p:nvSpPr>
          <p:cNvPr id="6" name="Shape 4"/>
          <p:cNvSpPr/>
          <p:nvPr/>
        </p:nvSpPr>
        <p:spPr>
          <a:xfrm>
            <a:off x="685800" y="2468880"/>
            <a:ext cx="1915302" cy="1188720"/>
          </a:xfrm>
          <a:prstGeom prst="roundRect">
            <a:avLst>
              <a:gd name="adj" fmla="val 9231"/>
            </a:avLst>
          </a:prstGeom>
          <a:solidFill>
            <a:srgbClr val="EDF2F8"/>
          </a:solidFill>
          <a:ln/>
        </p:spPr>
      </p:sp>
      <p:sp>
        <p:nvSpPr>
          <p:cNvPr id="7" name="Text 5"/>
          <p:cNvSpPr/>
          <p:nvPr/>
        </p:nvSpPr>
        <p:spPr>
          <a:xfrm>
            <a:off x="795528"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Create</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export job</a:t>
            </a:r>
            <a:endParaRPr lang="en-US" sz="1400" dirty="0"/>
          </a:p>
        </p:txBody>
      </p:sp>
      <p:sp>
        <p:nvSpPr>
          <p:cNvPr id="8" name="Text 6"/>
          <p:cNvSpPr/>
          <p:nvPr/>
        </p:nvSpPr>
        <p:spPr>
          <a:xfrm>
            <a:off x="2601102"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468880"/>
            <a:ext cx="1915302" cy="1188720"/>
          </a:xfrm>
          <a:prstGeom prst="roundRect">
            <a:avLst>
              <a:gd name="adj" fmla="val 9231"/>
            </a:avLst>
          </a:prstGeom>
          <a:solidFill>
            <a:srgbClr val="EDF2F8"/>
          </a:solidFill>
          <a:ln/>
        </p:spPr>
      </p:sp>
      <p:sp>
        <p:nvSpPr>
          <p:cNvPr id="10" name="Text 8"/>
          <p:cNvSpPr/>
          <p:nvPr/>
        </p:nvSpPr>
        <p:spPr>
          <a:xfrm>
            <a:off x="3021726"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Poll until</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complete</a:t>
            </a:r>
            <a:endParaRPr lang="en-US" sz="1400" dirty="0"/>
          </a:p>
        </p:txBody>
      </p:sp>
      <p:sp>
        <p:nvSpPr>
          <p:cNvPr id="11" name="Text 9"/>
          <p:cNvSpPr/>
          <p:nvPr/>
        </p:nvSpPr>
        <p:spPr>
          <a:xfrm>
            <a:off x="4827300"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468880"/>
            <a:ext cx="1915302" cy="1188720"/>
          </a:xfrm>
          <a:prstGeom prst="roundRect">
            <a:avLst>
              <a:gd name="adj" fmla="val 9231"/>
            </a:avLst>
          </a:prstGeom>
          <a:solidFill>
            <a:srgbClr val="EDF2F8"/>
          </a:solidFill>
          <a:ln/>
        </p:spPr>
      </p:sp>
      <p:sp>
        <p:nvSpPr>
          <p:cNvPr id="13" name="Text 11"/>
          <p:cNvSpPr/>
          <p:nvPr/>
        </p:nvSpPr>
        <p:spPr>
          <a:xfrm>
            <a:off x="5247924"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Fetch</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metadata</a:t>
            </a:r>
            <a:endParaRPr lang="en-US" sz="1400" dirty="0"/>
          </a:p>
        </p:txBody>
      </p:sp>
      <p:sp>
        <p:nvSpPr>
          <p:cNvPr id="14" name="Text 12"/>
          <p:cNvSpPr/>
          <p:nvPr/>
        </p:nvSpPr>
        <p:spPr>
          <a:xfrm>
            <a:off x="7053499"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468880"/>
            <a:ext cx="1915302" cy="1188720"/>
          </a:xfrm>
          <a:prstGeom prst="roundRect">
            <a:avLst>
              <a:gd name="adj" fmla="val 9231"/>
            </a:avLst>
          </a:prstGeom>
          <a:solidFill>
            <a:srgbClr val="EDF2F8"/>
          </a:solidFill>
          <a:ln/>
        </p:spPr>
      </p:sp>
      <p:sp>
        <p:nvSpPr>
          <p:cNvPr id="16" name="Text 14"/>
          <p:cNvSpPr/>
          <p:nvPr/>
        </p:nvSpPr>
        <p:spPr>
          <a:xfrm>
            <a:off x="7474123"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Download</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paginated ZIPs</a:t>
            </a:r>
            <a:endParaRPr lang="en-US" sz="1400" dirty="0"/>
          </a:p>
        </p:txBody>
      </p:sp>
      <p:sp>
        <p:nvSpPr>
          <p:cNvPr id="17" name="Text 15"/>
          <p:cNvSpPr/>
          <p:nvPr/>
        </p:nvSpPr>
        <p:spPr>
          <a:xfrm>
            <a:off x="9279697"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468880"/>
            <a:ext cx="1915302" cy="1188720"/>
          </a:xfrm>
          <a:prstGeom prst="roundRect">
            <a:avLst>
              <a:gd name="adj" fmla="val 9231"/>
            </a:avLst>
          </a:prstGeom>
          <a:solidFill>
            <a:srgbClr val="EDF2F8"/>
          </a:solidFill>
          <a:ln/>
        </p:spPr>
      </p:sp>
      <p:sp>
        <p:nvSpPr>
          <p:cNvPr id="19" name="Text 17"/>
          <p:cNvSpPr/>
          <p:nvPr/>
        </p:nvSpPr>
        <p:spPr>
          <a:xfrm>
            <a:off x="9700321"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Extract</a:t>
            </a:r>
            <a:endParaRPr lang="en-US" sz="1400" dirty="0"/>
          </a:p>
        </p:txBody>
      </p:sp>
      <p:sp>
        <p:nvSpPr>
          <p:cNvPr id="20" name="Text 18"/>
          <p:cNvSpPr/>
          <p:nvPr/>
        </p:nvSpPr>
        <p:spPr>
          <a:xfrm>
            <a:off x="685800" y="3977640"/>
            <a:ext cx="10820095" cy="548640"/>
          </a:xfrm>
          <a:prstGeom prst="rect">
            <a:avLst/>
          </a:prstGeom>
          <a:noFill/>
          <a:ln/>
        </p:spPr>
        <p:txBody>
          <a:bodyPr wrap="square" lIns="0" tIns="0" rIns="0" bIns="0" rtlCol="0" anchor="ctr"/>
          <a:lstStyle/>
          <a:p>
            <a:pPr indent="0" marL="0">
              <a:buNone/>
            </a:pPr>
            <a:r>
              <a:rPr lang="en-US" sz="2400" b="1" dirty="0">
                <a:solidFill>
                  <a:srgbClr val="16233A"/>
                </a:solidFill>
                <a:latin typeface="Arial" pitchFamily="34" charset="0"/>
                <a:ea typeface="Arial" pitchFamily="34" charset="-122"/>
                <a:cs typeface="Arial" pitchFamily="34" charset="-120"/>
              </a:rPr>
              <a:t>Long-running.  Asynchronous.  Fails in the middle.</a:t>
            </a:r>
            <a:endParaRPr lang="en-US" sz="2400" dirty="0"/>
          </a:p>
        </p:txBody>
      </p:sp>
      <p:sp>
        <p:nvSpPr>
          <p:cNvPr id="21" name="Text 19"/>
          <p:cNvSpPr/>
          <p:nvPr/>
        </p:nvSpPr>
        <p:spPr>
          <a:xfrm>
            <a:off x="685800" y="4709160"/>
            <a:ext cx="10362895" cy="457200"/>
          </a:xfrm>
          <a:prstGeom prst="rect">
            <a:avLst/>
          </a:prstGeom>
          <a:noFill/>
          <a:ln/>
        </p:spPr>
        <p:txBody>
          <a:bodyPr wrap="square" lIns="0" tIns="0" rIns="0" bIns="0" rtlCol="0" anchor="ctr"/>
          <a:lstStyle/>
          <a:p>
            <a:pPr indent="0" marL="0">
              <a:buNone/>
            </a:pPr>
            <a:r>
              <a:rPr lang="en-US" sz="1800" b="1" dirty="0">
                <a:solidFill>
                  <a:srgbClr val="05795A"/>
                </a:solidFill>
                <a:latin typeface="Calibri" pitchFamily="34" charset="0"/>
                <a:ea typeface="Calibri" pitchFamily="34" charset="-122"/>
                <a:cs typeface="Calibri" pitchFamily="34" charset="-120"/>
              </a:rPr>
              <a:t>Streaming: 90% of the volume, 10% of the engineering.  Exports: the reverse.</a:t>
            </a:r>
            <a:endParaRPr lang="en-US" sz="1800" dirty="0"/>
          </a:p>
        </p:txBody>
      </p:sp>
      <p:sp>
        <p:nvSpPr>
          <p:cNvPr id="22" name="Text 20"/>
          <p:cNvSpPr/>
          <p:nvPr/>
        </p:nvSpPr>
        <p:spPr>
          <a:xfrm>
            <a:off x="7665415" y="457200"/>
            <a:ext cx="3840480" cy="402336"/>
          </a:xfrm>
          <a:prstGeom prst="rect">
            <a:avLst/>
          </a:prstGeom>
          <a:noFill/>
          <a:ln/>
        </p:spPr>
        <p:txBody>
          <a:bodyPr wrap="square" lIns="0" tIns="0" rIns="0" bIns="0" rtlCol="0" anchor="ctr"/>
          <a:lstStyle/>
          <a:p>
            <a:pPr algn="r" indent="0" marL="0">
              <a:buNone/>
            </a:pPr>
            <a:r>
              <a:rPr lang="en-US" sz="1100" b="1" spc="200" kern="0" dirty="0">
                <a:solidFill>
                  <a:srgbClr val="05795A"/>
                </a:solidFill>
                <a:latin typeface="Arial" pitchFamily="34" charset="0"/>
                <a:ea typeface="Arial" pitchFamily="34" charset="-122"/>
                <a:cs typeface="Arial" pitchFamily="34" charset="-120"/>
              </a:rPr>
              <a:t>OPEN QUESTION 2  ·  ANSWERED</a:t>
            </a:r>
            <a:endParaRPr lang="en-US" sz="1100" dirty="0"/>
          </a:p>
        </p:txBody>
      </p:sp>
      <p:sp>
        <p:nvSpPr>
          <p:cNvPr id="23" name="Text 21"/>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How do you orchestrate something that runs for hours?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EXPERIMENT 2</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What orchestrates a job that takes hours?</a:t>
            </a:r>
            <a:endParaRPr lang="en-US" sz="3200" dirty="0"/>
          </a:p>
        </p:txBody>
      </p:sp>
      <p:sp>
        <p:nvSpPr>
          <p:cNvPr id="6" name="Text 4"/>
          <p:cNvSpPr/>
          <p:nvPr/>
        </p:nvSpPr>
        <p:spPr>
          <a:xfrm>
            <a:off x="685800" y="2286000"/>
            <a:ext cx="5486400" cy="365760"/>
          </a:xfrm>
          <a:prstGeom prst="rect">
            <a:avLst/>
          </a:prstGeom>
          <a:noFill/>
          <a:ln/>
        </p:spPr>
        <p:txBody>
          <a:bodyPr wrap="square" lIns="0" tIns="0" rIns="0" bIns="0" rtlCol="0" anchor="ctr"/>
          <a:lstStyle/>
          <a:p>
            <a:pPr indent="0" marL="0">
              <a:buNone/>
            </a:pPr>
            <a:r>
              <a:rPr lang="en-US" sz="1200" b="1" spc="200" kern="0" dirty="0">
                <a:solidFill>
                  <a:srgbClr val="6B7B93"/>
                </a:solidFill>
                <a:latin typeface="Arial" pitchFamily="34" charset="0"/>
                <a:ea typeface="Arial" pitchFamily="34" charset="-122"/>
                <a:cs typeface="Arial" pitchFamily="34" charset="-120"/>
              </a:rPr>
              <a:t>ORCHESTRATION APPROACHES</a:t>
            </a:r>
            <a:endParaRPr lang="en-US" sz="1200" dirty="0"/>
          </a:p>
        </p:txBody>
      </p:sp>
      <p:sp>
        <p:nvSpPr>
          <p:cNvPr id="7" name="Shape 5"/>
          <p:cNvSpPr/>
          <p:nvPr/>
        </p:nvSpPr>
        <p:spPr>
          <a:xfrm>
            <a:off x="685800" y="2697480"/>
            <a:ext cx="2471852" cy="868680"/>
          </a:xfrm>
          <a:prstGeom prst="roundRect">
            <a:avLst>
              <a:gd name="adj" fmla="val 12632"/>
            </a:avLst>
          </a:prstGeom>
          <a:solidFill>
            <a:srgbClr val="EDF2F8"/>
          </a:solidFill>
          <a:ln/>
        </p:spPr>
      </p:sp>
      <p:sp>
        <p:nvSpPr>
          <p:cNvPr id="8" name="Text 6"/>
          <p:cNvSpPr/>
          <p:nvPr/>
        </p:nvSpPr>
        <p:spPr>
          <a:xfrm>
            <a:off x="795528"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Step Functions</a:t>
            </a:r>
            <a:endParaRPr lang="en-US" sz="1400" dirty="0"/>
          </a:p>
        </p:txBody>
      </p:sp>
      <p:sp>
        <p:nvSpPr>
          <p:cNvPr id="9" name="Shape 7"/>
          <p:cNvSpPr/>
          <p:nvPr/>
        </p:nvSpPr>
        <p:spPr>
          <a:xfrm>
            <a:off x="3468548" y="2697480"/>
            <a:ext cx="2471852" cy="868680"/>
          </a:xfrm>
          <a:prstGeom prst="roundRect">
            <a:avLst>
              <a:gd name="adj" fmla="val 12632"/>
            </a:avLst>
          </a:prstGeom>
          <a:solidFill>
            <a:srgbClr val="EDF2F8"/>
          </a:solidFill>
          <a:ln/>
        </p:spPr>
      </p:sp>
      <p:sp>
        <p:nvSpPr>
          <p:cNvPr id="10" name="Text 8"/>
          <p:cNvSpPr/>
          <p:nvPr/>
        </p:nvSpPr>
        <p:spPr>
          <a:xfrm>
            <a:off x="3578276"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Hand-rolled</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state machine</a:t>
            </a:r>
            <a:endParaRPr lang="en-US" sz="1400" dirty="0"/>
          </a:p>
        </p:txBody>
      </p:sp>
      <p:sp>
        <p:nvSpPr>
          <p:cNvPr id="11" name="Shape 9"/>
          <p:cNvSpPr/>
          <p:nvPr/>
        </p:nvSpPr>
        <p:spPr>
          <a:xfrm>
            <a:off x="6251296" y="2697480"/>
            <a:ext cx="2471852" cy="868680"/>
          </a:xfrm>
          <a:prstGeom prst="roundRect">
            <a:avLst>
              <a:gd name="adj" fmla="val 12632"/>
            </a:avLst>
          </a:prstGeom>
          <a:solidFill>
            <a:srgbClr val="EDF2F8"/>
          </a:solidFill>
          <a:ln/>
        </p:spPr>
      </p:sp>
      <p:sp>
        <p:nvSpPr>
          <p:cNvPr id="12" name="Text 10"/>
          <p:cNvSpPr/>
          <p:nvPr/>
        </p:nvSpPr>
        <p:spPr>
          <a:xfrm>
            <a:off x="6361024"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Saga</a:t>
            </a:r>
            <a:endParaRPr lang="en-US" sz="1400" dirty="0"/>
          </a:p>
        </p:txBody>
      </p:sp>
      <p:sp>
        <p:nvSpPr>
          <p:cNvPr id="13" name="Shape 11"/>
          <p:cNvSpPr/>
          <p:nvPr/>
        </p:nvSpPr>
        <p:spPr>
          <a:xfrm>
            <a:off x="9034043" y="2697480"/>
            <a:ext cx="2471852" cy="868680"/>
          </a:xfrm>
          <a:prstGeom prst="roundRect">
            <a:avLst>
              <a:gd name="adj" fmla="val 12632"/>
            </a:avLst>
          </a:prstGeom>
          <a:solidFill>
            <a:srgbClr val="EDF2F8"/>
          </a:solidFill>
          <a:ln/>
        </p:spPr>
      </p:sp>
      <p:sp>
        <p:nvSpPr>
          <p:cNvPr id="14" name="Text 12"/>
          <p:cNvSpPr/>
          <p:nvPr/>
        </p:nvSpPr>
        <p:spPr>
          <a:xfrm>
            <a:off x="9143771"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Event-driven</a:t>
            </a:r>
            <a:endParaRPr lang="en-US" sz="1400" dirty="0"/>
          </a:p>
        </p:txBody>
      </p:sp>
      <p:sp>
        <p:nvSpPr>
          <p:cNvPr id="15" name="Text 13"/>
          <p:cNvSpPr/>
          <p:nvPr/>
        </p:nvSpPr>
        <p:spPr>
          <a:xfrm>
            <a:off x="685800" y="3749040"/>
            <a:ext cx="5486400" cy="365760"/>
          </a:xfrm>
          <a:prstGeom prst="rect">
            <a:avLst/>
          </a:prstGeom>
          <a:noFill/>
          <a:ln/>
        </p:spPr>
        <p:txBody>
          <a:bodyPr wrap="square" lIns="0" tIns="0" rIns="0" bIns="0" rtlCol="0" anchor="ctr"/>
          <a:lstStyle/>
          <a:p>
            <a:pPr indent="0" marL="0">
              <a:buNone/>
            </a:pPr>
            <a:r>
              <a:rPr lang="en-US" sz="1200" b="1" spc="200" kern="0" dirty="0">
                <a:solidFill>
                  <a:srgbClr val="6B7B93"/>
                </a:solidFill>
                <a:latin typeface="Arial" pitchFamily="34" charset="0"/>
                <a:ea typeface="Arial" pitchFamily="34" charset="-122"/>
                <a:cs typeface="Arial" pitchFamily="34" charset="-120"/>
              </a:rPr>
              <a:t>IMPLEMENTED IN</a:t>
            </a:r>
            <a:endParaRPr lang="en-US" sz="1200" dirty="0"/>
          </a:p>
        </p:txBody>
      </p:sp>
      <p:sp>
        <p:nvSpPr>
          <p:cNvPr id="16" name="Text 14"/>
          <p:cNvSpPr/>
          <p:nvPr/>
        </p:nvSpPr>
        <p:spPr>
          <a:xfrm>
            <a:off x="685800" y="4160520"/>
            <a:ext cx="10362895" cy="45720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Java Spring   ·   TypeScript</a:t>
            </a:r>
            <a:endParaRPr lang="en-US" sz="2000" dirty="0"/>
          </a:p>
        </p:txBody>
      </p:sp>
      <p:sp>
        <p:nvSpPr>
          <p:cNvPr id="17" name="Shape 15"/>
          <p:cNvSpPr/>
          <p:nvPr/>
        </p:nvSpPr>
        <p:spPr>
          <a:xfrm>
            <a:off x="685800" y="4800600"/>
            <a:ext cx="10820095" cy="868680"/>
          </a:xfrm>
          <a:prstGeom prst="roundRect">
            <a:avLst>
              <a:gd name="adj" fmla="val 14737"/>
            </a:avLst>
          </a:prstGeom>
          <a:solidFill>
            <a:srgbClr val="0E1626"/>
          </a:solidFill>
          <a:ln/>
        </p:spPr>
      </p:sp>
      <p:sp>
        <p:nvSpPr>
          <p:cNvPr id="18" name="Text 16"/>
          <p:cNvSpPr/>
          <p:nvPr/>
        </p:nvSpPr>
        <p:spPr>
          <a:xfrm>
            <a:off x="1051560" y="4800600"/>
            <a:ext cx="10088575" cy="868680"/>
          </a:xfrm>
          <a:prstGeom prst="rect">
            <a:avLst/>
          </a:prstGeom>
          <a:noFill/>
          <a:ln/>
        </p:spPr>
        <p:txBody>
          <a:bodyPr wrap="square" lIns="0" tIns="0" rIns="0" bIns="0" rtlCol="0" anchor="ctr"/>
          <a:lstStyle/>
          <a:p>
            <a:pPr indent="0" marL="0">
              <a:buNone/>
            </a:pPr>
            <a:r>
              <a:rPr lang="en-US" sz="2300" b="1" dirty="0">
                <a:solidFill>
                  <a:srgbClr val="00C08B"/>
                </a:solidFill>
                <a:latin typeface="Arial" pitchFamily="34" charset="0"/>
                <a:ea typeface="Arial" pitchFamily="34" charset="-122"/>
                <a:cs typeface="Arial" pitchFamily="34" charset="-120"/>
              </a:rPr>
              <a:t>Winner: AWS Step Functions + TypeScript</a:t>
            </a:r>
            <a:endParaRPr lang="en-US" sz="2300" dirty="0"/>
          </a:p>
        </p:txBody>
      </p:sp>
      <p:sp>
        <p:nvSpPr>
          <p:cNvPr id="19" name="Text 1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we had the answer. Why was it so hard to build?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OBSTACLE</a:t>
            </a:r>
            <a:endParaRPr lang="en-US" sz="1100" dirty="0"/>
          </a:p>
        </p:txBody>
      </p:sp>
      <p:sp>
        <p:nvSpPr>
          <p:cNvPr id="6" name="Text 4"/>
          <p:cNvSpPr/>
          <p:nvPr/>
        </p:nvSpPr>
        <p:spPr>
          <a:xfrm>
            <a:off x="685800" y="2194560"/>
            <a:ext cx="9722815" cy="2926080"/>
          </a:xfrm>
          <a:prstGeom prst="rect">
            <a:avLst/>
          </a:prstGeom>
          <a:noFill/>
          <a:ln/>
        </p:spPr>
        <p:txBody>
          <a:bodyPr wrap="square" lIns="0" tIns="0" rIns="0" bIns="0" rtlCol="0" anchor="t"/>
          <a:lstStyle/>
          <a:p>
            <a:pPr algn="l" indent="0" marL="0">
              <a:lnSpc>
                <a:spcPts val="4096"/>
              </a:lnSpc>
              <a:buNone/>
            </a:pPr>
            <a:r>
              <a:rPr lang="en-US" sz="3200" b="1" dirty="0">
                <a:solidFill>
                  <a:srgbClr val="FFFFFF"/>
                </a:solidFill>
                <a:latin typeface="Arial" pitchFamily="34" charset="0"/>
                <a:ea typeface="Arial" pitchFamily="34" charset="-122"/>
                <a:cs typeface="Arial" pitchFamily="34" charset="-120"/>
              </a:rPr>
              <a:t>At the time, AWS SAM had no practical</a:t>
            </a:r>
            <a:endParaRPr lang="en-US" sz="3200" dirty="0"/>
          </a:p>
          <a:p>
            <a:pPr algn="l" indent="0" marL="0">
              <a:lnSpc>
                <a:spcPts val="4096"/>
              </a:lnSpc>
              <a:buNone/>
            </a:pPr>
            <a:r>
              <a:rPr lang="en-US" sz="3200" b="1" dirty="0">
                <a:solidFill>
                  <a:srgbClr val="FFFFFF"/>
                </a:solidFill>
                <a:latin typeface="Arial" pitchFamily="34" charset="0"/>
                <a:ea typeface="Arial" pitchFamily="34" charset="-122"/>
                <a:cs typeface="Arial" pitchFamily="34" charset="-120"/>
              </a:rPr>
              <a:t>support for developing and debugging</a:t>
            </a:r>
            <a:endParaRPr lang="en-US" sz="3200" dirty="0"/>
          </a:p>
          <a:p>
            <a:pPr algn="l" indent="0" marL="0">
              <a:lnSpc>
                <a:spcPts val="4096"/>
              </a:lnSpc>
              <a:buNone/>
            </a:pPr>
            <a:r>
              <a:rPr lang="en-US" sz="3200" b="1" dirty="0">
                <a:solidFill>
                  <a:srgbClr val="00C08B"/>
                </a:solidFill>
                <a:latin typeface="Arial" pitchFamily="34" charset="0"/>
                <a:ea typeface="Arial" pitchFamily="34" charset="-122"/>
                <a:cs typeface="Arial" pitchFamily="34" charset="-120"/>
              </a:rPr>
              <a:t>Step Functions locally.</a:t>
            </a:r>
            <a:endParaRPr lang="en-US" sz="3200" dirty="0"/>
          </a:p>
        </p:txBody>
      </p:sp>
      <p:sp>
        <p:nvSpPr>
          <p:cNvPr id="7" name="Text 5"/>
          <p:cNvSpPr/>
          <p:nvPr/>
        </p:nvSpPr>
        <p:spPr>
          <a:xfrm>
            <a:off x="685800" y="4892040"/>
            <a:ext cx="9905695" cy="640080"/>
          </a:xfrm>
          <a:prstGeom prst="rect">
            <a:avLst/>
          </a:prstGeom>
          <a:noFill/>
          <a:ln/>
        </p:spPr>
        <p:txBody>
          <a:bodyPr wrap="square" lIns="0" tIns="0" rIns="0" bIns="0" rtlCol="0" anchor="ctr"/>
          <a:lstStyle/>
          <a:p>
            <a:pPr indent="0" marL="0">
              <a:buNone/>
            </a:pPr>
            <a:r>
              <a:rPr lang="en-US" sz="1600" dirty="0">
                <a:solidFill>
                  <a:srgbClr val="8FA3BF"/>
                </a:solidFill>
                <a:latin typeface="Calibri" pitchFamily="34" charset="0"/>
                <a:ea typeface="Calibri" pitchFamily="34" charset="-122"/>
                <a:cs typeface="Calibri" pitchFamily="34" charset="-120"/>
              </a:rPr>
              <a:t>Fine for one Lambda. Not for an orchestration with multiple Lambdas, async callbacks, retries, waits and polling loops.</a:t>
            </a:r>
            <a:endParaRPr lang="en-US" sz="1600" dirty="0"/>
          </a:p>
        </p:txBody>
      </p:sp>
      <p:sp>
        <p:nvSpPr>
          <p:cNvPr id="8" name="Text 6"/>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What did that actually cost us, per change?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MEASURED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Six steps to test one change</a:t>
            </a:r>
            <a:endParaRPr lang="en-US" sz="3200" dirty="0"/>
          </a:p>
        </p:txBody>
      </p:sp>
      <p:sp>
        <p:nvSpPr>
          <p:cNvPr id="6" name="Shape 4"/>
          <p:cNvSpPr/>
          <p:nvPr/>
        </p:nvSpPr>
        <p:spPr>
          <a:xfrm>
            <a:off x="685800" y="2286000"/>
            <a:ext cx="402336" cy="402336"/>
          </a:xfrm>
          <a:prstGeom prst="roundRect">
            <a:avLst>
              <a:gd name="adj" fmla="val 25000"/>
            </a:avLst>
          </a:prstGeom>
          <a:solidFill>
            <a:srgbClr val="EDF2F8"/>
          </a:solidFill>
          <a:ln/>
        </p:spPr>
      </p:sp>
      <p:sp>
        <p:nvSpPr>
          <p:cNvPr id="7" name="Text 5"/>
          <p:cNvSpPr/>
          <p:nvPr/>
        </p:nvSpPr>
        <p:spPr>
          <a:xfrm>
            <a:off x="685800" y="228600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286000"/>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Deploy infrastructure</a:t>
            </a:r>
            <a:endParaRPr lang="en-US" sz="1700" dirty="0"/>
          </a:p>
        </p:txBody>
      </p:sp>
      <p:sp>
        <p:nvSpPr>
          <p:cNvPr id="9" name="Shape 7"/>
          <p:cNvSpPr/>
          <p:nvPr/>
        </p:nvSpPr>
        <p:spPr>
          <a:xfrm>
            <a:off x="685800" y="2852928"/>
            <a:ext cx="402336" cy="402336"/>
          </a:xfrm>
          <a:prstGeom prst="roundRect">
            <a:avLst>
              <a:gd name="adj" fmla="val 25000"/>
            </a:avLst>
          </a:prstGeom>
          <a:solidFill>
            <a:srgbClr val="EDF2F8"/>
          </a:solidFill>
          <a:ln/>
        </p:spPr>
      </p:sp>
      <p:sp>
        <p:nvSpPr>
          <p:cNvPr id="10" name="Text 8"/>
          <p:cNvSpPr/>
          <p:nvPr/>
        </p:nvSpPr>
        <p:spPr>
          <a:xfrm>
            <a:off x="685800" y="2852928"/>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2852928"/>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Wait for the pipeline</a:t>
            </a:r>
            <a:endParaRPr lang="en-US" sz="1700" dirty="0"/>
          </a:p>
        </p:txBody>
      </p:sp>
      <p:sp>
        <p:nvSpPr>
          <p:cNvPr id="12" name="Shape 10"/>
          <p:cNvSpPr/>
          <p:nvPr/>
        </p:nvSpPr>
        <p:spPr>
          <a:xfrm>
            <a:off x="685800" y="3419856"/>
            <a:ext cx="402336" cy="402336"/>
          </a:xfrm>
          <a:prstGeom prst="roundRect">
            <a:avLst>
              <a:gd name="adj" fmla="val 25000"/>
            </a:avLst>
          </a:prstGeom>
          <a:solidFill>
            <a:srgbClr val="EDF2F8"/>
          </a:solidFill>
          <a:ln/>
        </p:spPr>
      </p:sp>
      <p:sp>
        <p:nvSpPr>
          <p:cNvPr id="13" name="Text 11"/>
          <p:cNvSpPr/>
          <p:nvPr/>
        </p:nvSpPr>
        <p:spPr>
          <a:xfrm>
            <a:off x="685800" y="3419856"/>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419856"/>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Execute the workflow remotely</a:t>
            </a:r>
            <a:endParaRPr lang="en-US" sz="1700" dirty="0"/>
          </a:p>
        </p:txBody>
      </p:sp>
      <p:sp>
        <p:nvSpPr>
          <p:cNvPr id="15" name="Shape 13"/>
          <p:cNvSpPr/>
          <p:nvPr/>
        </p:nvSpPr>
        <p:spPr>
          <a:xfrm>
            <a:off x="685800" y="3986784"/>
            <a:ext cx="402336" cy="402336"/>
          </a:xfrm>
          <a:prstGeom prst="roundRect">
            <a:avLst>
              <a:gd name="adj" fmla="val 25000"/>
            </a:avLst>
          </a:prstGeom>
          <a:solidFill>
            <a:srgbClr val="EDF2F8"/>
          </a:solidFill>
          <a:ln/>
        </p:spPr>
      </p:sp>
      <p:sp>
        <p:nvSpPr>
          <p:cNvPr id="16" name="Text 14"/>
          <p:cNvSpPr/>
          <p:nvPr/>
        </p:nvSpPr>
        <p:spPr>
          <a:xfrm>
            <a:off x="685800" y="3986784"/>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3986784"/>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Collect logs from several services</a:t>
            </a:r>
            <a:endParaRPr lang="en-US" sz="1700" dirty="0"/>
          </a:p>
        </p:txBody>
      </p:sp>
      <p:sp>
        <p:nvSpPr>
          <p:cNvPr id="18" name="Shape 16"/>
          <p:cNvSpPr/>
          <p:nvPr/>
        </p:nvSpPr>
        <p:spPr>
          <a:xfrm>
            <a:off x="685800" y="4553712"/>
            <a:ext cx="402336" cy="402336"/>
          </a:xfrm>
          <a:prstGeom prst="roundRect">
            <a:avLst>
              <a:gd name="adj" fmla="val 25000"/>
            </a:avLst>
          </a:prstGeom>
          <a:solidFill>
            <a:srgbClr val="EDF2F8"/>
          </a:solidFill>
          <a:ln/>
        </p:spPr>
      </p:sp>
      <p:sp>
        <p:nvSpPr>
          <p:cNvPr id="19" name="Text 17"/>
          <p:cNvSpPr/>
          <p:nvPr/>
        </p:nvSpPr>
        <p:spPr>
          <a:xfrm>
            <a:off x="685800" y="4553712"/>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1344168" y="4553712"/>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Diagnose</a:t>
            </a:r>
            <a:endParaRPr lang="en-US" sz="1700" dirty="0"/>
          </a:p>
        </p:txBody>
      </p:sp>
      <p:sp>
        <p:nvSpPr>
          <p:cNvPr id="21" name="Shape 19"/>
          <p:cNvSpPr/>
          <p:nvPr/>
        </p:nvSpPr>
        <p:spPr>
          <a:xfrm>
            <a:off x="685800" y="5120640"/>
            <a:ext cx="402336" cy="402336"/>
          </a:xfrm>
          <a:prstGeom prst="roundRect">
            <a:avLst>
              <a:gd name="adj" fmla="val 25000"/>
            </a:avLst>
          </a:prstGeom>
          <a:solidFill>
            <a:srgbClr val="EDF2F8"/>
          </a:solidFill>
          <a:ln/>
        </p:spPr>
      </p:sp>
      <p:sp>
        <p:nvSpPr>
          <p:cNvPr id="22" name="Text 20"/>
          <p:cNvSpPr/>
          <p:nvPr/>
        </p:nvSpPr>
        <p:spPr>
          <a:xfrm>
            <a:off x="685800" y="512064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6</a:t>
            </a:r>
            <a:endParaRPr lang="en-US" sz="1300" dirty="0"/>
          </a:p>
        </p:txBody>
      </p:sp>
      <p:sp>
        <p:nvSpPr>
          <p:cNvPr id="23" name="Text 21"/>
          <p:cNvSpPr/>
          <p:nvPr/>
        </p:nvSpPr>
        <p:spPr>
          <a:xfrm>
            <a:off x="1344168" y="5120640"/>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Repeat</a:t>
            </a:r>
            <a:endParaRPr lang="en-US" sz="1700" dirty="0"/>
          </a:p>
        </p:txBody>
      </p:sp>
      <p:sp>
        <p:nvSpPr>
          <p:cNvPr id="24" name="Shape 22"/>
          <p:cNvSpPr/>
          <p:nvPr/>
        </p:nvSpPr>
        <p:spPr>
          <a:xfrm>
            <a:off x="8138160" y="2286000"/>
            <a:ext cx="3383280" cy="2944368"/>
          </a:xfrm>
          <a:prstGeom prst="roundRect">
            <a:avLst>
              <a:gd name="adj" fmla="val 4348"/>
            </a:avLst>
          </a:prstGeom>
          <a:solidFill>
            <a:srgbClr val="0E1626"/>
          </a:solidFill>
          <a:ln/>
        </p:spPr>
      </p:sp>
      <p:sp>
        <p:nvSpPr>
          <p:cNvPr id="25" name="Text 23"/>
          <p:cNvSpPr/>
          <p:nvPr/>
        </p:nvSpPr>
        <p:spPr>
          <a:xfrm>
            <a:off x="8458200" y="3063240"/>
            <a:ext cx="2834640" cy="914400"/>
          </a:xfrm>
          <a:prstGeom prst="rect">
            <a:avLst/>
          </a:prstGeom>
          <a:noFill/>
          <a:ln/>
        </p:spPr>
        <p:txBody>
          <a:bodyPr wrap="square" lIns="0" tIns="0" rIns="0" bIns="0" rtlCol="0" anchor="ctr"/>
          <a:lstStyle/>
          <a:p>
            <a:pPr indent="0" marL="0">
              <a:buNone/>
            </a:pPr>
            <a:r>
              <a:rPr lang="en-US" sz="4600" b="1" dirty="0">
                <a:solidFill>
                  <a:srgbClr val="E8743B"/>
                </a:solidFill>
                <a:latin typeface="Arial" pitchFamily="34" charset="0"/>
                <a:ea typeface="Arial" pitchFamily="34" charset="-122"/>
                <a:cs typeface="Arial" pitchFamily="34" charset="-120"/>
              </a:rPr>
              <a:t>[N] min</a:t>
            </a:r>
            <a:endParaRPr lang="en-US" sz="4600" dirty="0"/>
          </a:p>
        </p:txBody>
      </p:sp>
      <p:sp>
        <p:nvSpPr>
          <p:cNvPr id="26" name="Text 24"/>
          <p:cNvSpPr/>
          <p:nvPr/>
        </p:nvSpPr>
        <p:spPr>
          <a:xfrm>
            <a:off x="8458200" y="4023360"/>
            <a:ext cx="2834640" cy="45720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one iteration</a:t>
            </a:r>
            <a:endParaRPr lang="en-US" sz="1500" dirty="0"/>
          </a:p>
        </p:txBody>
      </p:sp>
      <p:sp>
        <p:nvSpPr>
          <p:cNvPr id="27" name="Text 25"/>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And when it failed — where do you even look?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685800" y="2926080"/>
            <a:ext cx="914400" cy="548640"/>
          </a:xfrm>
          <a:prstGeom prst="rect">
            <a:avLst/>
          </a:prstGeom>
          <a:noFill/>
          <a:ln/>
        </p:spPr>
        <p:txBody>
          <a:bodyPr wrap="square" lIns="0" tIns="0" rIns="0" bIns="0" rtlCol="0" anchor="ctr"/>
          <a:lstStyle/>
          <a:p>
            <a:pPr indent="0" marL="0">
              <a:buNone/>
            </a:pPr>
            <a:r>
              <a:rPr lang="en-US" sz="4000" dirty="0">
                <a:solidFill>
                  <a:srgbClr val="1A2A45"/>
                </a:solidFill>
                <a:latin typeface="Arial" pitchFamily="34" charset="0"/>
                <a:ea typeface="Arial" pitchFamily="34" charset="-122"/>
                <a:cs typeface="Arial" pitchFamily="34" charset="-120"/>
              </a:rPr>
              <a:t>—</a:t>
            </a:r>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6" name="Text 4"/>
          <p:cNvSpPr/>
          <p:nvPr/>
        </p:nvSpPr>
        <p:spPr>
          <a:xfrm>
            <a:off x="685800" y="2286000"/>
            <a:ext cx="9722815" cy="2926080"/>
          </a:xfrm>
          <a:prstGeom prst="rect">
            <a:avLst/>
          </a:prstGeom>
          <a:noFill/>
          <a:ln/>
        </p:spPr>
        <p:txBody>
          <a:bodyPr wrap="square" lIns="0" tIns="0" rIns="0" bIns="0" rtlCol="0" anchor="t"/>
          <a:lstStyle/>
          <a:p>
            <a:pPr algn="l" indent="0" marL="0">
              <a:lnSpc>
                <a:spcPts val="4224"/>
              </a:lnSpc>
              <a:buNone/>
            </a:pPr>
            <a:r>
              <a:rPr lang="en-US" sz="3300" dirty="0">
                <a:solidFill>
                  <a:srgbClr val="8FA3BF"/>
                </a:solidFill>
                <a:latin typeface="Arial" pitchFamily="34" charset="0"/>
                <a:ea typeface="Arial" pitchFamily="34" charset="-122"/>
                <a:cs typeface="Arial" pitchFamily="34" charset="-120"/>
              </a:rPr>
              <a:t>The real cost wasn't slowness.</a:t>
            </a:r>
            <a:endParaRPr lang="en-US" sz="3300" dirty="0"/>
          </a:p>
          <a:p>
            <a:pPr algn="l" indent="0" marL="0">
              <a:lnSpc>
                <a:spcPts val="4224"/>
              </a:lnSpc>
              <a:buNone/>
            </a:pPr>
            <a:r>
              <a:rPr lang="en-US" sz="3300" b="1" dirty="0">
                <a:solidFill>
                  <a:srgbClr val="FFFFFF"/>
                </a:solidFill>
                <a:latin typeface="Arial" pitchFamily="34" charset="0"/>
                <a:ea typeface="Arial" pitchFamily="34" charset="-122"/>
                <a:cs typeface="Arial" pitchFamily="34" charset="-120"/>
              </a:rPr>
              <a:t>At that price, you stop testing alternatives.</a:t>
            </a:r>
            <a:endParaRPr lang="en-US" sz="3300" dirty="0"/>
          </a:p>
          <a:p>
            <a:pPr algn="l" indent="0" marL="0">
              <a:lnSpc>
                <a:spcPts val="4224"/>
              </a:lnSpc>
              <a:buNone/>
            </a:pPr>
            <a:r>
              <a:rPr lang="en-US" sz="3300" b="1" dirty="0">
                <a:solidFill>
                  <a:srgbClr val="00C08B"/>
                </a:solidFill>
                <a:latin typeface="Arial" pitchFamily="34" charset="0"/>
                <a:ea typeface="Arial" pitchFamily="34" charset="-122"/>
                <a:cs typeface="Arial" pitchFamily="34" charset="-120"/>
              </a:rPr>
              <a:t>You start deciding by opinion.</a:t>
            </a:r>
            <a:endParaRPr lang="en-US" sz="3300" dirty="0"/>
          </a:p>
        </p:txBody>
      </p:sp>
      <p:sp>
        <p:nvSpPr>
          <p:cNvPr id="7" name="Text 5"/>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So what do you build first?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DECISION</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4864"/>
              </a:lnSpc>
              <a:buNone/>
            </a:pPr>
            <a:r>
              <a:rPr lang="en-US" sz="3800" b="1" dirty="0">
                <a:solidFill>
                  <a:srgbClr val="16233A"/>
                </a:solidFill>
                <a:latin typeface="Arial" pitchFamily="34" charset="0"/>
                <a:ea typeface="Arial" pitchFamily="34" charset="-122"/>
                <a:cs typeface="Arial" pitchFamily="34" charset="-120"/>
              </a:rPr>
              <a:t>Build the environment that runs</a:t>
            </a:r>
            <a:endParaRPr lang="en-US" sz="3800" dirty="0"/>
          </a:p>
          <a:p>
            <a:pPr algn="l" indent="0" marL="0">
              <a:lnSpc>
                <a:spcPts val="4864"/>
              </a:lnSpc>
              <a:buNone/>
            </a:pPr>
            <a:r>
              <a:rPr lang="en-US" sz="3800" b="1" dirty="0">
                <a:solidFill>
                  <a:srgbClr val="16233A"/>
                </a:solidFill>
                <a:latin typeface="Arial" pitchFamily="34" charset="0"/>
                <a:ea typeface="Arial" pitchFamily="34" charset="-122"/>
                <a:cs typeface="Arial" pitchFamily="34" charset="-120"/>
              </a:rPr>
              <a:t>the whole platform on a laptop.</a:t>
            </a:r>
            <a:endParaRPr lang="en-US" sz="3800" dirty="0"/>
          </a:p>
          <a:p>
            <a:pPr algn="l" indent="0" marL="0">
              <a:lnSpc>
                <a:spcPts val="4864"/>
              </a:lnSpc>
              <a:buNone/>
            </a:pPr>
            <a:r>
              <a:rPr lang="en-US" sz="3800" b="1" dirty="0">
                <a:solidFill>
                  <a:srgbClr val="05795A"/>
                </a:solidFill>
                <a:latin typeface="Arial" pitchFamily="34" charset="0"/>
                <a:ea typeface="Arial" pitchFamily="34" charset="-122"/>
                <a:cs typeface="Arial" pitchFamily="34" charset="-120"/>
              </a:rPr>
              <a:t>First.</a:t>
            </a:r>
            <a:endParaRPr lang="en-US" sz="38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Can you actually run Step Functions on a laptop?</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Yes — all of it, from the production CDK</a:t>
            </a:r>
            <a:endParaRPr lang="en-US" sz="3200" dirty="0"/>
          </a:p>
        </p:txBody>
      </p:sp>
      <p:sp>
        <p:nvSpPr>
          <p:cNvPr id="6" name="Shape 4"/>
          <p:cNvSpPr/>
          <p:nvPr/>
        </p:nvSpPr>
        <p:spPr>
          <a:xfrm>
            <a:off x="685800" y="2468880"/>
            <a:ext cx="1915302" cy="914400"/>
          </a:xfrm>
          <a:prstGeom prst="roundRect">
            <a:avLst>
              <a:gd name="adj" fmla="val 12000"/>
            </a:avLst>
          </a:prstGeom>
          <a:solidFill>
            <a:srgbClr val="EDF2F8"/>
          </a:solidFill>
          <a:ln/>
        </p:spPr>
      </p:sp>
      <p:sp>
        <p:nvSpPr>
          <p:cNvPr id="7" name="Text 5"/>
          <p:cNvSpPr/>
          <p:nvPr/>
        </p:nvSpPr>
        <p:spPr>
          <a:xfrm>
            <a:off x="795528"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Step Functions</a:t>
            </a:r>
            <a:endParaRPr lang="en-US" sz="1500" dirty="0"/>
          </a:p>
        </p:txBody>
      </p:sp>
      <p:sp>
        <p:nvSpPr>
          <p:cNvPr id="8" name="Text 6"/>
          <p:cNvSpPr/>
          <p:nvPr/>
        </p:nvSpPr>
        <p:spPr>
          <a:xfrm>
            <a:off x="2601102"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468880"/>
            <a:ext cx="1915302" cy="914400"/>
          </a:xfrm>
          <a:prstGeom prst="roundRect">
            <a:avLst>
              <a:gd name="adj" fmla="val 12000"/>
            </a:avLst>
          </a:prstGeom>
          <a:solidFill>
            <a:srgbClr val="EDF2F8"/>
          </a:solidFill>
          <a:ln/>
        </p:spPr>
      </p:sp>
      <p:sp>
        <p:nvSpPr>
          <p:cNvPr id="10" name="Text 8"/>
          <p:cNvSpPr/>
          <p:nvPr/>
        </p:nvSpPr>
        <p:spPr>
          <a:xfrm>
            <a:off x="3021726"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Lambda</a:t>
            </a:r>
            <a:endParaRPr lang="en-US" sz="1500" dirty="0"/>
          </a:p>
        </p:txBody>
      </p:sp>
      <p:sp>
        <p:nvSpPr>
          <p:cNvPr id="11" name="Text 9"/>
          <p:cNvSpPr/>
          <p:nvPr/>
        </p:nvSpPr>
        <p:spPr>
          <a:xfrm>
            <a:off x="4827300"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468880"/>
            <a:ext cx="1915302" cy="914400"/>
          </a:xfrm>
          <a:prstGeom prst="roundRect">
            <a:avLst>
              <a:gd name="adj" fmla="val 12000"/>
            </a:avLst>
          </a:prstGeom>
          <a:solidFill>
            <a:srgbClr val="EDF2F8"/>
          </a:solidFill>
          <a:ln/>
        </p:spPr>
      </p:sp>
      <p:sp>
        <p:nvSpPr>
          <p:cNvPr id="13" name="Text 11"/>
          <p:cNvSpPr/>
          <p:nvPr/>
        </p:nvSpPr>
        <p:spPr>
          <a:xfrm>
            <a:off x="5247924"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DynamoDB</a:t>
            </a:r>
            <a:endParaRPr lang="en-US" sz="1500" dirty="0"/>
          </a:p>
        </p:txBody>
      </p:sp>
      <p:sp>
        <p:nvSpPr>
          <p:cNvPr id="14" name="Text 12"/>
          <p:cNvSpPr/>
          <p:nvPr/>
        </p:nvSpPr>
        <p:spPr>
          <a:xfrm>
            <a:off x="7053499"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468880"/>
            <a:ext cx="1915302" cy="914400"/>
          </a:xfrm>
          <a:prstGeom prst="roundRect">
            <a:avLst>
              <a:gd name="adj" fmla="val 12000"/>
            </a:avLst>
          </a:prstGeom>
          <a:solidFill>
            <a:srgbClr val="EDF2F8"/>
          </a:solidFill>
          <a:ln/>
        </p:spPr>
      </p:sp>
      <p:sp>
        <p:nvSpPr>
          <p:cNvPr id="16" name="Text 14"/>
          <p:cNvSpPr/>
          <p:nvPr/>
        </p:nvSpPr>
        <p:spPr>
          <a:xfrm>
            <a:off x="7474123"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SQS</a:t>
            </a:r>
            <a:endParaRPr lang="en-US" sz="1500" dirty="0"/>
          </a:p>
        </p:txBody>
      </p:sp>
      <p:sp>
        <p:nvSpPr>
          <p:cNvPr id="17" name="Text 15"/>
          <p:cNvSpPr/>
          <p:nvPr/>
        </p:nvSpPr>
        <p:spPr>
          <a:xfrm>
            <a:off x="9279697"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468880"/>
            <a:ext cx="1915302" cy="914400"/>
          </a:xfrm>
          <a:prstGeom prst="roundRect">
            <a:avLst>
              <a:gd name="adj" fmla="val 12000"/>
            </a:avLst>
          </a:prstGeom>
          <a:solidFill>
            <a:srgbClr val="EDF2F8"/>
          </a:solidFill>
          <a:ln/>
        </p:spPr>
      </p:sp>
      <p:sp>
        <p:nvSpPr>
          <p:cNvPr id="19" name="Text 17"/>
          <p:cNvSpPr/>
          <p:nvPr/>
        </p:nvSpPr>
        <p:spPr>
          <a:xfrm>
            <a:off x="9700321"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S3</a:t>
            </a:r>
            <a:endParaRPr lang="en-US" sz="1500" dirty="0"/>
          </a:p>
        </p:txBody>
      </p:sp>
      <p:sp>
        <p:nvSpPr>
          <p:cNvPr id="20" name="Shape 18"/>
          <p:cNvSpPr/>
          <p:nvPr/>
        </p:nvSpPr>
        <p:spPr>
          <a:xfrm>
            <a:off x="685800" y="3794760"/>
            <a:ext cx="10820095" cy="1188720"/>
          </a:xfrm>
          <a:prstGeom prst="roundRect">
            <a:avLst>
              <a:gd name="adj" fmla="val 10769"/>
            </a:avLst>
          </a:prstGeom>
          <a:solidFill>
            <a:srgbClr val="0E1626"/>
          </a:solidFill>
          <a:ln/>
        </p:spPr>
      </p:sp>
      <p:sp>
        <p:nvSpPr>
          <p:cNvPr id="21" name="Text 19"/>
          <p:cNvSpPr/>
          <p:nvPr/>
        </p:nvSpPr>
        <p:spPr>
          <a:xfrm>
            <a:off x="1051560" y="3794760"/>
            <a:ext cx="10088575" cy="1188720"/>
          </a:xfrm>
          <a:prstGeom prst="rect">
            <a:avLst/>
          </a:prstGeom>
          <a:noFill/>
          <a:ln/>
        </p:spPr>
        <p:txBody>
          <a:bodyPr wrap="square" lIns="0" tIns="0" rIns="0" bIns="0" rtlCol="0" anchor="ctr"/>
          <a:lstStyle/>
          <a:p>
            <a:pPr indent="0" marL="0">
              <a:buNone/>
            </a:pPr>
            <a:r>
              <a:rPr lang="en-US" sz="2300" b="1" dirty="0">
                <a:solidFill>
                  <a:srgbClr val="00C08B"/>
                </a:solidFill>
                <a:latin typeface="Arial" pitchFamily="34" charset="0"/>
                <a:ea typeface="Arial" pitchFamily="34" charset="-122"/>
                <a:cs typeface="Arial" pitchFamily="34" charset="-120"/>
              </a:rPr>
              <a:t>The same CDK definitions as production — pointed somewhere else.</a:t>
            </a:r>
            <a:endParaRPr lang="en-US" sz="2300" dirty="0"/>
          </a:p>
        </p:txBody>
      </p:sp>
      <p:sp>
        <p:nvSpPr>
          <p:cNvPr id="22" name="Text 20"/>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Is that enough?</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000" b="1" dirty="0">
                <a:solidFill>
                  <a:srgbClr val="16233A"/>
                </a:solidFill>
                <a:latin typeface="Arial" pitchFamily="34" charset="0"/>
                <a:ea typeface="Arial" pitchFamily="34" charset="-122"/>
                <a:cs typeface="Arial" pitchFamily="34" charset="-120"/>
              </a:rPr>
              <a:t>No. Running it and using it are different problems.</a:t>
            </a:r>
            <a:endParaRPr lang="en-US" sz="3000" dirty="0"/>
          </a:p>
        </p:txBody>
      </p:sp>
      <p:sp>
        <p:nvSpPr>
          <p:cNvPr id="6" name="Shape 4"/>
          <p:cNvSpPr/>
          <p:nvPr/>
        </p:nvSpPr>
        <p:spPr>
          <a:xfrm>
            <a:off x="685800" y="2286000"/>
            <a:ext cx="3411626" cy="1097280"/>
          </a:xfrm>
          <a:prstGeom prst="roundRect">
            <a:avLst>
              <a:gd name="adj" fmla="val 10000"/>
            </a:avLst>
          </a:prstGeom>
          <a:solidFill>
            <a:srgbClr val="EDF2F8"/>
          </a:solidFill>
          <a:ln/>
        </p:spPr>
      </p:sp>
      <p:sp>
        <p:nvSpPr>
          <p:cNvPr id="7" name="Text 5"/>
          <p:cNvSpPr/>
          <p:nvPr/>
        </p:nvSpPr>
        <p:spPr>
          <a:xfrm>
            <a:off x="914400" y="24505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Prepare local infrastructure</a:t>
            </a:r>
            <a:endParaRPr lang="en-US" sz="1600" dirty="0"/>
          </a:p>
        </p:txBody>
      </p:sp>
      <p:sp>
        <p:nvSpPr>
          <p:cNvPr id="8" name="Text 6"/>
          <p:cNvSpPr/>
          <p:nvPr/>
        </p:nvSpPr>
        <p:spPr>
          <a:xfrm>
            <a:off x="914400" y="29443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cold laptop to running stack</a:t>
            </a:r>
            <a:endParaRPr lang="en-US" sz="1300" dirty="0"/>
          </a:p>
        </p:txBody>
      </p:sp>
      <p:sp>
        <p:nvSpPr>
          <p:cNvPr id="9" name="Shape 7"/>
          <p:cNvSpPr/>
          <p:nvPr/>
        </p:nvSpPr>
        <p:spPr>
          <a:xfrm>
            <a:off x="4390034" y="2286000"/>
            <a:ext cx="3411626" cy="1097280"/>
          </a:xfrm>
          <a:prstGeom prst="roundRect">
            <a:avLst>
              <a:gd name="adj" fmla="val 10000"/>
            </a:avLst>
          </a:prstGeom>
          <a:solidFill>
            <a:srgbClr val="EDF2F8"/>
          </a:solidFill>
          <a:ln/>
        </p:spPr>
      </p:sp>
      <p:sp>
        <p:nvSpPr>
          <p:cNvPr id="10" name="Text 8"/>
          <p:cNvSpPr/>
          <p:nvPr/>
        </p:nvSpPr>
        <p:spPr>
          <a:xfrm>
            <a:off x="4618634" y="24505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Deploy the CDK stack locally</a:t>
            </a:r>
            <a:endParaRPr lang="en-US" sz="1600" dirty="0"/>
          </a:p>
        </p:txBody>
      </p:sp>
      <p:sp>
        <p:nvSpPr>
          <p:cNvPr id="11" name="Text 9"/>
          <p:cNvSpPr/>
          <p:nvPr/>
        </p:nvSpPr>
        <p:spPr>
          <a:xfrm>
            <a:off x="4618634" y="29443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same definitions, no AWS account</a:t>
            </a:r>
            <a:endParaRPr lang="en-US" sz="1300" dirty="0"/>
          </a:p>
        </p:txBody>
      </p:sp>
      <p:sp>
        <p:nvSpPr>
          <p:cNvPr id="12" name="Shape 10"/>
          <p:cNvSpPr/>
          <p:nvPr/>
        </p:nvSpPr>
        <p:spPr>
          <a:xfrm>
            <a:off x="8094269" y="2286000"/>
            <a:ext cx="3411626" cy="1097280"/>
          </a:xfrm>
          <a:prstGeom prst="roundRect">
            <a:avLst>
              <a:gd name="adj" fmla="val 10000"/>
            </a:avLst>
          </a:prstGeom>
          <a:solidFill>
            <a:srgbClr val="EDF2F8"/>
          </a:solidFill>
          <a:ln/>
        </p:spPr>
      </p:sp>
      <p:sp>
        <p:nvSpPr>
          <p:cNvPr id="13" name="Text 11"/>
          <p:cNvSpPr/>
          <p:nvPr/>
        </p:nvSpPr>
        <p:spPr>
          <a:xfrm>
            <a:off x="8322869" y="24505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Generate test data</a:t>
            </a:r>
            <a:endParaRPr lang="en-US" sz="1600" dirty="0"/>
          </a:p>
        </p:txBody>
      </p:sp>
      <p:sp>
        <p:nvSpPr>
          <p:cNvPr id="14" name="Text 12"/>
          <p:cNvSpPr/>
          <p:nvPr/>
        </p:nvSpPr>
        <p:spPr>
          <a:xfrm>
            <a:off x="8322869" y="29443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realistic calls and export jobs</a:t>
            </a:r>
            <a:endParaRPr lang="en-US" sz="1300" dirty="0"/>
          </a:p>
        </p:txBody>
      </p:sp>
      <p:sp>
        <p:nvSpPr>
          <p:cNvPr id="15" name="Shape 13"/>
          <p:cNvSpPr/>
          <p:nvPr/>
        </p:nvSpPr>
        <p:spPr>
          <a:xfrm>
            <a:off x="685800" y="3657600"/>
            <a:ext cx="3411626" cy="1097280"/>
          </a:xfrm>
          <a:prstGeom prst="roundRect">
            <a:avLst>
              <a:gd name="adj" fmla="val 10000"/>
            </a:avLst>
          </a:prstGeom>
          <a:solidFill>
            <a:srgbClr val="EDF2F8"/>
          </a:solidFill>
          <a:ln/>
        </p:spPr>
      </p:sp>
      <p:sp>
        <p:nvSpPr>
          <p:cNvPr id="16" name="Text 14"/>
          <p:cNvSpPr/>
          <p:nvPr/>
        </p:nvSpPr>
        <p:spPr>
          <a:xfrm>
            <a:off x="914400" y="38221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Execute the state machine</a:t>
            </a:r>
            <a:endParaRPr lang="en-US" sz="1600" dirty="0"/>
          </a:p>
        </p:txBody>
      </p:sp>
      <p:sp>
        <p:nvSpPr>
          <p:cNvPr id="17" name="Text 15"/>
          <p:cNvSpPr/>
          <p:nvPr/>
        </p:nvSpPr>
        <p:spPr>
          <a:xfrm>
            <a:off x="914400" y="43159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one command, one execution</a:t>
            </a:r>
            <a:endParaRPr lang="en-US" sz="1300" dirty="0"/>
          </a:p>
        </p:txBody>
      </p:sp>
      <p:sp>
        <p:nvSpPr>
          <p:cNvPr id="18" name="Shape 16"/>
          <p:cNvSpPr/>
          <p:nvPr/>
        </p:nvSpPr>
        <p:spPr>
          <a:xfrm>
            <a:off x="4390034" y="3657600"/>
            <a:ext cx="3411626" cy="1097280"/>
          </a:xfrm>
          <a:prstGeom prst="roundRect">
            <a:avLst>
              <a:gd name="adj" fmla="val 10000"/>
            </a:avLst>
          </a:prstGeom>
          <a:solidFill>
            <a:srgbClr val="EDF2F8"/>
          </a:solidFill>
          <a:ln/>
        </p:spPr>
      </p:sp>
      <p:sp>
        <p:nvSpPr>
          <p:cNvPr id="19" name="Text 17"/>
          <p:cNvSpPr/>
          <p:nvPr/>
        </p:nvSpPr>
        <p:spPr>
          <a:xfrm>
            <a:off x="4618634" y="38221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Reset the environment</a:t>
            </a:r>
            <a:endParaRPr lang="en-US" sz="1600" dirty="0"/>
          </a:p>
        </p:txBody>
      </p:sp>
      <p:sp>
        <p:nvSpPr>
          <p:cNvPr id="20" name="Text 18"/>
          <p:cNvSpPr/>
          <p:nvPr/>
        </p:nvSpPr>
        <p:spPr>
          <a:xfrm>
            <a:off x="4618634" y="43159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back to clean in seconds</a:t>
            </a:r>
            <a:endParaRPr lang="en-US" sz="1300" dirty="0"/>
          </a:p>
        </p:txBody>
      </p:sp>
      <p:sp>
        <p:nvSpPr>
          <p:cNvPr id="21" name="Shape 19"/>
          <p:cNvSpPr/>
          <p:nvPr/>
        </p:nvSpPr>
        <p:spPr>
          <a:xfrm>
            <a:off x="8094269" y="3657600"/>
            <a:ext cx="3411626" cy="1097280"/>
          </a:xfrm>
          <a:prstGeom prst="roundRect">
            <a:avLst>
              <a:gd name="adj" fmla="val 10000"/>
            </a:avLst>
          </a:prstGeom>
          <a:solidFill>
            <a:srgbClr val="EDF2F8"/>
          </a:solidFill>
          <a:ln/>
        </p:spPr>
      </p:sp>
      <p:sp>
        <p:nvSpPr>
          <p:cNvPr id="22" name="Text 20"/>
          <p:cNvSpPr/>
          <p:nvPr/>
        </p:nvSpPr>
        <p:spPr>
          <a:xfrm>
            <a:off x="8322869" y="38221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Automate the repetitive parts</a:t>
            </a:r>
            <a:endParaRPr lang="en-US" sz="1600" dirty="0"/>
          </a:p>
        </p:txBody>
      </p:sp>
      <p:sp>
        <p:nvSpPr>
          <p:cNvPr id="23" name="Text 21"/>
          <p:cNvSpPr/>
          <p:nvPr/>
        </p:nvSpPr>
        <p:spPr>
          <a:xfrm>
            <a:off x="8322869" y="43159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the same few commands, every day</a:t>
            </a:r>
            <a:endParaRPr lang="en-US" sz="1300" dirty="0"/>
          </a:p>
        </p:txBody>
      </p:sp>
      <p:sp>
        <p:nvSpPr>
          <p:cNvPr id="24" name="Text 2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And when an execution fails across nine Lambdas?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000" b="1" dirty="0">
                <a:solidFill>
                  <a:srgbClr val="16233A"/>
                </a:solidFill>
                <a:latin typeface="Arial" pitchFamily="34" charset="0"/>
                <a:ea typeface="Arial" pitchFamily="34" charset="-122"/>
                <a:cs typeface="Arial" pitchFamily="34" charset="-120"/>
              </a:rPr>
              <a:t>You stop reading logs and read one timeline</a:t>
            </a:r>
            <a:endParaRPr lang="en-US" sz="3000" dirty="0"/>
          </a:p>
        </p:txBody>
      </p:sp>
      <p:sp>
        <p:nvSpPr>
          <p:cNvPr id="6" name="Shape 4"/>
          <p:cNvSpPr/>
          <p:nvPr/>
        </p:nvSpPr>
        <p:spPr>
          <a:xfrm>
            <a:off x="685800" y="2468880"/>
            <a:ext cx="2471852" cy="1143000"/>
          </a:xfrm>
          <a:prstGeom prst="roundRect">
            <a:avLst>
              <a:gd name="adj" fmla="val 9600"/>
            </a:avLst>
          </a:prstGeom>
          <a:solidFill>
            <a:srgbClr val="EDF2F8"/>
          </a:solidFill>
          <a:ln/>
        </p:spPr>
      </p:sp>
      <p:sp>
        <p:nvSpPr>
          <p:cNvPr id="7" name="Text 5"/>
          <p:cNvSpPr/>
          <p:nvPr/>
        </p:nvSpPr>
        <p:spPr>
          <a:xfrm>
            <a:off x="795528"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Collect logs from</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every Lambda</a:t>
            </a:r>
            <a:endParaRPr lang="en-US" sz="1500" dirty="0"/>
          </a:p>
        </p:txBody>
      </p:sp>
      <p:sp>
        <p:nvSpPr>
          <p:cNvPr id="8" name="Text 6"/>
          <p:cNvSpPr/>
          <p:nvPr/>
        </p:nvSpPr>
        <p:spPr>
          <a:xfrm>
            <a:off x="3157652" y="246888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68548" y="2468880"/>
            <a:ext cx="2471852" cy="1143000"/>
          </a:xfrm>
          <a:prstGeom prst="roundRect">
            <a:avLst>
              <a:gd name="adj" fmla="val 9600"/>
            </a:avLst>
          </a:prstGeom>
          <a:solidFill>
            <a:srgbClr val="EDF2F8"/>
          </a:solidFill>
          <a:ln/>
        </p:spPr>
      </p:sp>
      <p:sp>
        <p:nvSpPr>
          <p:cNvPr id="10" name="Text 8"/>
          <p:cNvSpPr/>
          <p:nvPr/>
        </p:nvSpPr>
        <p:spPr>
          <a:xfrm>
            <a:off x="3578276"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Correlate into</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one timeline</a:t>
            </a:r>
            <a:endParaRPr lang="en-US" sz="1500" dirty="0"/>
          </a:p>
        </p:txBody>
      </p:sp>
      <p:sp>
        <p:nvSpPr>
          <p:cNvPr id="11" name="Text 9"/>
          <p:cNvSpPr/>
          <p:nvPr/>
        </p:nvSpPr>
        <p:spPr>
          <a:xfrm>
            <a:off x="5940400" y="246888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251296" y="2468880"/>
            <a:ext cx="2471852" cy="1143000"/>
          </a:xfrm>
          <a:prstGeom prst="roundRect">
            <a:avLst>
              <a:gd name="adj" fmla="val 9600"/>
            </a:avLst>
          </a:prstGeom>
          <a:solidFill>
            <a:srgbClr val="EDF2F8"/>
          </a:solidFill>
          <a:ln/>
        </p:spPr>
      </p:sp>
      <p:sp>
        <p:nvSpPr>
          <p:cNvPr id="13" name="Text 11"/>
          <p:cNvSpPr/>
          <p:nvPr/>
        </p:nvSpPr>
        <p:spPr>
          <a:xfrm>
            <a:off x="6361024"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Follow the state</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transitions</a:t>
            </a:r>
            <a:endParaRPr lang="en-US" sz="1500" dirty="0"/>
          </a:p>
        </p:txBody>
      </p:sp>
      <p:sp>
        <p:nvSpPr>
          <p:cNvPr id="14" name="Text 12"/>
          <p:cNvSpPr/>
          <p:nvPr/>
        </p:nvSpPr>
        <p:spPr>
          <a:xfrm>
            <a:off x="8723147" y="246888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9034043" y="2468880"/>
            <a:ext cx="2471852" cy="1143000"/>
          </a:xfrm>
          <a:prstGeom prst="roundRect">
            <a:avLst>
              <a:gd name="adj" fmla="val 9600"/>
            </a:avLst>
          </a:prstGeom>
          <a:solidFill>
            <a:srgbClr val="EDF2F8"/>
          </a:solidFill>
          <a:ln/>
        </p:spPr>
      </p:sp>
      <p:sp>
        <p:nvSpPr>
          <p:cNvPr id="16" name="Text 14"/>
          <p:cNvSpPr/>
          <p:nvPr/>
        </p:nvSpPr>
        <p:spPr>
          <a:xfrm>
            <a:off x="9143771"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Reconstruct</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the flow</a:t>
            </a:r>
            <a:endParaRPr lang="en-US" sz="1500" dirty="0"/>
          </a:p>
        </p:txBody>
      </p:sp>
      <p:sp>
        <p:nvSpPr>
          <p:cNvPr id="17" name="Shape 15"/>
          <p:cNvSpPr/>
          <p:nvPr/>
        </p:nvSpPr>
        <p:spPr>
          <a:xfrm>
            <a:off x="685800" y="3977640"/>
            <a:ext cx="10820095" cy="1051560"/>
          </a:xfrm>
          <a:prstGeom prst="roundRect">
            <a:avLst>
              <a:gd name="adj" fmla="val 12174"/>
            </a:avLst>
          </a:prstGeom>
          <a:solidFill>
            <a:srgbClr val="0E1626"/>
          </a:solidFill>
          <a:ln/>
        </p:spPr>
      </p:sp>
      <p:sp>
        <p:nvSpPr>
          <p:cNvPr id="18" name="Text 16"/>
          <p:cNvSpPr/>
          <p:nvPr/>
        </p:nvSpPr>
        <p:spPr>
          <a:xfrm>
            <a:off x="1051560" y="3977640"/>
            <a:ext cx="10088575" cy="1051560"/>
          </a:xfrm>
          <a:prstGeom prst="rect">
            <a:avLst/>
          </a:prstGeom>
          <a:noFill/>
          <a:ln/>
        </p:spPr>
        <p:txBody>
          <a:bodyPr wrap="square" lIns="0" tIns="0" rIns="0" bIns="0" rtlCol="0" anchor="ctr"/>
          <a:lstStyle/>
          <a:p>
            <a:pPr indent="0" marL="0">
              <a:buNone/>
            </a:pPr>
            <a:r>
              <a:rPr lang="en-US" sz="2200" b="1" dirty="0">
                <a:solidFill>
                  <a:srgbClr val="00C08B"/>
                </a:solidFill>
                <a:latin typeface="Arial" pitchFamily="34" charset="0"/>
                <a:ea typeface="Arial" pitchFamily="34" charset="-122"/>
                <a:cs typeface="Arial" pitchFamily="34" charset="-120"/>
              </a:rPr>
              <a:t>Works against local, Dev and QA.</a:t>
            </a:r>
            <a:endParaRPr lang="en-US" sz="2200" dirty="0"/>
          </a:p>
        </p:txBody>
      </p:sp>
      <p:sp>
        <p:nvSpPr>
          <p:cNvPr id="19" name="Text 1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Could we just look at it instead of reading it?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Debugging became reading a workflow</a:t>
            </a:r>
            <a:endParaRPr lang="en-US" sz="3200" dirty="0"/>
          </a:p>
        </p:txBody>
      </p:sp>
      <p:sp>
        <p:nvSpPr>
          <p:cNvPr id="6" name="Shape 4"/>
          <p:cNvSpPr/>
          <p:nvPr/>
        </p:nvSpPr>
        <p:spPr>
          <a:xfrm>
            <a:off x="685800" y="2331720"/>
            <a:ext cx="6766560" cy="3063240"/>
          </a:xfrm>
          <a:prstGeom prst="roundRect">
            <a:avLst>
              <a:gd name="adj" fmla="val 4179"/>
            </a:avLst>
          </a:prstGeom>
          <a:solidFill>
            <a:srgbClr val="EDF2F8"/>
          </a:solidFill>
          <a:ln/>
        </p:spPr>
      </p:sp>
      <p:sp>
        <p:nvSpPr>
          <p:cNvPr id="7" name="Text 5"/>
          <p:cNvSpPr/>
          <p:nvPr/>
        </p:nvSpPr>
        <p:spPr>
          <a:xfrm>
            <a:off x="960120" y="2331720"/>
            <a:ext cx="6217920" cy="3063240"/>
          </a:xfrm>
          <a:prstGeom prst="rect">
            <a:avLst/>
          </a:prstGeom>
          <a:noFill/>
          <a:ln/>
        </p:spPr>
        <p:txBody>
          <a:bodyPr wrap="square" lIns="0" tIns="0" rIns="0" bIns="0" rtlCol="0" anchor="ctr"/>
          <a:lstStyle/>
          <a:p>
            <a:pPr algn="ctr" indent="0" marL="0">
              <a:buNone/>
            </a:pPr>
            <a:r>
              <a:rPr lang="en-US" sz="1500" dirty="0">
                <a:solidFill>
                  <a:srgbClr val="6B7B93"/>
                </a:solidFill>
                <a:latin typeface="Calibri" pitchFamily="34" charset="0"/>
                <a:ea typeface="Calibri" pitchFamily="34" charset="-122"/>
                <a:cs typeface="Calibri" pitchFamily="34" charset="-120"/>
              </a:rPr>
              <a:t>[ screenshot of the workflow UI goes here ]</a:t>
            </a:r>
            <a:endParaRPr lang="en-US" sz="1500" dirty="0"/>
          </a:p>
        </p:txBody>
      </p:sp>
      <p:sp>
        <p:nvSpPr>
          <p:cNvPr id="8" name="Shape 6"/>
          <p:cNvSpPr/>
          <p:nvPr/>
        </p:nvSpPr>
        <p:spPr>
          <a:xfrm>
            <a:off x="7818120" y="2514600"/>
            <a:ext cx="146304" cy="146304"/>
          </a:xfrm>
          <a:prstGeom prst="roundRect">
            <a:avLst>
              <a:gd name="adj" fmla="val 31250"/>
            </a:avLst>
          </a:prstGeom>
          <a:solidFill>
            <a:srgbClr val="00C08B"/>
          </a:solidFill>
          <a:ln/>
        </p:spPr>
      </p:sp>
      <p:sp>
        <p:nvSpPr>
          <p:cNvPr id="9" name="Text 7"/>
          <p:cNvSpPr/>
          <p:nvPr/>
        </p:nvSpPr>
        <p:spPr>
          <a:xfrm>
            <a:off x="8138160" y="239572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State machine progress</a:t>
            </a:r>
            <a:endParaRPr lang="en-US" sz="1500" dirty="0"/>
          </a:p>
        </p:txBody>
      </p:sp>
      <p:sp>
        <p:nvSpPr>
          <p:cNvPr id="10" name="Shape 8"/>
          <p:cNvSpPr/>
          <p:nvPr/>
        </p:nvSpPr>
        <p:spPr>
          <a:xfrm>
            <a:off x="7818120" y="3017520"/>
            <a:ext cx="146304" cy="146304"/>
          </a:xfrm>
          <a:prstGeom prst="roundRect">
            <a:avLst>
              <a:gd name="adj" fmla="val 31250"/>
            </a:avLst>
          </a:prstGeom>
          <a:solidFill>
            <a:srgbClr val="00C08B"/>
          </a:solidFill>
          <a:ln/>
        </p:spPr>
      </p:sp>
      <p:sp>
        <p:nvSpPr>
          <p:cNvPr id="11" name="Text 9"/>
          <p:cNvSpPr/>
          <p:nvPr/>
        </p:nvSpPr>
        <p:spPr>
          <a:xfrm>
            <a:off x="8138160" y="289864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Current and previous state</a:t>
            </a:r>
            <a:endParaRPr lang="en-US" sz="1500" dirty="0"/>
          </a:p>
        </p:txBody>
      </p:sp>
      <p:sp>
        <p:nvSpPr>
          <p:cNvPr id="12" name="Shape 10"/>
          <p:cNvSpPr/>
          <p:nvPr/>
        </p:nvSpPr>
        <p:spPr>
          <a:xfrm>
            <a:off x="7818120" y="3520440"/>
            <a:ext cx="146304" cy="146304"/>
          </a:xfrm>
          <a:prstGeom prst="roundRect">
            <a:avLst>
              <a:gd name="adj" fmla="val 31250"/>
            </a:avLst>
          </a:prstGeom>
          <a:solidFill>
            <a:srgbClr val="00C08B"/>
          </a:solidFill>
          <a:ln/>
        </p:spPr>
      </p:sp>
      <p:sp>
        <p:nvSpPr>
          <p:cNvPr id="13" name="Text 11"/>
          <p:cNvSpPr/>
          <p:nvPr/>
        </p:nvSpPr>
        <p:spPr>
          <a:xfrm>
            <a:off x="8138160" y="340156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Lambda invocations</a:t>
            </a:r>
            <a:endParaRPr lang="en-US" sz="1500" dirty="0"/>
          </a:p>
        </p:txBody>
      </p:sp>
      <p:sp>
        <p:nvSpPr>
          <p:cNvPr id="14" name="Shape 12"/>
          <p:cNvSpPr/>
          <p:nvPr/>
        </p:nvSpPr>
        <p:spPr>
          <a:xfrm>
            <a:off x="7818120" y="4023360"/>
            <a:ext cx="146304" cy="146304"/>
          </a:xfrm>
          <a:prstGeom prst="roundRect">
            <a:avLst>
              <a:gd name="adj" fmla="val 31250"/>
            </a:avLst>
          </a:prstGeom>
          <a:solidFill>
            <a:srgbClr val="00C08B"/>
          </a:solidFill>
          <a:ln/>
        </p:spPr>
      </p:sp>
      <p:sp>
        <p:nvSpPr>
          <p:cNvPr id="15" name="Text 13"/>
          <p:cNvSpPr/>
          <p:nvPr/>
        </p:nvSpPr>
        <p:spPr>
          <a:xfrm>
            <a:off x="8138160" y="390448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Execution history</a:t>
            </a:r>
            <a:endParaRPr lang="en-US" sz="1500" dirty="0"/>
          </a:p>
        </p:txBody>
      </p:sp>
      <p:sp>
        <p:nvSpPr>
          <p:cNvPr id="16" name="Shape 14"/>
          <p:cNvSpPr/>
          <p:nvPr/>
        </p:nvSpPr>
        <p:spPr>
          <a:xfrm>
            <a:off x="7818120" y="4526280"/>
            <a:ext cx="146304" cy="146304"/>
          </a:xfrm>
          <a:prstGeom prst="roundRect">
            <a:avLst>
              <a:gd name="adj" fmla="val 31250"/>
            </a:avLst>
          </a:prstGeom>
          <a:solidFill>
            <a:srgbClr val="00C08B"/>
          </a:solidFill>
          <a:ln/>
        </p:spPr>
      </p:sp>
      <p:sp>
        <p:nvSpPr>
          <p:cNvPr id="17" name="Text 15"/>
          <p:cNvSpPr/>
          <p:nvPr/>
        </p:nvSpPr>
        <p:spPr>
          <a:xfrm>
            <a:off x="8138160" y="440740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Correlated logs</a:t>
            </a:r>
            <a:endParaRPr lang="en-US" sz="1500" dirty="0"/>
          </a:p>
        </p:txBody>
      </p:sp>
      <p:sp>
        <p:nvSpPr>
          <p:cNvPr id="18" name="Shape 16"/>
          <p:cNvSpPr/>
          <p:nvPr/>
        </p:nvSpPr>
        <p:spPr>
          <a:xfrm>
            <a:off x="7818120" y="5029200"/>
            <a:ext cx="146304" cy="146304"/>
          </a:xfrm>
          <a:prstGeom prst="roundRect">
            <a:avLst>
              <a:gd name="adj" fmla="val 31250"/>
            </a:avLst>
          </a:prstGeom>
          <a:solidFill>
            <a:srgbClr val="00C08B"/>
          </a:solidFill>
          <a:ln/>
        </p:spPr>
      </p:sp>
      <p:sp>
        <p:nvSpPr>
          <p:cNvPr id="19" name="Text 17"/>
          <p:cNvSpPr/>
          <p:nvPr/>
        </p:nvSpPr>
        <p:spPr>
          <a:xfrm>
            <a:off x="8138160" y="491032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Execution timing</a:t>
            </a:r>
            <a:endParaRPr lang="en-US" sz="1500" dirty="0"/>
          </a:p>
        </p:txBody>
      </p:sp>
      <p:sp>
        <p:nvSpPr>
          <p:cNvPr id="20" name="Text 18"/>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does one iteration cost now?</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MEASURED</a:t>
            </a:r>
            <a:endParaRPr lang="en-US" sz="1100" dirty="0"/>
          </a:p>
        </p:txBody>
      </p:sp>
      <p:sp>
        <p:nvSpPr>
          <p:cNvPr id="6" name="Shape 4"/>
          <p:cNvSpPr/>
          <p:nvPr/>
        </p:nvSpPr>
        <p:spPr>
          <a:xfrm>
            <a:off x="685800" y="2103120"/>
            <a:ext cx="5135728" cy="2743200"/>
          </a:xfrm>
          <a:prstGeom prst="roundRect">
            <a:avLst>
              <a:gd name="adj" fmla="val 5333"/>
            </a:avLst>
          </a:prstGeom>
          <a:solidFill>
            <a:srgbClr val="1A2A45"/>
          </a:solidFill>
          <a:ln/>
        </p:spPr>
      </p:sp>
      <p:sp>
        <p:nvSpPr>
          <p:cNvPr id="7" name="Shape 5"/>
          <p:cNvSpPr/>
          <p:nvPr/>
        </p:nvSpPr>
        <p:spPr>
          <a:xfrm>
            <a:off x="6370168" y="2103120"/>
            <a:ext cx="5135728" cy="2743200"/>
          </a:xfrm>
          <a:prstGeom prst="roundRect">
            <a:avLst>
              <a:gd name="adj" fmla="val 5333"/>
            </a:avLst>
          </a:prstGeom>
          <a:solidFill>
            <a:srgbClr val="00C08B"/>
          </a:solidFill>
          <a:ln/>
        </p:spPr>
      </p:sp>
      <p:sp>
        <p:nvSpPr>
          <p:cNvPr id="8" name="Text 6"/>
          <p:cNvSpPr/>
          <p:nvPr/>
        </p:nvSpPr>
        <p:spPr>
          <a:xfrm>
            <a:off x="1097280" y="2423160"/>
            <a:ext cx="2743200" cy="365760"/>
          </a:xfrm>
          <a:prstGeom prst="rect">
            <a:avLst/>
          </a:prstGeom>
          <a:noFill/>
          <a:ln/>
        </p:spPr>
        <p:txBody>
          <a:bodyPr wrap="square" lIns="0" tIns="0" rIns="0" bIns="0" rtlCol="0" anchor="ctr"/>
          <a:lstStyle/>
          <a:p>
            <a:pPr indent="0" marL="0">
              <a:buNone/>
            </a:pPr>
            <a:r>
              <a:rPr lang="en-US" sz="1200" b="1" spc="200" kern="0" dirty="0">
                <a:solidFill>
                  <a:srgbClr val="8FA3BF"/>
                </a:solidFill>
                <a:latin typeface="Arial" pitchFamily="34" charset="0"/>
                <a:ea typeface="Arial" pitchFamily="34" charset="-122"/>
                <a:cs typeface="Arial" pitchFamily="34" charset="-120"/>
              </a:rPr>
              <a:t>BEFORE</a:t>
            </a:r>
            <a:endParaRPr lang="en-US" sz="1200" dirty="0"/>
          </a:p>
        </p:txBody>
      </p:sp>
      <p:sp>
        <p:nvSpPr>
          <p:cNvPr id="9" name="Text 7"/>
          <p:cNvSpPr/>
          <p:nvPr/>
        </p:nvSpPr>
        <p:spPr>
          <a:xfrm>
            <a:off x="1097280" y="2971800"/>
            <a:ext cx="4114800" cy="1005840"/>
          </a:xfrm>
          <a:prstGeom prst="rect">
            <a:avLst/>
          </a:prstGeom>
          <a:noFill/>
          <a:ln/>
        </p:spPr>
        <p:txBody>
          <a:bodyPr wrap="square" lIns="0" tIns="0" rIns="0" bIns="0" rtlCol="0" anchor="ctr"/>
          <a:lstStyle/>
          <a:p>
            <a:pPr indent="0" marL="0">
              <a:buNone/>
            </a:pPr>
            <a:r>
              <a:rPr lang="en-US" sz="5200" b="1" dirty="0">
                <a:solidFill>
                  <a:srgbClr val="E8743B"/>
                </a:solidFill>
                <a:latin typeface="Arial" pitchFamily="34" charset="0"/>
                <a:ea typeface="Arial" pitchFamily="34" charset="-122"/>
                <a:cs typeface="Arial" pitchFamily="34" charset="-120"/>
              </a:rPr>
              <a:t>[N] min</a:t>
            </a:r>
            <a:endParaRPr lang="en-US" sz="5200" dirty="0"/>
          </a:p>
        </p:txBody>
      </p:sp>
      <p:sp>
        <p:nvSpPr>
          <p:cNvPr id="10" name="Text 8"/>
          <p:cNvSpPr/>
          <p:nvPr/>
        </p:nvSpPr>
        <p:spPr>
          <a:xfrm>
            <a:off x="1097280" y="4114800"/>
            <a:ext cx="4114800" cy="45720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a deploy and a pipeline</a:t>
            </a:r>
            <a:endParaRPr lang="en-US" sz="1500" dirty="0"/>
          </a:p>
        </p:txBody>
      </p:sp>
      <p:sp>
        <p:nvSpPr>
          <p:cNvPr id="11" name="Text 9"/>
          <p:cNvSpPr/>
          <p:nvPr/>
        </p:nvSpPr>
        <p:spPr>
          <a:xfrm>
            <a:off x="6781648" y="2423160"/>
            <a:ext cx="2743200" cy="365760"/>
          </a:xfrm>
          <a:prstGeom prst="rect">
            <a:avLst/>
          </a:prstGeom>
          <a:noFill/>
          <a:ln/>
        </p:spPr>
        <p:txBody>
          <a:bodyPr wrap="square" lIns="0" tIns="0" rIns="0" bIns="0" rtlCol="0" anchor="ctr"/>
          <a:lstStyle/>
          <a:p>
            <a:pPr indent="0" marL="0">
              <a:buNone/>
            </a:pPr>
            <a:r>
              <a:rPr lang="en-US" sz="1200" b="1" spc="200" kern="0" dirty="0">
                <a:solidFill>
                  <a:srgbClr val="0E1626"/>
                </a:solidFill>
                <a:latin typeface="Arial" pitchFamily="34" charset="0"/>
                <a:ea typeface="Arial" pitchFamily="34" charset="-122"/>
                <a:cs typeface="Arial" pitchFamily="34" charset="-120"/>
              </a:rPr>
              <a:t>AFTER</a:t>
            </a:r>
            <a:endParaRPr lang="en-US" sz="1200" dirty="0"/>
          </a:p>
        </p:txBody>
      </p:sp>
      <p:sp>
        <p:nvSpPr>
          <p:cNvPr id="12" name="Text 10"/>
          <p:cNvSpPr/>
          <p:nvPr/>
        </p:nvSpPr>
        <p:spPr>
          <a:xfrm>
            <a:off x="6781648" y="2971800"/>
            <a:ext cx="4114800" cy="1005840"/>
          </a:xfrm>
          <a:prstGeom prst="rect">
            <a:avLst/>
          </a:prstGeom>
          <a:noFill/>
          <a:ln/>
        </p:spPr>
        <p:txBody>
          <a:bodyPr wrap="square" lIns="0" tIns="0" rIns="0" bIns="0" rtlCol="0" anchor="ctr"/>
          <a:lstStyle/>
          <a:p>
            <a:pPr indent="0" marL="0">
              <a:buNone/>
            </a:pPr>
            <a:r>
              <a:rPr lang="en-US" sz="5200" b="1" dirty="0">
                <a:solidFill>
                  <a:srgbClr val="0E1626"/>
                </a:solidFill>
                <a:latin typeface="Arial" pitchFamily="34" charset="0"/>
                <a:ea typeface="Arial" pitchFamily="34" charset="-122"/>
                <a:cs typeface="Arial" pitchFamily="34" charset="-120"/>
              </a:rPr>
              <a:t>[N] sec</a:t>
            </a:r>
            <a:endParaRPr lang="en-US" sz="5200" dirty="0"/>
          </a:p>
        </p:txBody>
      </p:sp>
      <p:sp>
        <p:nvSpPr>
          <p:cNvPr id="13" name="Text 11"/>
          <p:cNvSpPr/>
          <p:nvPr/>
        </p:nvSpPr>
        <p:spPr>
          <a:xfrm>
            <a:off x="6781648" y="4114800"/>
            <a:ext cx="4114800" cy="457200"/>
          </a:xfrm>
          <a:prstGeom prst="rect">
            <a:avLst/>
          </a:prstGeom>
          <a:noFill/>
          <a:ln/>
        </p:spPr>
        <p:txBody>
          <a:bodyPr wrap="square" lIns="0" tIns="0" rIns="0" bIns="0" rtlCol="0" anchor="ctr"/>
          <a:lstStyle/>
          <a:p>
            <a:pPr indent="0" marL="0">
              <a:buNone/>
            </a:pPr>
            <a:r>
              <a:rPr lang="en-US" sz="1500" dirty="0">
                <a:solidFill>
                  <a:srgbClr val="0E1626"/>
                </a:solidFill>
                <a:latin typeface="Calibri" pitchFamily="34" charset="0"/>
                <a:ea typeface="Calibri" pitchFamily="34" charset="-122"/>
                <a:cs typeface="Calibri" pitchFamily="34" charset="-120"/>
              </a:rPr>
              <a:t>on a laptop, offline</a:t>
            </a:r>
            <a:endParaRPr lang="en-US" sz="15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How did one engineer build all of this?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HONEST ANSWER</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[Claude Code] did the reasoning.</a:t>
            </a:r>
            <a:endParaRPr lang="en-US" sz="3400" dirty="0"/>
          </a:p>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[Uncle Dev] was the harness.</a:t>
            </a:r>
            <a:endParaRPr lang="en-US" sz="3400" dirty="0"/>
          </a:p>
          <a:p>
            <a:pPr algn="l" indent="0" marL="0">
              <a:lnSpc>
                <a:spcPts val="4352"/>
              </a:lnSpc>
              <a:buNone/>
            </a:pPr>
            <a:r>
              <a:rPr lang="en-US" sz="3400" b="1" dirty="0">
                <a:solidFill>
                  <a:srgbClr val="05795A"/>
                </a:solidFill>
                <a:latin typeface="Arial" pitchFamily="34" charset="0"/>
                <a:ea typeface="Arial" pitchFamily="34" charset="-122"/>
                <a:cs typeface="Arial" pitchFamily="34" charset="-120"/>
              </a:rPr>
              <a:t>Neither made a decision.</a:t>
            </a:r>
            <a:endParaRPr lang="en-US" sz="34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Fine. But did the loop change any actual architecture?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EXPERIMENT 3 — THE QUESTION</a:t>
            </a:r>
            <a:endParaRPr lang="en-US" sz="1100" dirty="0"/>
          </a:p>
        </p:txBody>
      </p:sp>
      <p:sp>
        <p:nvSpPr>
          <p:cNvPr id="5" name="Text 3"/>
          <p:cNvSpPr/>
          <p:nvPr/>
        </p:nvSpPr>
        <p:spPr>
          <a:xfrm>
            <a:off x="685800" y="2468880"/>
            <a:ext cx="9722815" cy="2926080"/>
          </a:xfrm>
          <a:prstGeom prst="rect">
            <a:avLst/>
          </a:prstGeom>
          <a:noFill/>
          <a:ln/>
        </p:spPr>
        <p:txBody>
          <a:bodyPr wrap="square" lIns="0" tIns="0" rIns="0" bIns="0" rtlCol="0" anchor="t"/>
          <a:lstStyle/>
          <a:p>
            <a:pPr algn="l" indent="0" marL="0">
              <a:lnSpc>
                <a:spcPts val="4480"/>
              </a:lnSpc>
              <a:buNone/>
            </a:pPr>
            <a:r>
              <a:rPr lang="en-US" sz="3500" b="1" dirty="0">
                <a:solidFill>
                  <a:srgbClr val="16233A"/>
                </a:solidFill>
                <a:latin typeface="Arial" pitchFamily="34" charset="0"/>
                <a:ea typeface="Arial" pitchFamily="34" charset="-122"/>
                <a:cs typeface="Arial" pitchFamily="34" charset="-120"/>
              </a:rPr>
              <a:t>Step Functions bill per state transition.</a:t>
            </a:r>
            <a:endParaRPr lang="en-US" sz="3500" dirty="0"/>
          </a:p>
          <a:p>
            <a:pPr algn="l" indent="0" marL="0">
              <a:lnSpc>
                <a:spcPts val="4480"/>
              </a:lnSpc>
              <a:buNone/>
            </a:pPr>
            <a:r>
              <a:rPr lang="en-US" sz="3500" b="1" dirty="0">
                <a:solidFill>
                  <a:srgbClr val="05795A"/>
                </a:solidFill>
                <a:latin typeface="Arial" pitchFamily="34" charset="0"/>
                <a:ea typeface="Arial" pitchFamily="34" charset="-122"/>
                <a:cs typeface="Arial" pitchFamily="34" charset="-120"/>
              </a:rPr>
              <a:t>Polling is state transitions.</a:t>
            </a:r>
            <a:endParaRPr lang="en-US" sz="35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Should we optimize the polling loop away?</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000" b="1" dirty="0">
                <a:solidFill>
                  <a:srgbClr val="16233A"/>
                </a:solidFill>
                <a:latin typeface="Arial" pitchFamily="34" charset="0"/>
                <a:ea typeface="Arial" pitchFamily="34" charset="-122"/>
                <a:cs typeface="Arial" pitchFamily="34" charset="-120"/>
              </a:rPr>
              <a:t>EventBridge, instead of waiting inside the workflow</a:t>
            </a:r>
            <a:endParaRPr lang="en-US" sz="3000" dirty="0"/>
          </a:p>
        </p:txBody>
      </p:sp>
      <p:sp>
        <p:nvSpPr>
          <p:cNvPr id="6" name="Shape 4"/>
          <p:cNvSpPr/>
          <p:nvPr/>
        </p:nvSpPr>
        <p:spPr>
          <a:xfrm>
            <a:off x="685800" y="2514600"/>
            <a:ext cx="1915302" cy="1005840"/>
          </a:xfrm>
          <a:prstGeom prst="roundRect">
            <a:avLst>
              <a:gd name="adj" fmla="val 10909"/>
            </a:avLst>
          </a:prstGeom>
          <a:solidFill>
            <a:srgbClr val="EDF2F8"/>
          </a:solidFill>
          <a:ln/>
        </p:spPr>
      </p:sp>
      <p:sp>
        <p:nvSpPr>
          <p:cNvPr id="7" name="Text 5"/>
          <p:cNvSpPr/>
          <p:nvPr/>
        </p:nvSpPr>
        <p:spPr>
          <a:xfrm>
            <a:off x="795528"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Schedule</a:t>
            </a:r>
            <a:endParaRPr lang="en-US" sz="1500" dirty="0"/>
          </a:p>
        </p:txBody>
      </p:sp>
      <p:sp>
        <p:nvSpPr>
          <p:cNvPr id="8" name="Text 6"/>
          <p:cNvSpPr/>
          <p:nvPr/>
        </p:nvSpPr>
        <p:spPr>
          <a:xfrm>
            <a:off x="2601102"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514600"/>
            <a:ext cx="1915302" cy="1005840"/>
          </a:xfrm>
          <a:prstGeom prst="roundRect">
            <a:avLst>
              <a:gd name="adj" fmla="val 10909"/>
            </a:avLst>
          </a:prstGeom>
          <a:solidFill>
            <a:srgbClr val="EDF2F8"/>
          </a:solidFill>
          <a:ln/>
        </p:spPr>
      </p:sp>
      <p:sp>
        <p:nvSpPr>
          <p:cNvPr id="10" name="Text 8"/>
          <p:cNvSpPr/>
          <p:nvPr/>
        </p:nvSpPr>
        <p:spPr>
          <a:xfrm>
            <a:off x="3021726"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Terminate</a:t>
            </a:r>
            <a:endParaRPr lang="en-US" sz="1500" dirty="0"/>
          </a:p>
        </p:txBody>
      </p:sp>
      <p:sp>
        <p:nvSpPr>
          <p:cNvPr id="11" name="Text 9"/>
          <p:cNvSpPr/>
          <p:nvPr/>
        </p:nvSpPr>
        <p:spPr>
          <a:xfrm>
            <a:off x="4827300"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514600"/>
            <a:ext cx="1915302" cy="1005840"/>
          </a:xfrm>
          <a:prstGeom prst="roundRect">
            <a:avLst>
              <a:gd name="adj" fmla="val 10909"/>
            </a:avLst>
          </a:prstGeom>
          <a:solidFill>
            <a:srgbClr val="EDF2F8"/>
          </a:solidFill>
          <a:ln/>
        </p:spPr>
      </p:sp>
      <p:sp>
        <p:nvSpPr>
          <p:cNvPr id="13" name="Text 11"/>
          <p:cNvSpPr/>
          <p:nvPr/>
        </p:nvSpPr>
        <p:spPr>
          <a:xfrm>
            <a:off x="5247924"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Wake up later</a:t>
            </a:r>
            <a:endParaRPr lang="en-US" sz="1500" dirty="0"/>
          </a:p>
        </p:txBody>
      </p:sp>
      <p:sp>
        <p:nvSpPr>
          <p:cNvPr id="14" name="Text 12"/>
          <p:cNvSpPr/>
          <p:nvPr/>
        </p:nvSpPr>
        <p:spPr>
          <a:xfrm>
            <a:off x="7053499"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514600"/>
            <a:ext cx="1915302" cy="1005840"/>
          </a:xfrm>
          <a:prstGeom prst="roundRect">
            <a:avLst>
              <a:gd name="adj" fmla="val 10909"/>
            </a:avLst>
          </a:prstGeom>
          <a:solidFill>
            <a:srgbClr val="EDF2F8"/>
          </a:solidFill>
          <a:ln/>
        </p:spPr>
      </p:sp>
      <p:sp>
        <p:nvSpPr>
          <p:cNvPr id="16" name="Text 14"/>
          <p:cNvSpPr/>
          <p:nvPr/>
        </p:nvSpPr>
        <p:spPr>
          <a:xfrm>
            <a:off x="7474123"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Check status</a:t>
            </a:r>
            <a:endParaRPr lang="en-US" sz="1500" dirty="0"/>
          </a:p>
        </p:txBody>
      </p:sp>
      <p:sp>
        <p:nvSpPr>
          <p:cNvPr id="17" name="Text 15"/>
          <p:cNvSpPr/>
          <p:nvPr/>
        </p:nvSpPr>
        <p:spPr>
          <a:xfrm>
            <a:off x="9279697"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514600"/>
            <a:ext cx="1915302" cy="1005840"/>
          </a:xfrm>
          <a:prstGeom prst="roundRect">
            <a:avLst>
              <a:gd name="adj" fmla="val 10909"/>
            </a:avLst>
          </a:prstGeom>
          <a:solidFill>
            <a:srgbClr val="EDF2F8"/>
          </a:solidFill>
          <a:ln/>
        </p:spPr>
      </p:sp>
      <p:sp>
        <p:nvSpPr>
          <p:cNvPr id="19" name="Text 17"/>
          <p:cNvSpPr/>
          <p:nvPr/>
        </p:nvSpPr>
        <p:spPr>
          <a:xfrm>
            <a:off x="9700321"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Repeat</a:t>
            </a:r>
            <a:endParaRPr lang="en-US" sz="1500" dirty="0"/>
          </a:p>
        </p:txBody>
      </p:sp>
      <p:sp>
        <p:nvSpPr>
          <p:cNvPr id="20" name="Text 18"/>
          <p:cNvSpPr/>
          <p:nvPr/>
        </p:nvSpPr>
        <p:spPr>
          <a:xfrm>
            <a:off x="685800" y="3977640"/>
            <a:ext cx="10362895" cy="640080"/>
          </a:xfrm>
          <a:prstGeom prst="rect">
            <a:avLst/>
          </a:prstGeom>
          <a:noFill/>
          <a:ln/>
        </p:spPr>
        <p:txBody>
          <a:bodyPr wrap="square" lIns="0" tIns="0" rIns="0" bIns="0" rtlCol="0" anchor="ctr"/>
          <a:lstStyle/>
          <a:p>
            <a:pPr indent="0" marL="0">
              <a:buNone/>
            </a:pPr>
            <a:r>
              <a:rPr lang="en-US" sz="2700" b="1" dirty="0">
                <a:solidFill>
                  <a:srgbClr val="16233A"/>
                </a:solidFill>
                <a:latin typeface="Arial" pitchFamily="34" charset="0"/>
                <a:ea typeface="Arial" pitchFamily="34" charset="-122"/>
                <a:cs typeface="Arial" pitchFamily="34" charset="-120"/>
              </a:rPr>
              <a:t>It worked. It was genuinely cheaper per job.</a:t>
            </a:r>
            <a:endParaRPr lang="en-US" sz="2700" dirty="0"/>
          </a:p>
        </p:txBody>
      </p:sp>
      <p:sp>
        <p:nvSpPr>
          <p:cNvPr id="21" name="Text 19"/>
          <p:cNvSpPr/>
          <p:nvPr/>
        </p:nvSpPr>
        <p:spPr>
          <a:xfrm>
            <a:off x="685800" y="4754880"/>
            <a:ext cx="10362895" cy="457200"/>
          </a:xfrm>
          <a:prstGeom prst="rect">
            <a:avLst/>
          </a:prstGeom>
          <a:noFill/>
          <a:ln/>
        </p:spPr>
        <p:txBody>
          <a:bodyPr wrap="square" lIns="0" tIns="0" rIns="0" bIns="0" rtlCol="0" anchor="ctr"/>
          <a:lstStyle/>
          <a:p>
            <a:pPr indent="0" marL="0">
              <a:buNone/>
            </a:pPr>
            <a:r>
              <a:rPr lang="en-US" sz="1700" i="1" dirty="0">
                <a:solidFill>
                  <a:srgbClr val="6B7B93"/>
                </a:solidFill>
                <a:latin typeface="Calibri" pitchFamily="34" charset="0"/>
                <a:ea typeface="Calibri" pitchFamily="34" charset="-122"/>
                <a:cs typeface="Calibri" pitchFamily="34" charset="-120"/>
              </a:rPr>
              <a:t>We were pleased with ourselves.</a:t>
            </a:r>
            <a:endParaRPr lang="en-US" sz="1700" dirty="0"/>
          </a:p>
        </p:txBody>
      </p:sp>
      <p:sp>
        <p:nvSpPr>
          <p:cNvPr id="22" name="Text 20"/>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But how many export jobs are there, really?</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PRODUCTION TOLD US</a:t>
            </a:r>
            <a:endParaRPr lang="en-US" sz="1100" dirty="0"/>
          </a:p>
        </p:txBody>
      </p:sp>
      <p:sp>
        <p:nvSpPr>
          <p:cNvPr id="6" name="Text 4"/>
          <p:cNvSpPr/>
          <p:nvPr/>
        </p:nvSpPr>
        <p:spPr>
          <a:xfrm>
            <a:off x="685800" y="2011680"/>
            <a:ext cx="9905695" cy="1737360"/>
          </a:xfrm>
          <a:prstGeom prst="rect">
            <a:avLst/>
          </a:prstGeom>
          <a:noFill/>
          <a:ln/>
        </p:spPr>
        <p:txBody>
          <a:bodyPr wrap="square" lIns="0" tIns="0" rIns="0" bIns="0" rtlCol="0" anchor="ctr"/>
          <a:lstStyle/>
          <a:p>
            <a:pPr indent="0" marL="0">
              <a:buNone/>
            </a:pPr>
            <a:r>
              <a:rPr lang="en-US" sz="10800" b="1" dirty="0">
                <a:solidFill>
                  <a:srgbClr val="00C08B"/>
                </a:solidFill>
                <a:latin typeface="Arial" pitchFamily="34" charset="0"/>
                <a:ea typeface="Arial" pitchFamily="34" charset="-122"/>
                <a:cs typeface="Arial" pitchFamily="34" charset="-120"/>
              </a:rPr>
              <a:t>[N]</a:t>
            </a:r>
            <a:endParaRPr lang="en-US" sz="10800" dirty="0"/>
          </a:p>
        </p:txBody>
      </p:sp>
      <p:sp>
        <p:nvSpPr>
          <p:cNvPr id="7" name="Text 5"/>
          <p:cNvSpPr/>
          <p:nvPr/>
        </p:nvSpPr>
        <p:spPr>
          <a:xfrm>
            <a:off x="685800" y="3840480"/>
            <a:ext cx="9905695" cy="548640"/>
          </a:xfrm>
          <a:prstGeom prst="rect">
            <a:avLst/>
          </a:prstGeom>
          <a:noFill/>
          <a:ln/>
        </p:spPr>
        <p:txBody>
          <a:bodyPr wrap="square" lIns="0" tIns="0" rIns="0" bIns="0" rtlCol="0" anchor="ctr"/>
          <a:lstStyle/>
          <a:p>
            <a:pPr indent="0" marL="0">
              <a:buNone/>
            </a:pPr>
            <a:r>
              <a:rPr lang="en-US" sz="2600" dirty="0">
                <a:solidFill>
                  <a:srgbClr val="FFFFFF"/>
                </a:solidFill>
                <a:latin typeface="Arial" pitchFamily="34" charset="0"/>
                <a:ea typeface="Arial" pitchFamily="34" charset="-122"/>
                <a:cs typeface="Arial" pitchFamily="34" charset="-120"/>
              </a:rPr>
              <a:t>export jobs a day</a:t>
            </a:r>
            <a:endParaRPr lang="en-US" sz="2600" dirty="0"/>
          </a:p>
        </p:txBody>
      </p:sp>
      <p:sp>
        <p:nvSpPr>
          <p:cNvPr id="8" name="Text 6"/>
          <p:cNvSpPr/>
          <p:nvPr/>
        </p:nvSpPr>
        <p:spPr>
          <a:xfrm>
            <a:off x="7665415" y="457200"/>
            <a:ext cx="3840480" cy="402336"/>
          </a:xfrm>
          <a:prstGeom prst="rect">
            <a:avLst/>
          </a:prstGeom>
          <a:noFill/>
          <a:ln/>
        </p:spPr>
        <p:txBody>
          <a:bodyPr wrap="square" lIns="0" tIns="0" rIns="0" bIns="0" rtlCol="0" anchor="ctr"/>
          <a:lstStyle/>
          <a:p>
            <a:pPr algn="r" indent="0" marL="0">
              <a:buNone/>
            </a:pPr>
            <a:r>
              <a:rPr lang="en-US" sz="1100" b="1" spc="200" kern="0" dirty="0">
                <a:solidFill>
                  <a:srgbClr val="00C08B"/>
                </a:solidFill>
                <a:latin typeface="Arial" pitchFamily="34" charset="0"/>
                <a:ea typeface="Arial" pitchFamily="34" charset="-122"/>
                <a:cs typeface="Arial" pitchFamily="34" charset="-120"/>
              </a:rPr>
              <a:t>OPEN QUESTION 1  ·  ANSWERED</a:t>
            </a:r>
            <a:endParaRPr lang="en-US" sz="1100" dirty="0"/>
          </a:p>
        </p:txBody>
      </p:sp>
      <p:sp>
        <p:nvSpPr>
          <p:cNvPr id="9" name="Text 7"/>
          <p:cNvSpPr/>
          <p:nvPr/>
        </p:nvSpPr>
        <p:spPr>
          <a:xfrm>
            <a:off x="685800" y="4434840"/>
            <a:ext cx="9905695" cy="411480"/>
          </a:xfrm>
          <a:prstGeom prst="rect">
            <a:avLst/>
          </a:prstGeom>
          <a:noFill/>
          <a:ln/>
        </p:spPr>
        <p:txBody>
          <a:bodyPr wrap="square" lIns="0" tIns="0" rIns="0" bIns="0" rtlCol="0" anchor="ctr"/>
          <a:lstStyle/>
          <a:p>
            <a:pPr indent="0" marL="0">
              <a:buNone/>
            </a:pPr>
            <a:r>
              <a:rPr lang="en-US" sz="1600" i="1" dirty="0">
                <a:solidFill>
                  <a:srgbClr val="00C08B"/>
                </a:solidFill>
                <a:latin typeface="Calibri" pitchFamily="34" charset="0"/>
                <a:ea typeface="Calibri" pitchFamily="34" charset="-122"/>
                <a:cs typeface="Calibri" pitchFamily="34" charset="-120"/>
              </a:rPr>
              <a:t>The number I promised you.</a:t>
            </a:r>
            <a:endParaRPr lang="en-US" sz="1600" dirty="0"/>
          </a:p>
        </p:txBody>
      </p:sp>
      <p:sp>
        <p:nvSpPr>
          <p:cNvPr id="10" name="Text 8"/>
          <p:cNvSpPr/>
          <p:nvPr/>
        </p:nvSpPr>
        <p:spPr>
          <a:xfrm>
            <a:off x="685800" y="4846320"/>
            <a:ext cx="103628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Savings: about [$X] a month.   Complexity: permanent.</a:t>
            </a:r>
            <a:endParaRPr lang="en-US" sz="1700" dirty="0"/>
          </a:p>
        </p:txBody>
      </p:sp>
      <p:sp>
        <p:nvSpPr>
          <p:cNvPr id="11" name="Text 9"/>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So was a whole local platform worth building?</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5" name="Text 3"/>
          <p:cNvSpPr/>
          <p:nvPr/>
        </p:nvSpPr>
        <p:spPr>
          <a:xfrm>
            <a:off x="685800" y="2514600"/>
            <a:ext cx="9722815" cy="2926080"/>
          </a:xfrm>
          <a:prstGeom prst="rect">
            <a:avLst/>
          </a:prstGeom>
          <a:noFill/>
          <a:ln/>
        </p:spPr>
        <p:txBody>
          <a:bodyPr wrap="square" lIns="0" tIns="0" rIns="0" bIns="0" rtlCol="0" anchor="t"/>
          <a:lstStyle/>
          <a:p>
            <a:pPr algn="l" indent="0" marL="0">
              <a:lnSpc>
                <a:spcPts val="3712"/>
              </a:lnSpc>
              <a:buNone/>
            </a:pPr>
            <a:r>
              <a:rPr lang="en-US" sz="2900" b="1" dirty="0">
                <a:solidFill>
                  <a:srgbClr val="05795A"/>
                </a:solidFill>
                <a:latin typeface="Arial" pitchFamily="34" charset="0"/>
                <a:ea typeface="Arial" pitchFamily="34" charset="-122"/>
                <a:cs typeface="Arial" pitchFamily="34" charset="-120"/>
              </a:rPr>
              <a:t>What caught it? The loop.</a:t>
            </a:r>
            <a:endParaRPr lang="en-US" sz="2900" dirty="0"/>
          </a:p>
          <a:p>
            <a:pPr algn="l" indent="0" marL="0">
              <a:lnSpc>
                <a:spcPts val="3712"/>
              </a:lnSpc>
              <a:buNone/>
            </a:pPr>
            <a:r>
              <a:rPr lang="en-US" sz="2900" b="1" dirty="0">
                <a:solidFill>
                  <a:srgbClr val="16233A"/>
                </a:solidFill>
                <a:latin typeface="Arial" pitchFamily="34" charset="0"/>
                <a:ea typeface="Arial" pitchFamily="34" charset="-122"/>
                <a:cs typeface="Arial" pitchFamily="34" charset="-120"/>
              </a:rPr>
              <a:t>That comparison cost days, not months.</a:t>
            </a:r>
            <a:endParaRPr lang="en-US" sz="2900" dirty="0"/>
          </a:p>
          <a:p>
            <a:pPr algn="l" indent="0" marL="0">
              <a:lnSpc>
                <a:spcPts val="3712"/>
              </a:lnSpc>
              <a:buNone/>
            </a:pPr>
            <a:r>
              <a:rPr lang="en-US" sz="2900" dirty="0">
                <a:solidFill>
                  <a:srgbClr val="6B7B93"/>
                </a:solidFill>
                <a:latin typeface="Arial" pitchFamily="34" charset="0"/>
                <a:ea typeface="Arial" pitchFamily="34" charset="-122"/>
                <a:cs typeface="Arial" pitchFamily="34" charset="-120"/>
              </a:rPr>
              <a:t>At pipeline prices we'd have argued about it</a:t>
            </a:r>
            <a:endParaRPr lang="en-US" sz="2900" dirty="0"/>
          </a:p>
          <a:p>
            <a:pPr algn="l" indent="0" marL="0">
              <a:lnSpc>
                <a:spcPts val="3712"/>
              </a:lnSpc>
              <a:buNone/>
            </a:pPr>
            <a:r>
              <a:rPr lang="en-US" sz="2900" dirty="0">
                <a:solidFill>
                  <a:srgbClr val="6B7B93"/>
                </a:solidFill>
                <a:latin typeface="Arial" pitchFamily="34" charset="0"/>
                <a:ea typeface="Arial" pitchFamily="34" charset="-122"/>
                <a:cs typeface="Arial" pitchFamily="34" charset="-120"/>
              </a:rPr>
              <a:t>instead — and shipped the clever one.</a:t>
            </a:r>
            <a:endParaRPr lang="en-US" sz="2900" dirty="0"/>
          </a:p>
        </p:txBody>
      </p:sp>
      <p:sp>
        <p:nvSpPr>
          <p:cNvPr id="6" name="Text 4"/>
          <p:cNvSpPr/>
          <p:nvPr/>
        </p:nvSpPr>
        <p:spPr>
          <a:xfrm>
            <a:off x="7665415" y="457200"/>
            <a:ext cx="3840480" cy="402336"/>
          </a:xfrm>
          <a:prstGeom prst="rect">
            <a:avLst/>
          </a:prstGeom>
          <a:noFill/>
          <a:ln/>
        </p:spPr>
        <p:txBody>
          <a:bodyPr wrap="square" lIns="0" tIns="0" rIns="0" bIns="0" rtlCol="0" anchor="ctr"/>
          <a:lstStyle/>
          <a:p>
            <a:pPr algn="r" indent="0" marL="0">
              <a:buNone/>
            </a:pPr>
            <a:r>
              <a:rPr lang="en-US" sz="1100" b="1" spc="200" kern="0" dirty="0">
                <a:solidFill>
                  <a:srgbClr val="05795A"/>
                </a:solidFill>
                <a:latin typeface="Arial" pitchFamily="34" charset="0"/>
                <a:ea typeface="Arial" pitchFamily="34" charset="-122"/>
                <a:cs typeface="Arial" pitchFamily="34" charset="-120"/>
              </a:rPr>
              <a:t>OPEN QUESTION 3  ·  ANSWERED</a:t>
            </a:r>
            <a:endParaRPr lang="en-US" sz="1100" dirty="0"/>
          </a:p>
        </p:txBody>
      </p:sp>
      <p:sp>
        <p:nvSpPr>
          <p:cNvPr id="7" name="Text 5"/>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who pays for that, and when?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AND THIS IS THE PART THAT SHOULD WORRY YOU</a:t>
            </a:r>
            <a:endParaRPr lang="en-US" sz="1100" dirty="0"/>
          </a:p>
        </p:txBody>
      </p:sp>
      <p:sp>
        <p:nvSpPr>
          <p:cNvPr id="4" name="Text 2"/>
          <p:cNvSpPr/>
          <p:nvPr/>
        </p:nvSpPr>
        <p:spPr>
          <a:xfrm>
            <a:off x="685800" y="1737360"/>
            <a:ext cx="9905695" cy="731520"/>
          </a:xfrm>
          <a:prstGeom prst="rect">
            <a:avLst/>
          </a:prstGeom>
          <a:noFill/>
          <a:ln/>
        </p:spPr>
        <p:txBody>
          <a:bodyPr wrap="square" lIns="0" tIns="0" rIns="0" bIns="0" rtlCol="0" anchor="ctr"/>
          <a:lstStyle/>
          <a:p>
            <a:pPr indent="0" marL="0">
              <a:buNone/>
            </a:pPr>
            <a:r>
              <a:rPr lang="en-US" sz="3000" b="1" dirty="0">
                <a:solidFill>
                  <a:srgbClr val="8FA3BF"/>
                </a:solidFill>
                <a:latin typeface="Arial" pitchFamily="34" charset="0"/>
                <a:ea typeface="Arial" pitchFamily="34" charset="-122"/>
                <a:cs typeface="Arial" pitchFamily="34" charset="-120"/>
              </a:rPr>
              <a:t>It would have worked.</a:t>
            </a:r>
            <a:endParaRPr lang="en-US" sz="3000" dirty="0"/>
          </a:p>
        </p:txBody>
      </p:sp>
      <p:sp>
        <p:nvSpPr>
          <p:cNvPr id="5" name="Text 3"/>
          <p:cNvSpPr/>
          <p:nvPr/>
        </p:nvSpPr>
        <p:spPr>
          <a:xfrm>
            <a:off x="685800" y="2651760"/>
            <a:ext cx="9905695" cy="1371600"/>
          </a:xfrm>
          <a:prstGeom prst="rect">
            <a:avLst/>
          </a:prstGeom>
          <a:noFill/>
          <a:ln/>
        </p:spPr>
        <p:txBody>
          <a:bodyPr wrap="square" lIns="0" tIns="0" rIns="0" bIns="0" rtlCol="0" anchor="t"/>
          <a:lstStyle/>
          <a:p>
            <a:pPr indent="0" marL="0">
              <a:lnSpc>
                <a:spcPts val="3800"/>
              </a:lnSpc>
              <a:buNone/>
            </a:pPr>
            <a:r>
              <a:rPr lang="en-US" sz="2700" b="1" dirty="0">
                <a:solidFill>
                  <a:srgbClr val="FFFFFF"/>
                </a:solidFill>
                <a:latin typeface="Arial" pitchFamily="34" charset="0"/>
                <a:ea typeface="Arial" pitchFamily="34" charset="-122"/>
                <a:cs typeface="Arial" pitchFamily="34" charset="-120"/>
              </a:rPr>
              <a:t>No bug. No incident. Just a system slightly</a:t>
            </a:r>
            <a:endParaRPr lang="en-US" sz="2700" dirty="0"/>
          </a:p>
          <a:p>
            <a:pPr indent="0" marL="0">
              <a:lnSpc>
                <a:spcPts val="3800"/>
              </a:lnSpc>
              <a:buNone/>
            </a:pPr>
            <a:r>
              <a:rPr lang="en-US" sz="2700" b="1" dirty="0">
                <a:solidFill>
                  <a:srgbClr val="FFFFFF"/>
                </a:solidFill>
                <a:latin typeface="Arial" pitchFamily="34" charset="0"/>
                <a:ea typeface="Arial" pitchFamily="34" charset="-122"/>
                <a:cs typeface="Arial" pitchFamily="34" charset="-120"/>
              </a:rPr>
              <a:t>harder to run than it needed to be — for years.</a:t>
            </a:r>
            <a:endParaRPr lang="en-US" sz="2700" dirty="0"/>
          </a:p>
        </p:txBody>
      </p:sp>
      <p:sp>
        <p:nvSpPr>
          <p:cNvPr id="6" name="Text 4"/>
          <p:cNvSpPr/>
          <p:nvPr/>
        </p:nvSpPr>
        <p:spPr>
          <a:xfrm>
            <a:off x="685800" y="4343400"/>
            <a:ext cx="9905695" cy="1371600"/>
          </a:xfrm>
          <a:prstGeom prst="rect">
            <a:avLst/>
          </a:prstGeom>
          <a:noFill/>
          <a:ln/>
        </p:spPr>
        <p:txBody>
          <a:bodyPr wrap="square" lIns="0" tIns="0" rIns="0" bIns="0" rtlCol="0" anchor="t"/>
          <a:lstStyle/>
          <a:p>
            <a:pPr indent="0" marL="0">
              <a:lnSpc>
                <a:spcPts val="4200"/>
              </a:lnSpc>
              <a:buNone/>
            </a:pPr>
            <a:r>
              <a:rPr lang="en-US" sz="3000" b="1" dirty="0">
                <a:solidFill>
                  <a:srgbClr val="00C08B"/>
                </a:solidFill>
                <a:latin typeface="Arial" pitchFamily="34" charset="0"/>
                <a:ea typeface="Arial" pitchFamily="34" charset="-122"/>
                <a:cs typeface="Arial" pitchFamily="34" charset="-120"/>
              </a:rPr>
              <a:t>Nobody would have been wrong.</a:t>
            </a:r>
            <a:endParaRPr lang="en-US" sz="3000" dirty="0"/>
          </a:p>
          <a:p>
            <a:pPr indent="0" marL="0">
              <a:lnSpc>
                <a:spcPts val="4200"/>
              </a:lnSpc>
              <a:buNone/>
            </a:pPr>
            <a:r>
              <a:rPr lang="en-US" sz="3000" b="1" dirty="0">
                <a:solidFill>
                  <a:srgbClr val="00C08B"/>
                </a:solidFill>
                <a:latin typeface="Arial" pitchFamily="34" charset="0"/>
                <a:ea typeface="Arial" pitchFamily="34" charset="-122"/>
                <a:cs typeface="Arial" pitchFamily="34" charset="-120"/>
              </a:rPr>
              <a:t>Everybody would have been paying.</a:t>
            </a:r>
            <a:endParaRPr lang="en-US"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OBJECTION</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400" b="1" dirty="0">
                <a:solidFill>
                  <a:srgbClr val="16233A"/>
                </a:solidFill>
                <a:latin typeface="Arial" pitchFamily="34" charset="0"/>
                <a:ea typeface="Arial" pitchFamily="34" charset="-122"/>
                <a:cs typeface="Arial" pitchFamily="34" charset="-120"/>
              </a:rPr>
              <a:t>“LocalStack isn't AWS.”</a:t>
            </a:r>
            <a:endParaRPr lang="en-US" sz="3400" dirty="0"/>
          </a:p>
        </p:txBody>
      </p:sp>
      <p:sp>
        <p:nvSpPr>
          <p:cNvPr id="6" name="Text 4"/>
          <p:cNvSpPr/>
          <p:nvPr/>
        </p:nvSpPr>
        <p:spPr>
          <a:xfrm>
            <a:off x="685800" y="2148840"/>
            <a:ext cx="10820095" cy="457200"/>
          </a:xfrm>
          <a:prstGeom prst="rect">
            <a:avLst/>
          </a:prstGeom>
          <a:noFill/>
          <a:ln/>
        </p:spPr>
        <p:txBody>
          <a:bodyPr wrap="square" lIns="0" tIns="0" rIns="0" bIns="0" rtlCol="0" anchor="ctr"/>
          <a:lstStyle/>
          <a:p>
            <a:pPr indent="0" marL="0">
              <a:buNone/>
            </a:pPr>
            <a:r>
              <a:rPr lang="en-US" sz="2200" b="1" dirty="0">
                <a:solidFill>
                  <a:srgbClr val="E8743B"/>
                </a:solidFill>
                <a:latin typeface="Arial" pitchFamily="34" charset="0"/>
                <a:ea typeface="Arial" pitchFamily="34" charset="-122"/>
                <a:cs typeface="Arial" pitchFamily="34" charset="-120"/>
              </a:rPr>
              <a:t>Correct.</a:t>
            </a:r>
            <a:endParaRPr lang="en-US" sz="2200" dirty="0"/>
          </a:p>
        </p:txBody>
      </p:sp>
      <p:sp>
        <p:nvSpPr>
          <p:cNvPr id="7" name="Shape 5"/>
          <p:cNvSpPr/>
          <p:nvPr/>
        </p:nvSpPr>
        <p:spPr>
          <a:xfrm>
            <a:off x="685800" y="2834640"/>
            <a:ext cx="5181448" cy="2011680"/>
          </a:xfrm>
          <a:prstGeom prst="roundRect">
            <a:avLst>
              <a:gd name="adj" fmla="val 6364"/>
            </a:avLst>
          </a:prstGeom>
          <a:solidFill>
            <a:srgbClr val="EDF2F8"/>
          </a:solidFill>
          <a:ln/>
        </p:spPr>
      </p:sp>
      <p:sp>
        <p:nvSpPr>
          <p:cNvPr id="8" name="Shape 6"/>
          <p:cNvSpPr/>
          <p:nvPr/>
        </p:nvSpPr>
        <p:spPr>
          <a:xfrm>
            <a:off x="6324448" y="2834640"/>
            <a:ext cx="5181448" cy="2011680"/>
          </a:xfrm>
          <a:prstGeom prst="roundRect">
            <a:avLst>
              <a:gd name="adj" fmla="val 6364"/>
            </a:avLst>
          </a:prstGeom>
          <a:solidFill>
            <a:srgbClr val="EDF2F8"/>
          </a:solidFill>
          <a:ln/>
        </p:spPr>
      </p:sp>
      <p:sp>
        <p:nvSpPr>
          <p:cNvPr id="9" name="Text 7"/>
          <p:cNvSpPr/>
          <p:nvPr/>
        </p:nvSpPr>
        <p:spPr>
          <a:xfrm>
            <a:off x="1005840" y="3108960"/>
            <a:ext cx="4541368"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Local catches</a:t>
            </a:r>
            <a:endParaRPr lang="en-US" sz="1400" dirty="0"/>
          </a:p>
        </p:txBody>
      </p:sp>
      <p:sp>
        <p:nvSpPr>
          <p:cNvPr id="10" name="Text 8"/>
          <p:cNvSpPr/>
          <p:nvPr/>
        </p:nvSpPr>
        <p:spPr>
          <a:xfrm>
            <a:off x="1005840" y="3611880"/>
            <a:ext cx="4541368" cy="10058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Workflow logic, state transitions,</a:t>
            </a:r>
            <a:endParaRPr lang="en-US" sz="1800" dirty="0"/>
          </a:p>
          <a:p>
            <a:pPr indent="0" marL="0">
              <a:buNone/>
            </a:pPr>
            <a:r>
              <a:rPr lang="en-US" sz="1800" b="1" dirty="0">
                <a:solidFill>
                  <a:srgbClr val="16233A"/>
                </a:solidFill>
                <a:latin typeface="Calibri" pitchFamily="34" charset="0"/>
                <a:ea typeface="Calibri" pitchFamily="34" charset="-122"/>
                <a:cs typeface="Calibri" pitchFamily="34" charset="-120"/>
              </a:rPr>
              <a:t>callbacks, retries</a:t>
            </a:r>
            <a:endParaRPr lang="en-US" sz="1800" dirty="0"/>
          </a:p>
        </p:txBody>
      </p:sp>
      <p:sp>
        <p:nvSpPr>
          <p:cNvPr id="11" name="Text 9"/>
          <p:cNvSpPr/>
          <p:nvPr/>
        </p:nvSpPr>
        <p:spPr>
          <a:xfrm>
            <a:off x="6644488" y="3108960"/>
            <a:ext cx="4541368"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Dev and QA catch</a:t>
            </a:r>
            <a:endParaRPr lang="en-US" sz="1400" dirty="0"/>
          </a:p>
        </p:txBody>
      </p:sp>
      <p:sp>
        <p:nvSpPr>
          <p:cNvPr id="12" name="Text 10"/>
          <p:cNvSpPr/>
          <p:nvPr/>
        </p:nvSpPr>
        <p:spPr>
          <a:xfrm>
            <a:off x="6644488" y="3611880"/>
            <a:ext cx="4541368" cy="10058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IAM, throughput,</a:t>
            </a:r>
            <a:endParaRPr lang="en-US" sz="1800" dirty="0"/>
          </a:p>
          <a:p>
            <a:pPr indent="0" marL="0">
              <a:buNone/>
            </a:pPr>
            <a:r>
              <a:rPr lang="en-US" sz="1800" b="1" dirty="0">
                <a:solidFill>
                  <a:srgbClr val="16233A"/>
                </a:solidFill>
                <a:latin typeface="Calibri" pitchFamily="34" charset="0"/>
                <a:ea typeface="Calibri" pitchFamily="34" charset="-122"/>
                <a:cs typeface="Calibri" pitchFamily="34" charset="-120"/>
              </a:rPr>
              <a:t>production behaviour</a:t>
            </a:r>
            <a:endParaRPr lang="en-US" sz="1800" dirty="0"/>
          </a:p>
        </p:txBody>
      </p:sp>
      <p:sp>
        <p:nvSpPr>
          <p:cNvPr id="13" name="Text 11"/>
          <p:cNvSpPr/>
          <p:nvPr/>
        </p:nvSpPr>
        <p:spPr>
          <a:xfrm>
            <a:off x="685800" y="5029200"/>
            <a:ext cx="10362895" cy="457200"/>
          </a:xfrm>
          <a:prstGeom prst="rect">
            <a:avLst/>
          </a:prstGeom>
          <a:noFill/>
          <a:ln/>
        </p:spPr>
        <p:txBody>
          <a:bodyPr wrap="square" lIns="0" tIns="0" rIns="0" bIns="0" rtlCol="0" anchor="ctr"/>
          <a:lstStyle/>
          <a:p>
            <a:pPr indent="0" marL="0">
              <a:buNone/>
            </a:pPr>
            <a:r>
              <a:rPr lang="en-US" sz="1700" b="1" dirty="0">
                <a:solidFill>
                  <a:srgbClr val="05795A"/>
                </a:solidFill>
                <a:latin typeface="Arial" pitchFamily="34" charset="0"/>
                <a:ea typeface="Arial" pitchFamily="34" charset="-122"/>
                <a:cs typeface="Arial" pitchFamily="34" charset="-120"/>
              </a:rPr>
              <a:t>Which is exactly why the tracing tool works against all three.</a:t>
            </a:r>
            <a:endParaRPr lang="en-US" sz="17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“We don't have time to build tooling.”</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OBJECTION</a:t>
            </a:r>
            <a:endParaRPr lang="en-US" sz="1100" dirty="0"/>
          </a:p>
        </p:txBody>
      </p:sp>
      <p:sp>
        <p:nvSpPr>
          <p:cNvPr id="5" name="Text 3"/>
          <p:cNvSpPr/>
          <p:nvPr/>
        </p:nvSpPr>
        <p:spPr>
          <a:xfrm>
            <a:off x="685800" y="2377440"/>
            <a:ext cx="9722815" cy="2926080"/>
          </a:xfrm>
          <a:prstGeom prst="rect">
            <a:avLst/>
          </a:prstGeom>
          <a:noFill/>
          <a:ln/>
        </p:spPr>
        <p:txBody>
          <a:bodyPr wrap="square" lIns="0" tIns="0" rIns="0" bIns="0" rtlCol="0" anchor="t"/>
          <a:lstStyle/>
          <a:p>
            <a:pPr algn="l" indent="0" marL="0">
              <a:lnSpc>
                <a:spcPts val="3968"/>
              </a:lnSpc>
              <a:buNone/>
            </a:pPr>
            <a:r>
              <a:rPr lang="en-US" sz="3100" b="1" dirty="0">
                <a:solidFill>
                  <a:srgbClr val="16233A"/>
                </a:solidFill>
                <a:latin typeface="Arial" pitchFamily="34" charset="0"/>
                <a:ea typeface="Arial" pitchFamily="34" charset="-122"/>
                <a:cs typeface="Arial" pitchFamily="34" charset="-120"/>
              </a:rPr>
              <a:t>It took [N].</a:t>
            </a:r>
            <a:endParaRPr lang="en-US" sz="3100" dirty="0"/>
          </a:p>
          <a:p>
            <a:pPr algn="l" indent="0" marL="0">
              <a:lnSpc>
                <a:spcPts val="3968"/>
              </a:lnSpc>
              <a:buNone/>
            </a:pPr>
            <a:r>
              <a:rPr lang="en-US" sz="3100" b="1" dirty="0">
                <a:solidFill>
                  <a:srgbClr val="16233A"/>
                </a:solidFill>
                <a:latin typeface="Arial" pitchFamily="34" charset="0"/>
                <a:ea typeface="Arial" pitchFamily="34" charset="-122"/>
                <a:cs typeface="Arial" pitchFamily="34" charset="-120"/>
              </a:rPr>
              <a:t>We spent longer than that waiting</a:t>
            </a:r>
            <a:endParaRPr lang="en-US" sz="3100" dirty="0"/>
          </a:p>
          <a:p>
            <a:pPr algn="l" indent="0" marL="0">
              <a:lnSpc>
                <a:spcPts val="3968"/>
              </a:lnSpc>
              <a:buNone/>
            </a:pPr>
            <a:r>
              <a:rPr lang="en-US" sz="3100" b="1" dirty="0">
                <a:solidFill>
                  <a:srgbClr val="05795A"/>
                </a:solidFill>
                <a:latin typeface="Arial" pitchFamily="34" charset="0"/>
                <a:ea typeface="Arial" pitchFamily="34" charset="-122"/>
                <a:cs typeface="Arial" pitchFamily="34" charset="-120"/>
              </a:rPr>
              <a:t>on pipelines in the first two weeks.</a:t>
            </a:r>
            <a:endParaRPr lang="en-US" sz="31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When would you not do any of this?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SCOPE</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Where I'd tell you not to do this</a:t>
            </a:r>
            <a:endParaRPr lang="en-US" sz="3200" dirty="0"/>
          </a:p>
        </p:txBody>
      </p:sp>
      <p:sp>
        <p:nvSpPr>
          <p:cNvPr id="6" name="Shape 4"/>
          <p:cNvSpPr/>
          <p:nvPr/>
        </p:nvSpPr>
        <p:spPr>
          <a:xfrm>
            <a:off x="685800" y="2377440"/>
            <a:ext cx="10820095" cy="822960"/>
          </a:xfrm>
          <a:prstGeom prst="roundRect">
            <a:avLst>
              <a:gd name="adj" fmla="val 13333"/>
            </a:avLst>
          </a:prstGeom>
          <a:solidFill>
            <a:srgbClr val="EDF2F8"/>
          </a:solidFill>
          <a:ln/>
        </p:spPr>
      </p:sp>
      <p:sp>
        <p:nvSpPr>
          <p:cNvPr id="7" name="Text 5"/>
          <p:cNvSpPr/>
          <p:nvPr/>
        </p:nvSpPr>
        <p:spPr>
          <a:xfrm>
            <a:off x="1005840" y="237744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Single Lambda?</a:t>
            </a:r>
            <a:endParaRPr lang="en-US" sz="1900" dirty="0"/>
          </a:p>
        </p:txBody>
      </p:sp>
      <p:sp>
        <p:nvSpPr>
          <p:cNvPr id="8" name="Text 6"/>
          <p:cNvSpPr/>
          <p:nvPr/>
        </p:nvSpPr>
        <p:spPr>
          <a:xfrm>
            <a:off x="4800600" y="237744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Use SAM. This is overkill.</a:t>
            </a:r>
            <a:endParaRPr lang="en-US" sz="1700" dirty="0"/>
          </a:p>
        </p:txBody>
      </p:sp>
      <p:sp>
        <p:nvSpPr>
          <p:cNvPr id="9" name="Shape 7"/>
          <p:cNvSpPr/>
          <p:nvPr/>
        </p:nvSpPr>
        <p:spPr>
          <a:xfrm>
            <a:off x="685800" y="3429000"/>
            <a:ext cx="10820095" cy="822960"/>
          </a:xfrm>
          <a:prstGeom prst="roundRect">
            <a:avLst>
              <a:gd name="adj" fmla="val 13333"/>
            </a:avLst>
          </a:prstGeom>
          <a:solidFill>
            <a:srgbClr val="EDF2F8"/>
          </a:solidFill>
          <a:ln/>
        </p:spPr>
      </p:sp>
      <p:sp>
        <p:nvSpPr>
          <p:cNvPr id="10" name="Text 8"/>
          <p:cNvSpPr/>
          <p:nvPr/>
        </p:nvSpPr>
        <p:spPr>
          <a:xfrm>
            <a:off x="1005840" y="342900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Not long-running?</a:t>
            </a:r>
            <a:endParaRPr lang="en-US" sz="1900" dirty="0"/>
          </a:p>
        </p:txBody>
      </p:sp>
      <p:sp>
        <p:nvSpPr>
          <p:cNvPr id="11" name="Text 9"/>
          <p:cNvSpPr/>
          <p:nvPr/>
        </p:nvSpPr>
        <p:spPr>
          <a:xfrm>
            <a:off x="4800600" y="342900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Don't build any of it.</a:t>
            </a:r>
            <a:endParaRPr lang="en-US" sz="1700" dirty="0"/>
          </a:p>
        </p:txBody>
      </p:sp>
      <p:sp>
        <p:nvSpPr>
          <p:cNvPr id="12" name="Shape 10"/>
          <p:cNvSpPr/>
          <p:nvPr/>
        </p:nvSpPr>
        <p:spPr>
          <a:xfrm>
            <a:off x="685800" y="4480560"/>
            <a:ext cx="10820095" cy="822960"/>
          </a:xfrm>
          <a:prstGeom prst="roundRect">
            <a:avLst>
              <a:gd name="adj" fmla="val 13333"/>
            </a:avLst>
          </a:prstGeom>
          <a:solidFill>
            <a:srgbClr val="EDF2F8"/>
          </a:solidFill>
          <a:ln/>
        </p:spPr>
      </p:sp>
      <p:sp>
        <p:nvSpPr>
          <p:cNvPr id="13" name="Text 11"/>
          <p:cNvSpPr/>
          <p:nvPr/>
        </p:nvSpPr>
        <p:spPr>
          <a:xfrm>
            <a:off x="1005840" y="448056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Not multi-service?</a:t>
            </a:r>
            <a:endParaRPr lang="en-US" sz="1900" dirty="0"/>
          </a:p>
        </p:txBody>
      </p:sp>
      <p:sp>
        <p:nvSpPr>
          <p:cNvPr id="14" name="Text 12"/>
          <p:cNvSpPr/>
          <p:nvPr/>
        </p:nvSpPr>
        <p:spPr>
          <a:xfrm>
            <a:off x="4800600" y="448056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You can already see what happened.</a:t>
            </a:r>
            <a:endParaRPr lang="en-US" sz="1700" dirty="0"/>
          </a:p>
        </p:txBody>
      </p:sp>
      <p:sp>
        <p:nvSpPr>
          <p:cNvPr id="15" name="Text 13"/>
          <p:cNvSpPr/>
          <p:nvPr/>
        </p:nvSpPr>
        <p:spPr>
          <a:xfrm>
            <a:off x="685800" y="5623560"/>
            <a:ext cx="10362895" cy="45720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What justifies it: long-running, asynchronous, multi-service, hard to observe. All four.</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7</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PATTERN BEHIND EVERY QUESTION IN THIS TALK</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Five steps, run over and over</a:t>
            </a:r>
            <a:endParaRPr lang="en-US" sz="3200" dirty="0"/>
          </a:p>
        </p:txBody>
      </p:sp>
      <p:sp>
        <p:nvSpPr>
          <p:cNvPr id="6" name="Shape 4"/>
          <p:cNvSpPr/>
          <p:nvPr/>
        </p:nvSpPr>
        <p:spPr>
          <a:xfrm>
            <a:off x="685800" y="2377440"/>
            <a:ext cx="402336" cy="402336"/>
          </a:xfrm>
          <a:prstGeom prst="roundRect">
            <a:avLst>
              <a:gd name="adj" fmla="val 25000"/>
            </a:avLst>
          </a:prstGeom>
          <a:solidFill>
            <a:srgbClr val="00C08B"/>
          </a:solidFill>
          <a:ln/>
        </p:spPr>
      </p:sp>
      <p:sp>
        <p:nvSpPr>
          <p:cNvPr id="7" name="Text 5"/>
          <p:cNvSpPr/>
          <p:nvPr/>
        </p:nvSpPr>
        <p:spPr>
          <a:xfrm>
            <a:off x="685800" y="23774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3774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Form a hypothesis</a:t>
            </a:r>
            <a:endParaRPr lang="en-US" sz="1800" dirty="0"/>
          </a:p>
        </p:txBody>
      </p:sp>
      <p:sp>
        <p:nvSpPr>
          <p:cNvPr id="9" name="Shape 7"/>
          <p:cNvSpPr/>
          <p:nvPr/>
        </p:nvSpPr>
        <p:spPr>
          <a:xfrm>
            <a:off x="685800" y="3054096"/>
            <a:ext cx="402336" cy="402336"/>
          </a:xfrm>
          <a:prstGeom prst="roundRect">
            <a:avLst>
              <a:gd name="adj" fmla="val 25000"/>
            </a:avLst>
          </a:prstGeom>
          <a:solidFill>
            <a:srgbClr val="00C08B"/>
          </a:solidFill>
          <a:ln/>
        </p:spPr>
      </p:sp>
      <p:sp>
        <p:nvSpPr>
          <p:cNvPr id="10" name="Text 8"/>
          <p:cNvSpPr/>
          <p:nvPr/>
        </p:nvSpPr>
        <p:spPr>
          <a:xfrm>
            <a:off x="685800" y="3054096"/>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3054096"/>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Build a small experiment</a:t>
            </a:r>
            <a:endParaRPr lang="en-US" sz="1800" dirty="0"/>
          </a:p>
        </p:txBody>
      </p:sp>
      <p:sp>
        <p:nvSpPr>
          <p:cNvPr id="12" name="Shape 10"/>
          <p:cNvSpPr/>
          <p:nvPr/>
        </p:nvSpPr>
        <p:spPr>
          <a:xfrm>
            <a:off x="685800" y="3730752"/>
            <a:ext cx="402336" cy="402336"/>
          </a:xfrm>
          <a:prstGeom prst="roundRect">
            <a:avLst>
              <a:gd name="adj" fmla="val 25000"/>
            </a:avLst>
          </a:prstGeom>
          <a:solidFill>
            <a:srgbClr val="00C08B"/>
          </a:solidFill>
          <a:ln/>
        </p:spPr>
      </p:sp>
      <p:sp>
        <p:nvSpPr>
          <p:cNvPr id="13" name="Text 11"/>
          <p:cNvSpPr/>
          <p:nvPr/>
        </p:nvSpPr>
        <p:spPr>
          <a:xfrm>
            <a:off x="685800" y="3730752"/>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730752"/>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Measure</a:t>
            </a:r>
            <a:endParaRPr lang="en-US" sz="1800" dirty="0"/>
          </a:p>
        </p:txBody>
      </p:sp>
      <p:sp>
        <p:nvSpPr>
          <p:cNvPr id="15" name="Shape 13"/>
          <p:cNvSpPr/>
          <p:nvPr/>
        </p:nvSpPr>
        <p:spPr>
          <a:xfrm>
            <a:off x="685800" y="4407408"/>
            <a:ext cx="402336" cy="402336"/>
          </a:xfrm>
          <a:prstGeom prst="roundRect">
            <a:avLst>
              <a:gd name="adj" fmla="val 25000"/>
            </a:avLst>
          </a:prstGeom>
          <a:solidFill>
            <a:srgbClr val="00C08B"/>
          </a:solidFill>
          <a:ln/>
        </p:spPr>
      </p:sp>
      <p:sp>
        <p:nvSpPr>
          <p:cNvPr id="16" name="Text 14"/>
          <p:cNvSpPr/>
          <p:nvPr/>
        </p:nvSpPr>
        <p:spPr>
          <a:xfrm>
            <a:off x="685800" y="4407408"/>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4407408"/>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Compare alternatives</a:t>
            </a:r>
            <a:endParaRPr lang="en-US" sz="1800" dirty="0"/>
          </a:p>
        </p:txBody>
      </p:sp>
      <p:sp>
        <p:nvSpPr>
          <p:cNvPr id="18" name="Shape 16"/>
          <p:cNvSpPr/>
          <p:nvPr/>
        </p:nvSpPr>
        <p:spPr>
          <a:xfrm>
            <a:off x="685800" y="5084064"/>
            <a:ext cx="402336" cy="402336"/>
          </a:xfrm>
          <a:prstGeom prst="roundRect">
            <a:avLst>
              <a:gd name="adj" fmla="val 25000"/>
            </a:avLst>
          </a:prstGeom>
          <a:solidFill>
            <a:srgbClr val="00C08B"/>
          </a:solidFill>
          <a:ln/>
        </p:spPr>
      </p:sp>
      <p:sp>
        <p:nvSpPr>
          <p:cNvPr id="19" name="Text 17"/>
          <p:cNvSpPr/>
          <p:nvPr/>
        </p:nvSpPr>
        <p:spPr>
          <a:xfrm>
            <a:off x="685800" y="5084064"/>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1344168" y="5084064"/>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Choose the simplest solution the evidence supports</a:t>
            </a:r>
            <a:endParaRPr lang="en-US" sz="1800" dirty="0"/>
          </a:p>
        </p:txBody>
      </p:sp>
      <p:sp>
        <p:nvSpPr>
          <p:cNvPr id="21" name="Text 19"/>
          <p:cNvSpPr/>
          <p:nvPr/>
        </p:nvSpPr>
        <p:spPr>
          <a:xfrm>
            <a:off x="685800" y="5760720"/>
            <a:ext cx="10362895" cy="457200"/>
          </a:xfrm>
          <a:prstGeom prst="rect">
            <a:avLst/>
          </a:prstGeom>
          <a:noFill/>
          <a:ln/>
        </p:spPr>
        <p:txBody>
          <a:bodyPr wrap="square" lIns="0" tIns="0" rIns="0" bIns="0" rtlCol="0" anchor="ctr"/>
          <a:lstStyle/>
          <a:p>
            <a:pPr indent="0" marL="0">
              <a:buNone/>
            </a:pPr>
            <a:r>
              <a:rPr lang="en-US" sz="2000" b="1" dirty="0">
                <a:solidFill>
                  <a:srgbClr val="AE4718"/>
                </a:solidFill>
                <a:latin typeface="Arial" pitchFamily="34" charset="0"/>
                <a:ea typeface="Arial" pitchFamily="34" charset="-122"/>
                <a:cs typeface="Arial" pitchFamily="34" charset="-120"/>
              </a:rPr>
              <a:t>None of it works if one experiment costs a pipeline.</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1965960"/>
            <a:ext cx="9905695" cy="1463040"/>
          </a:xfrm>
          <a:prstGeom prst="rect">
            <a:avLst/>
          </a:prstGeom>
          <a:noFill/>
          <a:ln/>
        </p:spPr>
        <p:txBody>
          <a:bodyPr wrap="square" lIns="0" tIns="0" rIns="0" bIns="0" rtlCol="0" anchor="t"/>
          <a:lstStyle/>
          <a:p>
            <a:pPr indent="0" marL="0">
              <a:lnSpc>
                <a:spcPts val="4600"/>
              </a:lnSpc>
              <a:buNone/>
            </a:pPr>
            <a:r>
              <a:rPr lang="en-US" sz="3400" b="1" dirty="0">
                <a:solidFill>
                  <a:srgbClr val="8FA3BF"/>
                </a:solidFill>
                <a:latin typeface="Arial" pitchFamily="34" charset="0"/>
                <a:ea typeface="Arial" pitchFamily="34" charset="-122"/>
                <a:cs typeface="Arial" pitchFamily="34" charset="-120"/>
              </a:rPr>
              <a:t>Good engineering is not choosing</a:t>
            </a:r>
            <a:endParaRPr lang="en-US" sz="3400" dirty="0"/>
          </a:p>
          <a:p>
            <a:pPr indent="0" marL="0">
              <a:lnSpc>
                <a:spcPts val="4600"/>
              </a:lnSpc>
              <a:buNone/>
            </a:pPr>
            <a:r>
              <a:rPr lang="en-US" sz="3400" b="1" dirty="0">
                <a:solidFill>
                  <a:srgbClr val="8FA3BF"/>
                </a:solidFill>
                <a:latin typeface="Arial" pitchFamily="34" charset="0"/>
                <a:ea typeface="Arial" pitchFamily="34" charset="-122"/>
                <a:cs typeface="Arial" pitchFamily="34" charset="-120"/>
              </a:rPr>
              <a:t>the smartest architecture.</a:t>
            </a:r>
            <a:endParaRPr lang="en-US" sz="3400" dirty="0"/>
          </a:p>
        </p:txBody>
      </p:sp>
      <p:sp>
        <p:nvSpPr>
          <p:cNvPr id="4" name="Text 2"/>
          <p:cNvSpPr/>
          <p:nvPr/>
        </p:nvSpPr>
        <p:spPr>
          <a:xfrm>
            <a:off x="685800" y="3657600"/>
            <a:ext cx="9905695" cy="1463040"/>
          </a:xfrm>
          <a:prstGeom prst="rect">
            <a:avLst/>
          </a:prstGeom>
          <a:noFill/>
          <a:ln/>
        </p:spPr>
        <p:txBody>
          <a:bodyPr wrap="square" lIns="0" tIns="0" rIns="0" bIns="0" rtlCol="0" anchor="t"/>
          <a:lstStyle/>
          <a:p>
            <a:pPr indent="0" marL="0">
              <a:lnSpc>
                <a:spcPts val="4600"/>
              </a:lnSpc>
              <a:buNone/>
            </a:pPr>
            <a:r>
              <a:rPr lang="en-US" sz="3400" b="1" dirty="0">
                <a:solidFill>
                  <a:srgbClr val="FFFFFF"/>
                </a:solidFill>
                <a:latin typeface="Arial" pitchFamily="34" charset="0"/>
                <a:ea typeface="Arial" pitchFamily="34" charset="-122"/>
                <a:cs typeface="Arial" pitchFamily="34" charset="-120"/>
              </a:rPr>
              <a:t>It's reducing uncertainty until the right</a:t>
            </a:r>
            <a:endParaRPr lang="en-US" sz="3400" dirty="0"/>
          </a:p>
          <a:p>
            <a:pPr indent="0" marL="0">
              <a:lnSpc>
                <a:spcPts val="4600"/>
              </a:lnSpc>
              <a:buNone/>
            </a:pPr>
            <a:r>
              <a:rPr lang="en-US" sz="3400" b="1" dirty="0">
                <a:solidFill>
                  <a:srgbClr val="FFFFFF"/>
                </a:solidFill>
                <a:latin typeface="Arial" pitchFamily="34" charset="0"/>
                <a:ea typeface="Arial" pitchFamily="34" charset="-122"/>
                <a:cs typeface="Arial" pitchFamily="34" charset="-120"/>
              </a:rPr>
              <a:t>architecture becomes obvious.</a:t>
            </a:r>
            <a:endParaRPr lang="en-US" sz="3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2103120"/>
            <a:ext cx="566928" cy="566928"/>
          </a:xfrm>
          <a:prstGeom prst="roundRect">
            <a:avLst>
              <a:gd name="adj" fmla="val 24194"/>
            </a:avLst>
          </a:prstGeom>
          <a:solidFill>
            <a:srgbClr val="00C08B"/>
          </a:solidFill>
          <a:ln/>
        </p:spPr>
      </p:sp>
      <p:sp>
        <p:nvSpPr>
          <p:cNvPr id="4" name="Text 2"/>
          <p:cNvSpPr/>
          <p:nvPr/>
        </p:nvSpPr>
        <p:spPr>
          <a:xfrm>
            <a:off x="685800" y="2971800"/>
            <a:ext cx="9722815" cy="1828800"/>
          </a:xfrm>
          <a:prstGeom prst="rect">
            <a:avLst/>
          </a:prstGeom>
          <a:noFill/>
          <a:ln/>
        </p:spPr>
        <p:txBody>
          <a:bodyPr wrap="square" lIns="0" tIns="0" rIns="0" bIns="0" rtlCol="0" anchor="t"/>
          <a:lstStyle/>
          <a:p>
            <a:pPr indent="0" marL="0">
              <a:lnSpc>
                <a:spcPts val="5400"/>
              </a:lnSpc>
              <a:buNone/>
            </a:pPr>
            <a:r>
              <a:rPr lang="en-US" sz="4400" b="1" dirty="0">
                <a:solidFill>
                  <a:srgbClr val="FFFFFF"/>
                </a:solidFill>
                <a:latin typeface="Arial" pitchFamily="34" charset="0"/>
                <a:ea typeface="Arial" pitchFamily="34" charset="-122"/>
                <a:cs typeface="Arial" pitchFamily="34" charset="-120"/>
              </a:rPr>
              <a:t>The feedback loop is</a:t>
            </a:r>
            <a:endParaRPr lang="en-US" sz="4400" dirty="0"/>
          </a:p>
          <a:p>
            <a:pPr indent="0" marL="0">
              <a:lnSpc>
                <a:spcPts val="5400"/>
              </a:lnSpc>
              <a:buNone/>
            </a:pPr>
            <a:r>
              <a:rPr lang="en-US" sz="4400" b="1" dirty="0">
                <a:solidFill>
                  <a:srgbClr val="FFFFFF"/>
                </a:solidFill>
                <a:latin typeface="Arial" pitchFamily="34" charset="0"/>
                <a:ea typeface="Arial" pitchFamily="34" charset="-122"/>
                <a:cs typeface="Arial" pitchFamily="34" charset="-120"/>
              </a:rPr>
              <a:t>the first architecture decision.</a:t>
            </a:r>
            <a:endParaRPr lang="en-US" sz="4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2743200"/>
            <a:ext cx="10820095"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Appendix</a:t>
            </a:r>
            <a:endParaRPr lang="en-US" sz="4000" dirty="0"/>
          </a:p>
        </p:txBody>
      </p:sp>
      <p:sp>
        <p:nvSpPr>
          <p:cNvPr id="4" name="Text 2"/>
          <p:cNvSpPr/>
          <p:nvPr/>
        </p:nvSpPr>
        <p:spPr>
          <a:xfrm>
            <a:off x="685800" y="3611880"/>
            <a:ext cx="10820095" cy="457200"/>
          </a:xfrm>
          <a:prstGeom prst="rect">
            <a:avLst/>
          </a:prstGeom>
          <a:noFill/>
          <a:ln/>
        </p:spPr>
        <p:txBody>
          <a:bodyPr wrap="square" lIns="0" tIns="0" rIns="0" bIns="0" rtlCol="0" anchor="ctr"/>
          <a:lstStyle/>
          <a:p>
            <a:pPr indent="0" marL="0">
              <a:buNone/>
            </a:pPr>
            <a:r>
              <a:rPr lang="en-US" sz="1600" dirty="0">
                <a:solidFill>
                  <a:srgbClr val="8FA3BF"/>
                </a:solidFill>
                <a:latin typeface="Calibri" pitchFamily="34" charset="0"/>
                <a:ea typeface="Calibri" pitchFamily="34" charset="-122"/>
                <a:cs typeface="Calibri" pitchFamily="34" charset="-120"/>
              </a:rPr>
              <a:t>Q&amp;A only — do not present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A1</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Production architecture</a:t>
            </a:r>
            <a:endParaRPr lang="en-US" sz="3200" dirty="0"/>
          </a:p>
        </p:txBody>
      </p:sp>
      <p:sp>
        <p:nvSpPr>
          <p:cNvPr id="4" name="Shape 2"/>
          <p:cNvSpPr/>
          <p:nvPr/>
        </p:nvSpPr>
        <p:spPr>
          <a:xfrm>
            <a:off x="685800" y="2743200"/>
            <a:ext cx="1544269" cy="1371600"/>
          </a:xfrm>
          <a:prstGeom prst="roundRect">
            <a:avLst>
              <a:gd name="adj" fmla="val 8000"/>
            </a:avLst>
          </a:prstGeom>
          <a:solidFill>
            <a:srgbClr val="EDF2F8"/>
          </a:solidFill>
          <a:ln/>
        </p:spPr>
      </p:sp>
      <p:sp>
        <p:nvSpPr>
          <p:cNvPr id="5" name="Text 3"/>
          <p:cNvSpPr/>
          <p:nvPr/>
        </p:nvSpPr>
        <p:spPr>
          <a:xfrm>
            <a:off x="795528"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Step Functions</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orchestrate</a:t>
            </a:r>
            <a:endParaRPr lang="en-US" sz="1300" dirty="0"/>
          </a:p>
        </p:txBody>
      </p:sp>
      <p:sp>
        <p:nvSpPr>
          <p:cNvPr id="6" name="Text 4"/>
          <p:cNvSpPr/>
          <p:nvPr/>
        </p:nvSpPr>
        <p:spPr>
          <a:xfrm>
            <a:off x="2230069"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2540965" y="2743200"/>
            <a:ext cx="1544269" cy="1371600"/>
          </a:xfrm>
          <a:prstGeom prst="roundRect">
            <a:avLst>
              <a:gd name="adj" fmla="val 8000"/>
            </a:avLst>
          </a:prstGeom>
          <a:solidFill>
            <a:srgbClr val="EDF2F8"/>
          </a:solidFill>
          <a:ln/>
        </p:spPr>
      </p:sp>
      <p:sp>
        <p:nvSpPr>
          <p:cNvPr id="8" name="Text 6"/>
          <p:cNvSpPr/>
          <p:nvPr/>
        </p:nvSpPr>
        <p:spPr>
          <a:xfrm>
            <a:off x="2650693"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SQS</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distributes</a:t>
            </a:r>
            <a:endParaRPr lang="en-US" sz="1300" dirty="0"/>
          </a:p>
        </p:txBody>
      </p:sp>
      <p:sp>
        <p:nvSpPr>
          <p:cNvPr id="9" name="Text 7"/>
          <p:cNvSpPr/>
          <p:nvPr/>
        </p:nvSpPr>
        <p:spPr>
          <a:xfrm>
            <a:off x="4085234"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4396130" y="2743200"/>
            <a:ext cx="1544269" cy="1371600"/>
          </a:xfrm>
          <a:prstGeom prst="roundRect">
            <a:avLst>
              <a:gd name="adj" fmla="val 8000"/>
            </a:avLst>
          </a:prstGeom>
          <a:solidFill>
            <a:srgbClr val="EDF2F8"/>
          </a:solidFill>
          <a:ln/>
        </p:spPr>
      </p:sp>
      <p:sp>
        <p:nvSpPr>
          <p:cNvPr id="11" name="Text 9"/>
          <p:cNvSpPr/>
          <p:nvPr/>
        </p:nvSpPr>
        <p:spPr>
          <a:xfrm>
            <a:off x="4505858"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Fargate</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downloads</a:t>
            </a:r>
            <a:endParaRPr lang="en-US" sz="1300" dirty="0"/>
          </a:p>
        </p:txBody>
      </p:sp>
      <p:sp>
        <p:nvSpPr>
          <p:cNvPr id="12" name="Text 10"/>
          <p:cNvSpPr/>
          <p:nvPr/>
        </p:nvSpPr>
        <p:spPr>
          <a:xfrm>
            <a:off x="5940400"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6251296" y="2743200"/>
            <a:ext cx="1544269" cy="1371600"/>
          </a:xfrm>
          <a:prstGeom prst="roundRect">
            <a:avLst>
              <a:gd name="adj" fmla="val 8000"/>
            </a:avLst>
          </a:prstGeom>
          <a:solidFill>
            <a:srgbClr val="EDF2F8"/>
          </a:solidFill>
          <a:ln/>
        </p:spPr>
      </p:sp>
      <p:sp>
        <p:nvSpPr>
          <p:cNvPr id="14" name="Text 12"/>
          <p:cNvSpPr/>
          <p:nvPr/>
        </p:nvSpPr>
        <p:spPr>
          <a:xfrm>
            <a:off x="6361024"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S3</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stores</a:t>
            </a:r>
            <a:endParaRPr lang="en-US" sz="1300" dirty="0"/>
          </a:p>
        </p:txBody>
      </p:sp>
      <p:sp>
        <p:nvSpPr>
          <p:cNvPr id="15" name="Text 13"/>
          <p:cNvSpPr/>
          <p:nvPr/>
        </p:nvSpPr>
        <p:spPr>
          <a:xfrm>
            <a:off x="7795565"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8106461" y="2743200"/>
            <a:ext cx="1544269" cy="1371600"/>
          </a:xfrm>
          <a:prstGeom prst="roundRect">
            <a:avLst>
              <a:gd name="adj" fmla="val 8000"/>
            </a:avLst>
          </a:prstGeom>
          <a:solidFill>
            <a:srgbClr val="EDF2F8"/>
          </a:solidFill>
          <a:ln/>
        </p:spPr>
      </p:sp>
      <p:sp>
        <p:nvSpPr>
          <p:cNvPr id="17" name="Text 15"/>
          <p:cNvSpPr/>
          <p:nvPr/>
        </p:nvSpPr>
        <p:spPr>
          <a:xfrm>
            <a:off x="8216189"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Fargate</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callback</a:t>
            </a:r>
            <a:endParaRPr lang="en-US" sz="1300" dirty="0"/>
          </a:p>
        </p:txBody>
      </p:sp>
      <p:sp>
        <p:nvSpPr>
          <p:cNvPr id="18" name="Text 16"/>
          <p:cNvSpPr/>
          <p:nvPr/>
        </p:nvSpPr>
        <p:spPr>
          <a:xfrm>
            <a:off x="9650730"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9961626" y="2743200"/>
            <a:ext cx="1544269" cy="1371600"/>
          </a:xfrm>
          <a:prstGeom prst="roundRect">
            <a:avLst>
              <a:gd name="adj" fmla="val 8000"/>
            </a:avLst>
          </a:prstGeom>
          <a:solidFill>
            <a:srgbClr val="EDF2F8"/>
          </a:solidFill>
          <a:ln/>
        </p:spPr>
      </p:sp>
      <p:sp>
        <p:nvSpPr>
          <p:cNvPr id="20" name="Text 18"/>
          <p:cNvSpPr/>
          <p:nvPr/>
        </p:nvSpPr>
        <p:spPr>
          <a:xfrm>
            <a:off x="10071354"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Workflow</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resumes</a:t>
            </a:r>
            <a:endParaRPr lang="en-US" sz="1300" dirty="0"/>
          </a:p>
        </p:txBody>
      </p:sp>
      <p:sp>
        <p:nvSpPr>
          <p:cNvPr id="21" name="Text 19"/>
          <p:cNvSpPr/>
          <p:nvPr/>
        </p:nvSpPr>
        <p:spPr>
          <a:xfrm>
            <a:off x="685800" y="4663440"/>
            <a:ext cx="10362895" cy="45720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Orchestration separated from heavy file processing, without losing workflow state.</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A2</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Why Fargate + NestJS for ingestion</a:t>
            </a:r>
            <a:endParaRPr lang="en-US" sz="3200" dirty="0"/>
          </a:p>
        </p:txBody>
      </p:sp>
      <p:sp>
        <p:nvSpPr>
          <p:cNvPr id="4" name="Text 2"/>
          <p:cNvSpPr/>
          <p:nvPr/>
        </p:nvSpPr>
        <p:spPr>
          <a:xfrm>
            <a:off x="685800" y="233172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Prototyped</a:t>
            </a:r>
            <a:endParaRPr lang="en-US" sz="1400" dirty="0"/>
          </a:p>
        </p:txBody>
      </p:sp>
      <p:sp>
        <p:nvSpPr>
          <p:cNvPr id="5" name="Text 3"/>
          <p:cNvSpPr/>
          <p:nvPr/>
        </p:nvSpPr>
        <p:spPr>
          <a:xfrm>
            <a:off x="685800" y="2788920"/>
            <a:ext cx="10362895" cy="82296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Go · Python · TypeScript · AWS Lambda · AWS Fargate · Containers · NestJS · Middy</a:t>
            </a:r>
            <a:endParaRPr lang="en-US" sz="2000" dirty="0"/>
          </a:p>
        </p:txBody>
      </p:sp>
      <p:sp>
        <p:nvSpPr>
          <p:cNvPr id="6" name="Text 4"/>
          <p:cNvSpPr/>
          <p:nvPr/>
        </p:nvSpPr>
        <p:spPr>
          <a:xfrm>
            <a:off x="685800" y="397764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Measured on</a:t>
            </a:r>
            <a:endParaRPr lang="en-US" sz="1400" dirty="0"/>
          </a:p>
        </p:txBody>
      </p:sp>
      <p:sp>
        <p:nvSpPr>
          <p:cNvPr id="7" name="Text 5"/>
          <p:cNvSpPr/>
          <p:nvPr/>
        </p:nvSpPr>
        <p:spPr>
          <a:xfrm>
            <a:off x="685800" y="4434840"/>
            <a:ext cx="10362895" cy="54864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Throughput · scaling behaviour · maintainability · operational complexity</a:t>
            </a:r>
            <a:endParaRPr lang="en-US" sz="2000" dirty="0"/>
          </a:p>
        </p:txBody>
      </p:sp>
      <p:sp>
        <p:nvSpPr>
          <p:cNvPr id="8" name="Text 6"/>
          <p:cNvSpPr/>
          <p:nvPr/>
        </p:nvSpPr>
        <p:spPr>
          <a:xfrm>
            <a:off x="685800" y="5440680"/>
            <a:ext cx="10362895" cy="457200"/>
          </a:xfrm>
          <a:prstGeom prst="rect">
            <a:avLst/>
          </a:prstGeom>
          <a:noFill/>
          <a:ln/>
        </p:spPr>
        <p:txBody>
          <a:bodyPr wrap="square" lIns="0" tIns="0" rIns="0" bIns="0" rtlCol="0" anchor="ctr"/>
          <a:lstStyle/>
          <a:p>
            <a:pPr indent="0" marL="0">
              <a:buNone/>
            </a:pPr>
            <a:r>
              <a:rPr lang="en-US" sz="1700" b="1" dirty="0">
                <a:solidFill>
                  <a:srgbClr val="05795A"/>
                </a:solidFill>
                <a:latin typeface="Arial" pitchFamily="34" charset="0"/>
                <a:ea typeface="Arial" pitchFamily="34" charset="-122"/>
                <a:cs typeface="Arial" pitchFamily="34" charset="-120"/>
              </a:rPr>
              <a:t>Winner: AWS Fargate + NestJS. The stack answer is local to this problem — the method isn't.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A3</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Tracking: deciding when to recover</a:t>
            </a:r>
            <a:endParaRPr lang="en-US" sz="3200" dirty="0"/>
          </a:p>
        </p:txBody>
      </p:sp>
      <p:sp>
        <p:nvSpPr>
          <p:cNvPr id="4" name="Shape 2"/>
          <p:cNvSpPr/>
          <p:nvPr/>
        </p:nvSpPr>
        <p:spPr>
          <a:xfrm>
            <a:off x="685800" y="2688336"/>
            <a:ext cx="146304" cy="146304"/>
          </a:xfrm>
          <a:prstGeom prst="roundRect">
            <a:avLst>
              <a:gd name="adj" fmla="val 31250"/>
            </a:avLst>
          </a:prstGeom>
          <a:solidFill>
            <a:srgbClr val="6B7B93"/>
          </a:solidFill>
          <a:ln/>
        </p:spPr>
      </p:sp>
      <p:sp>
        <p:nvSpPr>
          <p:cNvPr id="5" name="Text 3"/>
          <p:cNvSpPr/>
          <p:nvPr/>
        </p:nvSpPr>
        <p:spPr>
          <a:xfrm>
            <a:off x="1097280" y="25146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Every call is tracked through its lifecycle.</a:t>
            </a:r>
            <a:endParaRPr lang="en-US" sz="1800" dirty="0"/>
          </a:p>
        </p:txBody>
      </p:sp>
      <p:sp>
        <p:nvSpPr>
          <p:cNvPr id="6" name="Shape 4"/>
          <p:cNvSpPr/>
          <p:nvPr/>
        </p:nvSpPr>
        <p:spPr>
          <a:xfrm>
            <a:off x="685800" y="3602736"/>
            <a:ext cx="146304" cy="146304"/>
          </a:xfrm>
          <a:prstGeom prst="roundRect">
            <a:avLst>
              <a:gd name="adj" fmla="val 31250"/>
            </a:avLst>
          </a:prstGeom>
          <a:solidFill>
            <a:srgbClr val="6B7B93"/>
          </a:solidFill>
          <a:ln/>
        </p:spPr>
      </p:sp>
      <p:sp>
        <p:nvSpPr>
          <p:cNvPr id="7" name="Text 5"/>
          <p:cNvSpPr/>
          <p:nvPr/>
        </p:nvSpPr>
        <p:spPr>
          <a:xfrm>
            <a:off x="1097280" y="34290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Streaming delivers → the call is marked complete.</a:t>
            </a:r>
            <a:endParaRPr lang="en-US" sz="1800" dirty="0"/>
          </a:p>
        </p:txBody>
      </p:sp>
      <p:sp>
        <p:nvSpPr>
          <p:cNvPr id="8" name="Shape 6"/>
          <p:cNvSpPr/>
          <p:nvPr/>
        </p:nvSpPr>
        <p:spPr>
          <a:xfrm>
            <a:off x="685800" y="4517136"/>
            <a:ext cx="146304" cy="146304"/>
          </a:xfrm>
          <a:prstGeom prst="roundRect">
            <a:avLst>
              <a:gd name="adj" fmla="val 31250"/>
            </a:avLst>
          </a:prstGeom>
          <a:solidFill>
            <a:srgbClr val="6B7B93"/>
          </a:solidFill>
          <a:ln/>
        </p:spPr>
      </p:sp>
      <p:sp>
        <p:nvSpPr>
          <p:cNvPr id="9" name="Text 7"/>
          <p:cNvSpPr/>
          <p:nvPr/>
        </p:nvSpPr>
        <p:spPr>
          <a:xfrm>
            <a:off x="1097280" y="43434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No recording inside the expected window → recovery is scheduled automatically.</a:t>
            </a:r>
            <a:endParaRPr lang="en-US" sz="1800" dirty="0"/>
          </a:p>
        </p:txBody>
      </p:sp>
      <p:sp>
        <p:nvSpPr>
          <p:cNvPr id="10" name="Shape 8"/>
          <p:cNvSpPr/>
          <p:nvPr/>
        </p:nvSpPr>
        <p:spPr>
          <a:xfrm>
            <a:off x="685800" y="5431536"/>
            <a:ext cx="146304" cy="146304"/>
          </a:xfrm>
          <a:prstGeom prst="roundRect">
            <a:avLst>
              <a:gd name="adj" fmla="val 31250"/>
            </a:avLst>
          </a:prstGeom>
          <a:solidFill>
            <a:srgbClr val="05795A"/>
          </a:solidFill>
          <a:ln/>
        </p:spPr>
      </p:sp>
      <p:sp>
        <p:nvSpPr>
          <p:cNvPr id="11" name="Text 9"/>
          <p:cNvSpPr/>
          <p:nvPr/>
        </p:nvSpPr>
        <p:spPr>
          <a:xfrm>
            <a:off x="1097280" y="5257800"/>
            <a:ext cx="9997135" cy="502920"/>
          </a:xfrm>
          <a:prstGeom prst="rect">
            <a:avLst/>
          </a:prstGeom>
          <a:noFill/>
          <a:ln/>
        </p:spPr>
        <p:txBody>
          <a:bodyPr wrap="square" lIns="0" tIns="0" rIns="0" bIns="0" rtlCol="0" anchor="ctr"/>
          <a:lstStyle/>
          <a:p>
            <a:pPr indent="0" marL="0">
              <a:buNone/>
            </a:pPr>
            <a:r>
              <a:rPr lang="en-US" sz="1800" b="1" dirty="0">
                <a:solidFill>
                  <a:srgbClr val="05795A"/>
                </a:solidFill>
                <a:latin typeface="Calibri" pitchFamily="34" charset="0"/>
                <a:ea typeface="Calibri" pitchFamily="34" charset="-122"/>
                <a:cs typeface="Calibri" pitchFamily="34" charset="-120"/>
              </a:rPr>
              <a:t>Nothing is reconciled by hand. Everything is driven by state.</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A4</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Local environment: what's in it</a:t>
            </a:r>
            <a:endParaRPr lang="en-US" sz="3200" dirty="0"/>
          </a:p>
        </p:txBody>
      </p:sp>
      <p:sp>
        <p:nvSpPr>
          <p:cNvPr id="4" name="Text 2"/>
          <p:cNvSpPr/>
          <p:nvPr/>
        </p:nvSpPr>
        <p:spPr>
          <a:xfrm>
            <a:off x="685800" y="237744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In</a:t>
            </a:r>
            <a:endParaRPr lang="en-US" sz="1400" dirty="0"/>
          </a:p>
        </p:txBody>
      </p:sp>
      <p:sp>
        <p:nvSpPr>
          <p:cNvPr id="5" name="Text 3"/>
          <p:cNvSpPr/>
          <p:nvPr/>
        </p:nvSpPr>
        <p:spPr>
          <a:xfrm>
            <a:off x="685800" y="2834640"/>
            <a:ext cx="10362895" cy="822960"/>
          </a:xfrm>
          <a:prstGeom prst="rect">
            <a:avLst/>
          </a:prstGeom>
          <a:noFill/>
          <a:ln/>
        </p:spPr>
        <p:txBody>
          <a:bodyPr wrap="square" lIns="0" tIns="0" rIns="0" bIns="0" rtlCol="0" anchor="ctr"/>
          <a:lstStyle/>
          <a:p>
            <a:pPr indent="0" marL="0">
              <a:buNone/>
            </a:pPr>
            <a:r>
              <a:rPr lang="en-US" sz="1900" b="1" dirty="0">
                <a:solidFill>
                  <a:srgbClr val="16233A"/>
                </a:solidFill>
                <a:latin typeface="Calibri" pitchFamily="34" charset="0"/>
                <a:ea typeface="Calibri" pitchFamily="34" charset="-122"/>
                <a:cs typeface="Calibri" pitchFamily="34" charset="-120"/>
              </a:rPr>
              <a:t>Step Functions · Lambda · DynamoDB · SQS · S3 · supporting infrastructure from the production CDK</a:t>
            </a:r>
            <a:endParaRPr lang="en-US" sz="1900" dirty="0"/>
          </a:p>
        </p:txBody>
      </p:sp>
      <p:sp>
        <p:nvSpPr>
          <p:cNvPr id="6" name="Text 4"/>
          <p:cNvSpPr/>
          <p:nvPr/>
        </p:nvSpPr>
        <p:spPr>
          <a:xfrm>
            <a:off x="685800" y="411480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Not in</a:t>
            </a:r>
            <a:endParaRPr lang="en-US" sz="1400" dirty="0"/>
          </a:p>
        </p:txBody>
      </p:sp>
      <p:sp>
        <p:nvSpPr>
          <p:cNvPr id="7" name="Text 5"/>
          <p:cNvSpPr/>
          <p:nvPr/>
        </p:nvSpPr>
        <p:spPr>
          <a:xfrm>
            <a:off x="685800" y="4572000"/>
            <a:ext cx="10362895" cy="640080"/>
          </a:xfrm>
          <a:prstGeom prst="rect">
            <a:avLst/>
          </a:prstGeom>
          <a:noFill/>
          <a:ln/>
        </p:spPr>
        <p:txBody>
          <a:bodyPr wrap="square" lIns="0" tIns="0" rIns="0" bIns="0" rtlCol="0" anchor="ctr"/>
          <a:lstStyle/>
          <a:p>
            <a:pPr indent="0" marL="0">
              <a:buNone/>
            </a:pPr>
            <a:r>
              <a:rPr lang="en-US" sz="1900" b="1" dirty="0">
                <a:solidFill>
                  <a:srgbClr val="AE4718"/>
                </a:solidFill>
                <a:latin typeface="Calibri" pitchFamily="34" charset="0"/>
                <a:ea typeface="Calibri" pitchFamily="34" charset="-122"/>
                <a:cs typeface="Calibri" pitchFamily="34" charset="-120"/>
              </a:rPr>
              <a:t>IAM behaviour · real throughput · production-scale timing · the vendor's APIs</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A5</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Platform milestones</a:t>
            </a:r>
            <a:endParaRPr lang="en-US" sz="3200" dirty="0"/>
          </a:p>
        </p:txBody>
      </p:sp>
      <p:sp>
        <p:nvSpPr>
          <p:cNvPr id="4" name="Shape 2"/>
          <p:cNvSpPr/>
          <p:nvPr/>
        </p:nvSpPr>
        <p:spPr>
          <a:xfrm>
            <a:off x="685800" y="2560320"/>
            <a:ext cx="402336" cy="402336"/>
          </a:xfrm>
          <a:prstGeom prst="roundRect">
            <a:avLst>
              <a:gd name="adj" fmla="val 25000"/>
            </a:avLst>
          </a:prstGeom>
          <a:solidFill>
            <a:srgbClr val="EDF2F8"/>
          </a:solidFill>
          <a:ln/>
        </p:spPr>
      </p:sp>
      <p:sp>
        <p:nvSpPr>
          <p:cNvPr id="5" name="Text 3"/>
          <p:cNvSpPr/>
          <p:nvPr/>
        </p:nvSpPr>
        <p:spPr>
          <a:xfrm>
            <a:off x="685800" y="256032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344168" y="256032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First IVR initiative on the new platform SDK</a:t>
            </a:r>
            <a:endParaRPr lang="en-US" sz="1800" dirty="0"/>
          </a:p>
        </p:txBody>
      </p:sp>
      <p:sp>
        <p:nvSpPr>
          <p:cNvPr id="7" name="Shape 5"/>
          <p:cNvSpPr/>
          <p:nvPr/>
        </p:nvSpPr>
        <p:spPr>
          <a:xfrm>
            <a:off x="685800" y="3383280"/>
            <a:ext cx="402336" cy="402336"/>
          </a:xfrm>
          <a:prstGeom prst="roundRect">
            <a:avLst>
              <a:gd name="adj" fmla="val 25000"/>
            </a:avLst>
          </a:prstGeom>
          <a:solidFill>
            <a:srgbClr val="EDF2F8"/>
          </a:solidFill>
          <a:ln/>
        </p:spPr>
      </p:sp>
      <p:sp>
        <p:nvSpPr>
          <p:cNvPr id="8" name="Text 6"/>
          <p:cNvSpPr/>
          <p:nvPr/>
        </p:nvSpPr>
        <p:spPr>
          <a:xfrm>
            <a:off x="685800" y="338328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344168" y="338328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First monorepo</a:t>
            </a:r>
            <a:endParaRPr lang="en-US" sz="1800" dirty="0"/>
          </a:p>
        </p:txBody>
      </p:sp>
      <p:sp>
        <p:nvSpPr>
          <p:cNvPr id="10" name="Shape 8"/>
          <p:cNvSpPr/>
          <p:nvPr/>
        </p:nvSpPr>
        <p:spPr>
          <a:xfrm>
            <a:off x="685800" y="4206240"/>
            <a:ext cx="402336" cy="402336"/>
          </a:xfrm>
          <a:prstGeom prst="roundRect">
            <a:avLst>
              <a:gd name="adj" fmla="val 25000"/>
            </a:avLst>
          </a:prstGeom>
          <a:solidFill>
            <a:srgbClr val="EDF2F8"/>
          </a:solidFill>
          <a:ln/>
        </p:spPr>
      </p:sp>
      <p:sp>
        <p:nvSpPr>
          <p:cNvPr id="11" name="Text 9"/>
          <p:cNvSpPr/>
          <p:nvPr/>
        </p:nvSpPr>
        <p:spPr>
          <a:xfrm>
            <a:off x="685800" y="420624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344168" y="42062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Independently deployable services</a:t>
            </a:r>
            <a:endParaRPr lang="en-US" sz="1800" dirty="0"/>
          </a:p>
        </p:txBody>
      </p:sp>
      <p:sp>
        <p:nvSpPr>
          <p:cNvPr id="13" name="Shape 11"/>
          <p:cNvSpPr/>
          <p:nvPr/>
        </p:nvSpPr>
        <p:spPr>
          <a:xfrm>
            <a:off x="685800" y="5029200"/>
            <a:ext cx="402336" cy="402336"/>
          </a:xfrm>
          <a:prstGeom prst="roundRect">
            <a:avLst>
              <a:gd name="adj" fmla="val 25000"/>
            </a:avLst>
          </a:prstGeom>
          <a:solidFill>
            <a:srgbClr val="EDF2F8"/>
          </a:solidFill>
          <a:ln/>
        </p:spPr>
      </p:sp>
      <p:sp>
        <p:nvSpPr>
          <p:cNvPr id="14" name="Text 12"/>
          <p:cNvSpPr/>
          <p:nvPr/>
        </p:nvSpPr>
        <p:spPr>
          <a:xfrm>
            <a:off x="685800" y="502920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344168" y="502920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Independently deployable Step Functions</a:t>
            </a:r>
            <a:endParaRPr lang="en-US" sz="1800" dirty="0"/>
          </a:p>
        </p:txBody>
      </p:sp>
      <p:sp>
        <p:nvSpPr>
          <p:cNvPr id="16" name="Text 14"/>
          <p:cNvSpPr/>
          <p:nvPr/>
        </p:nvSpPr>
        <p:spPr>
          <a:xfrm>
            <a:off x="685800" y="5806440"/>
            <a:ext cx="103628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The repository is the single source of truth — new engineers joined without tribal knowledge.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LocalStack Saved the StateMachine</dc:title>
  <dc:subject>PptxGenJS Presentation</dc:subject>
  <dc:creator>Javier Benavides</dc:creator>
  <cp:lastModifiedBy>Javier Benavides</cp:lastModifiedBy>
  <cp:revision>1</cp:revision>
  <dcterms:created xsi:type="dcterms:W3CDTF">2026-08-17T12:41:35Z</dcterms:created>
  <dcterms:modified xsi:type="dcterms:W3CDTF">2026-08-17T12:41:35Z</dcterms:modified>
</cp:coreProperties>
</file>