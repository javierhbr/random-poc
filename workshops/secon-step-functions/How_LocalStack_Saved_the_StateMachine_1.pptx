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start here. This is what's on screen while people sit down. Start on slide 2.
[FILL] Your team name and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roughly: "We did the research properly. We prototyped four orchestration approaches and Step Functions won on the measurements. Good decision.
And then implementation started, and within about a week it was clear that decision was going to be very hard to execute — for a reason that had nothing to do with architecture."
Pause here.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second line out loud, now, so the architects in the room stop waiting for a system diagram.
"What I want you to take home isn't the platform. It's the thing we built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flat. Let it sound as small as it sounded on day one. Do not editorialise — the next slide does that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at a time. The last one is what changes the problem.
"Ninety-nine point nine percent is not a passing grade here. A thousand lost recordings a day is a thousand lost recordings a day."
[FILL] I derived 5.5 TB/day from 1M x 5.5 MB. Use the real S3 growth figure if you have it — measured beats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Waiting for the vendor to build us something wasn't on the table.
"So the question stopped being 'how do we move a file' and became 'how do you build enterprise ingestion when the only surface you're allowed to touch is someone else's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on tracking, spoken not slided: every call is tracked as state. Streaming lands, the call closes. It doesn't land in the expected window, it falls into the recovery workflow automatically. Nobody reconciles anything by hand.
Appendix A3 has the detail if Q&amp;A wants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thing the rest of the talk is about. Waits, retries, callbacks, several Lambdas.
Close with: "So we had the right answer. Here's what happened when we tried to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 this is the one factual claim in the talk that someone will go and check.
[FILL] VERIFY whether this is still true today. If AWS has improved it since, say so from the stage — "this may have improved since" costs you nothing and being caught out costs you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with your finger, then land the number.
"That's the price of finding out you got a retry policy wrong."
[FILL] How long one deploy-and-test cycle actually took. This number is what makes the next two slides mean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TEXT ON SCREEN. Tell this one. Roughly:
"A single Step Function execution fans out across many Lambdas, and every one of them writes its own log stream. So when an execution failed, the question 'which state broke, and why' meant opening CloudWatch, finding each stream, and correlating them by hand — by timestamp, by request id, by eye.
I remember sitting there with [N] log streams open across [N] tabs, trying to reconstruct one execution, and thinking: I'm not debugging a workflow. I'm doing archaeology."
[FILL] The real number of streams/tabs if you remember it. And if someone on the team said something verbatim during this stretch, use it — verbatim only. A quote a colleague doesn't recognise is worse than no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load-bearing sentence of the talk. Slow down.
"We'd made a rule at the start of this project — experiment first, implement later. Every decision backed by evidence. That rule is free to say and it has a price, and the price is the cost of one iteration.
At [N] minutes a cycle, nobody runs a second experiment. They just go with whoever sounds most 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stopped building the product and went and built the loop. That felt wrong at the time. It was the highest-leverage week of the project."
[FILL] How long the local platform actually took to build. The objection on slide 25 lives or dies on this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CDK point hard. It is what makes the local environment trustworthy rather than a parallel fiction. Same source of truth as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LocalStack solves half of it. The other half is that every developer still had to hand-assemble an environment before they could run anything.
[FILL] Show the actual commands if you can — a real command on screen is worth three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line matters more than it looks. Building the tracer to work against real cloud environments too is what stops the local environment becoming a private toy — the debugging experience is the same wherever the execution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screenshot, put it here and stop talking for five seconds. Show, don't describe.
[FILL] A screenshot of the visualization UI. This is the most persuasive artifact you have and it costs you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points at this slide. Give both numbers, then stop talking for a second.
[FILL] THE most important pair of numbers in the deck. Before and after iteration time. If you get nothing else, get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no more.
Honest framing: building a local platform, a tracing tool and a UI on top of delivering the product is not something one engineer does at the old price of writing software. That is what changed.
Then the guard-rail sentence: none of it chose anything. Every architectural call in this talk came from a measurement.
[FILL] The transcript says "Cloud Code" — I've assumed Claude Code. Confirm both names before this goes on a screen in front of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had a worry: at our volume, the polling loop is going to be expensive."
"On most projects that sentence IS the decision. Someone senior says it, the room agrees, and you build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how good it was. The reversal only lands if the thing being reversed was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the projected number. The real one."
"We'd built a second architecture to save money on something that happens [N] times a day. The savings were about [$X] a month. The extra complexity was permanent — another service, another failure mode, another thing to explain at 3am."
"We deleted it and shipped the simpler one."
[FILL] Real export jobs per day, and the cost delta. An estimate is fine if you label it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of the talk. The local platform isn't why the project was pleasant. It's why the architecture is right.
Then the outcome, briefly: shipped with one engineer, later three; onboarding was quick because everything was specified in the repo; hit the enterprise delivery commitments and the Payments regulatory deadline.
[FILL] The regulatory deadline date, if you're allowed to name it. A date makes this a fact instead of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this fast and completely — it is the strongest objection in the room and conceding it is what buys you everything after it. Do not defend the emulator.
"We never claimed the emulator was the last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it yourself; it's coming anyway.
The strongest version of the answer isn't the hours saved — it's the deadline. We had a regulatory date and we hit it, and we hit it because the middle of the project was fast, not because the start was.
[FILL] How long the local platform took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boundary before someone else does. If your workflow isn't all four of those, this is overkill and I'd tell you not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these five steps on every decision in this project. They're not a methodology, they're just refusing to decide from opinion."
"And they have a prerequisite that nobody puts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starting something with waits, retries and callbacks in it — before you design the workflow, work out what it costs to run one. If the answer is a pipeline, go fix that first.
Thank you."
Stop. No summary slide. No thank-you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Jump here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Downloading thousands of large ZIPs was never a Lambda problem. Each service does the thing it's best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not Lambda' — answer in one sentence and redirect. This is a tar pit and every minute here is a minute off your claim.
[FILL] One real measured comparison would make this slide much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vendor later added a single-recording download API for when only a few files are missing — cheaper than a full export for small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able to say precisely what the emulator does not cover. Vague answers here undo slide 24.
[FILL] Correct the 'Not in' list — I inferred it. And add the command list if you want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if asked. Credibility, not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1417320"/>
            <a:ext cx="566928" cy="566928"/>
          </a:xfrm>
          <a:prstGeom prst="roundRect">
            <a:avLst>
              <a:gd name="adj" fmla="val 24194"/>
            </a:avLst>
          </a:prstGeom>
          <a:solidFill>
            <a:srgbClr val="00C08B"/>
          </a:solidFill>
          <a:ln/>
        </p:spPr>
      </p:sp>
      <p:sp>
        <p:nvSpPr>
          <p:cNvPr id="4" name="Text 2"/>
          <p:cNvSpPr/>
          <p:nvPr/>
        </p:nvSpPr>
        <p:spPr>
          <a:xfrm>
            <a:off x="685800" y="2240280"/>
            <a:ext cx="9448495" cy="1828800"/>
          </a:xfrm>
          <a:prstGeom prst="rect">
            <a:avLst/>
          </a:prstGeom>
          <a:noFill/>
          <a:ln/>
        </p:spPr>
        <p:txBody>
          <a:bodyPr wrap="square" lIns="0" tIns="0" rIns="0" bIns="0" rtlCol="0" anchor="t"/>
          <a:lstStyle/>
          <a:p>
            <a:pPr indent="0" marL="0">
              <a:lnSpc>
                <a:spcPts val="5800"/>
              </a:lnSpc>
              <a:buNone/>
            </a:pPr>
            <a:r>
              <a:rPr lang="en-US" sz="4800" b="1" dirty="0">
                <a:solidFill>
                  <a:srgbClr val="FFFFFF"/>
                </a:solidFill>
                <a:latin typeface="Arial" pitchFamily="34" charset="0"/>
                <a:ea typeface="Arial" pitchFamily="34" charset="-122"/>
                <a:cs typeface="Arial" pitchFamily="34" charset="-120"/>
              </a:rPr>
              <a:t>How LocalStack Saved</a:t>
            </a:r>
            <a:endParaRPr lang="en-US" sz="4800" dirty="0"/>
          </a:p>
          <a:p>
            <a:pPr indent="0" marL="0">
              <a:lnSpc>
                <a:spcPts val="5800"/>
              </a:lnSpc>
              <a:buNone/>
            </a:pPr>
            <a:r>
              <a:rPr lang="en-US" sz="4800" b="1" dirty="0">
                <a:solidFill>
                  <a:srgbClr val="FFFFFF"/>
                </a:solidFill>
                <a:latin typeface="Arial" pitchFamily="34" charset="0"/>
                <a:ea typeface="Arial" pitchFamily="34" charset="-122"/>
                <a:cs typeface="Arial" pitchFamily="34" charset="-120"/>
              </a:rPr>
              <a:t>the StateMachine</a:t>
            </a:r>
            <a:endParaRPr lang="en-US" sz="4800" dirty="0"/>
          </a:p>
        </p:txBody>
      </p:sp>
      <p:sp>
        <p:nvSpPr>
          <p:cNvPr id="5" name="Text 3"/>
          <p:cNvSpPr/>
          <p:nvPr/>
        </p:nvSpPr>
        <p:spPr>
          <a:xfrm>
            <a:off x="685800" y="4206240"/>
            <a:ext cx="94484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Step Functions, 1M recordings a day, and the loop that made every decision affordable</a:t>
            </a:r>
            <a:endParaRPr lang="en-US" sz="1700" dirty="0"/>
          </a:p>
        </p:txBody>
      </p:sp>
      <p:sp>
        <p:nvSpPr>
          <p:cNvPr id="6" name="Text 4"/>
          <p:cNvSpPr/>
          <p:nvPr/>
        </p:nvSpPr>
        <p:spPr>
          <a:xfrm>
            <a:off x="685800" y="5852160"/>
            <a:ext cx="10820095" cy="36576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Javier Benavides  ·  IVR Data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608"/>
              </a:lnSpc>
              <a:buNone/>
            </a:pPr>
            <a:r>
              <a:rPr lang="en-US" sz="3600" b="1" dirty="0">
                <a:solidFill>
                  <a:srgbClr val="FFFFFF"/>
                </a:solidFill>
                <a:latin typeface="Arial" pitchFamily="34" charset="0"/>
                <a:ea typeface="Arial" pitchFamily="34" charset="-122"/>
                <a:cs typeface="Arial" pitchFamily="34" charset="-120"/>
              </a:rPr>
              <a:t>We picked Step Functions</a:t>
            </a:r>
            <a:endParaRPr lang="en-US" sz="3600" dirty="0"/>
          </a:p>
          <a:p>
            <a:pPr algn="l" indent="0" marL="0">
              <a:lnSpc>
                <a:spcPts val="4608"/>
              </a:lnSpc>
              <a:buNone/>
            </a:pPr>
            <a:r>
              <a:rPr lang="en-US" sz="3600" b="1" dirty="0">
                <a:solidFill>
                  <a:srgbClr val="FFFFFF"/>
                </a:solidFill>
                <a:latin typeface="Arial" pitchFamily="34" charset="0"/>
                <a:ea typeface="Arial" pitchFamily="34" charset="-122"/>
                <a:cs typeface="Arial" pitchFamily="34" charset="-120"/>
              </a:rPr>
              <a:t>because the experiments said so.</a:t>
            </a:r>
            <a:endParaRPr lang="en-US" sz="3600" dirty="0"/>
          </a:p>
          <a:p>
            <a:pPr algn="l" indent="0" marL="0">
              <a:lnSpc>
                <a:spcPts val="4608"/>
              </a:lnSpc>
              <a:buNone/>
            </a:pPr>
            <a:r>
              <a:rPr lang="en-US" sz="3600" b="1" dirty="0">
                <a:solidFill>
                  <a:srgbClr val="00C08B"/>
                </a:solidFill>
                <a:latin typeface="Arial" pitchFamily="34" charset="0"/>
                <a:ea typeface="Arial" pitchFamily="34" charset="-122"/>
                <a:cs typeface="Arial" pitchFamily="34" charset="-120"/>
              </a:rPr>
              <a:t>Then we almost couldn't build them.</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FRAMING</a:t>
            </a:r>
            <a:endParaRPr lang="en-US" sz="11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This is a talk about the tooling decision</a:t>
            </a:r>
            <a:endParaRPr lang="en-US" sz="3400" dirty="0"/>
          </a:p>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that made every other decision possible.</a:t>
            </a:r>
            <a:endParaRPr lang="en-US" sz="3400" dirty="0"/>
          </a:p>
        </p:txBody>
      </p:sp>
      <p:sp>
        <p:nvSpPr>
          <p:cNvPr id="6" name="Text 4"/>
          <p:cNvSpPr/>
          <p:nvPr/>
        </p:nvSpPr>
        <p:spPr>
          <a:xfrm>
            <a:off x="685800" y="4892040"/>
            <a:ext cx="9905695" cy="45720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The production architecture is in the appendix, and in the repo.</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HOW THE ASK ARRIVED</a:t>
            </a:r>
            <a:endParaRPr lang="en-US" sz="1100" dirty="0"/>
          </a:p>
        </p:txBody>
      </p:sp>
      <p:sp>
        <p:nvSpPr>
          <p:cNvPr id="6" name="Text 4"/>
          <p:cNvSpPr/>
          <p:nvPr/>
        </p:nvSpPr>
        <p:spPr>
          <a:xfrm>
            <a:off x="685800" y="2286000"/>
            <a:ext cx="9357055" cy="2377440"/>
          </a:xfrm>
          <a:prstGeom prst="rect">
            <a:avLst/>
          </a:prstGeom>
          <a:noFill/>
          <a:ln/>
        </p:spPr>
        <p:txBody>
          <a:bodyPr wrap="square" lIns="0" tIns="0" rIns="0" bIns="0" rtlCol="0" anchor="t"/>
          <a:lstStyle/>
          <a:p>
            <a:pPr indent="0" marL="0">
              <a:lnSpc>
                <a:spcPts val="4600"/>
              </a:lnSpc>
              <a:buNone/>
            </a:pPr>
            <a:r>
              <a:rPr lang="en-US" sz="3400" i="1" dirty="0">
                <a:solidFill>
                  <a:srgbClr val="FFFFFF"/>
                </a:solidFill>
                <a:latin typeface="Arial" pitchFamily="34" charset="0"/>
                <a:ea typeface="Arial" pitchFamily="34" charset="-122"/>
                <a:cs typeface="Arial" pitchFamily="34" charset="-120"/>
              </a:rPr>
              <a:t>“A call ends, an audio file is generated,</a:t>
            </a:r>
            <a:endParaRPr lang="en-US" sz="3400" dirty="0"/>
          </a:p>
          <a:p>
            <a:pPr indent="0" marL="0">
              <a:lnSpc>
                <a:spcPts val="4600"/>
              </a:lnSpc>
              <a:buNone/>
            </a:pPr>
            <a:r>
              <a:rPr lang="en-US" sz="3400" i="1" dirty="0">
                <a:solidFill>
                  <a:srgbClr val="FFFFFF"/>
                </a:solidFill>
                <a:latin typeface="Arial" pitchFamily="34" charset="0"/>
                <a:ea typeface="Arial" pitchFamily="34" charset="-122"/>
                <a:cs typeface="Arial" pitchFamily="34" charset="-120"/>
              </a:rPr>
              <a:t>and that file must be transferred</a:t>
            </a:r>
            <a:endParaRPr lang="en-US" sz="3400" dirty="0"/>
          </a:p>
          <a:p>
            <a:pPr indent="0" marL="0">
              <a:lnSpc>
                <a:spcPts val="4600"/>
              </a:lnSpc>
              <a:buNone/>
            </a:pPr>
            <a:r>
              <a:rPr lang="en-US" sz="3400" i="1" dirty="0">
                <a:solidFill>
                  <a:srgbClr val="FFFFFF"/>
                </a:solidFill>
                <a:latin typeface="Arial" pitchFamily="34" charset="0"/>
                <a:ea typeface="Arial" pitchFamily="34" charset="-122"/>
                <a:cs typeface="Arial" pitchFamily="34" charset="-120"/>
              </a:rPr>
              <a:t>into Capital One.”</a:t>
            </a:r>
            <a:endParaRPr lang="en-US" sz="3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SCALE</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Except it wasn't small</a:t>
            </a:r>
            <a:endParaRPr lang="en-US" sz="3200" dirty="0"/>
          </a:p>
        </p:txBody>
      </p:sp>
      <p:sp>
        <p:nvSpPr>
          <p:cNvPr id="6" name="Shape 4"/>
          <p:cNvSpPr/>
          <p:nvPr/>
        </p:nvSpPr>
        <p:spPr>
          <a:xfrm>
            <a:off x="685800" y="2697480"/>
            <a:ext cx="2499284" cy="1920240"/>
          </a:xfrm>
          <a:prstGeom prst="roundRect">
            <a:avLst>
              <a:gd name="adj" fmla="val 5714"/>
            </a:avLst>
          </a:prstGeom>
          <a:solidFill>
            <a:srgbClr val="EDF2F8"/>
          </a:solidFill>
          <a:ln/>
        </p:spPr>
      </p:sp>
      <p:sp>
        <p:nvSpPr>
          <p:cNvPr id="7" name="Text 5"/>
          <p:cNvSpPr/>
          <p:nvPr/>
        </p:nvSpPr>
        <p:spPr>
          <a:xfrm>
            <a:off x="868680" y="2990088"/>
            <a:ext cx="2133524" cy="914400"/>
          </a:xfrm>
          <a:prstGeom prst="rect">
            <a:avLst/>
          </a:prstGeom>
          <a:noFill/>
          <a:ln/>
        </p:spPr>
        <p:txBody>
          <a:bodyPr wrap="square" lIns="0" tIns="0" rIns="0" bIns="0" rtlCol="0" anchor="ctr"/>
          <a:lstStyle/>
          <a:p>
            <a:pPr algn="l" indent="0" marL="0">
              <a:buNone/>
            </a:pPr>
            <a:r>
              <a:rPr lang="en-US" sz="4400" b="1" dirty="0">
                <a:solidFill>
                  <a:srgbClr val="16233A"/>
                </a:solidFill>
                <a:latin typeface="Arial" pitchFamily="34" charset="0"/>
                <a:ea typeface="Arial" pitchFamily="34" charset="-122"/>
                <a:cs typeface="Arial" pitchFamily="34" charset="-120"/>
              </a:rPr>
              <a:t>1M+</a:t>
            </a:r>
            <a:endParaRPr lang="en-US" sz="4400" dirty="0"/>
          </a:p>
        </p:txBody>
      </p:sp>
      <p:sp>
        <p:nvSpPr>
          <p:cNvPr id="8" name="Text 6"/>
          <p:cNvSpPr/>
          <p:nvPr/>
        </p:nvSpPr>
        <p:spPr>
          <a:xfrm>
            <a:off x="868680" y="3904488"/>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calls a day</a:t>
            </a:r>
            <a:endParaRPr lang="en-US" sz="1300" dirty="0"/>
          </a:p>
        </p:txBody>
      </p:sp>
      <p:sp>
        <p:nvSpPr>
          <p:cNvPr id="9" name="Shape 7"/>
          <p:cNvSpPr/>
          <p:nvPr/>
        </p:nvSpPr>
        <p:spPr>
          <a:xfrm>
            <a:off x="3459404" y="2697480"/>
            <a:ext cx="2499284" cy="1920240"/>
          </a:xfrm>
          <a:prstGeom prst="roundRect">
            <a:avLst>
              <a:gd name="adj" fmla="val 5714"/>
            </a:avLst>
          </a:prstGeom>
          <a:solidFill>
            <a:srgbClr val="EDF2F8"/>
          </a:solidFill>
          <a:ln/>
        </p:spPr>
      </p:sp>
      <p:sp>
        <p:nvSpPr>
          <p:cNvPr id="10" name="Text 8"/>
          <p:cNvSpPr/>
          <p:nvPr/>
        </p:nvSpPr>
        <p:spPr>
          <a:xfrm>
            <a:off x="3642284" y="2990088"/>
            <a:ext cx="2133524" cy="914400"/>
          </a:xfrm>
          <a:prstGeom prst="rect">
            <a:avLst/>
          </a:prstGeom>
          <a:noFill/>
          <a:ln/>
        </p:spPr>
        <p:txBody>
          <a:bodyPr wrap="square" lIns="0" tIns="0" rIns="0" bIns="0" rtlCol="0" anchor="ctr"/>
          <a:lstStyle/>
          <a:p>
            <a:pPr algn="l" indent="0" marL="0">
              <a:buNone/>
            </a:pPr>
            <a:r>
              <a:rPr lang="en-US" sz="3400" b="1" dirty="0">
                <a:solidFill>
                  <a:srgbClr val="16233A"/>
                </a:solidFill>
                <a:latin typeface="Arial" pitchFamily="34" charset="0"/>
                <a:ea typeface="Arial" pitchFamily="34" charset="-122"/>
                <a:cs typeface="Arial" pitchFamily="34" charset="-120"/>
              </a:rPr>
              <a:t>5–6 MB</a:t>
            </a:r>
            <a:endParaRPr lang="en-US" sz="3400" dirty="0"/>
          </a:p>
        </p:txBody>
      </p:sp>
      <p:sp>
        <p:nvSpPr>
          <p:cNvPr id="11" name="Text 9"/>
          <p:cNvSpPr/>
          <p:nvPr/>
        </p:nvSpPr>
        <p:spPr>
          <a:xfrm>
            <a:off x="3642284" y="3904488"/>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per recording</a:t>
            </a:r>
            <a:endParaRPr lang="en-US" sz="1300" dirty="0"/>
          </a:p>
        </p:txBody>
      </p:sp>
      <p:sp>
        <p:nvSpPr>
          <p:cNvPr id="12" name="Shape 10"/>
          <p:cNvSpPr/>
          <p:nvPr/>
        </p:nvSpPr>
        <p:spPr>
          <a:xfrm>
            <a:off x="6233008" y="2697480"/>
            <a:ext cx="2499284" cy="1920240"/>
          </a:xfrm>
          <a:prstGeom prst="roundRect">
            <a:avLst>
              <a:gd name="adj" fmla="val 5714"/>
            </a:avLst>
          </a:prstGeom>
          <a:solidFill>
            <a:srgbClr val="EDF2F8"/>
          </a:solidFill>
          <a:ln/>
        </p:spPr>
      </p:sp>
      <p:sp>
        <p:nvSpPr>
          <p:cNvPr id="13" name="Text 11"/>
          <p:cNvSpPr/>
          <p:nvPr/>
        </p:nvSpPr>
        <p:spPr>
          <a:xfrm>
            <a:off x="6415888" y="2990088"/>
            <a:ext cx="2133524" cy="914400"/>
          </a:xfrm>
          <a:prstGeom prst="rect">
            <a:avLst/>
          </a:prstGeom>
          <a:noFill/>
          <a:ln/>
        </p:spPr>
        <p:txBody>
          <a:bodyPr wrap="square" lIns="0" tIns="0" rIns="0" bIns="0" rtlCol="0" anchor="ctr"/>
          <a:lstStyle/>
          <a:p>
            <a:pPr algn="l" indent="0" marL="0">
              <a:buNone/>
            </a:pPr>
            <a:r>
              <a:rPr lang="en-US" sz="3400" b="1" dirty="0">
                <a:solidFill>
                  <a:srgbClr val="16233A"/>
                </a:solidFill>
                <a:latin typeface="Arial" pitchFamily="34" charset="0"/>
                <a:ea typeface="Arial" pitchFamily="34" charset="-122"/>
                <a:cs typeface="Arial" pitchFamily="34" charset="-120"/>
              </a:rPr>
              <a:t>≈ 5.5 TB</a:t>
            </a:r>
            <a:endParaRPr lang="en-US" sz="3400" dirty="0"/>
          </a:p>
        </p:txBody>
      </p:sp>
      <p:sp>
        <p:nvSpPr>
          <p:cNvPr id="14" name="Text 12"/>
          <p:cNvSpPr/>
          <p:nvPr/>
        </p:nvSpPr>
        <p:spPr>
          <a:xfrm>
            <a:off x="6415888" y="3904488"/>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a day</a:t>
            </a:r>
            <a:endParaRPr lang="en-US" sz="1300" dirty="0"/>
          </a:p>
        </p:txBody>
      </p:sp>
      <p:sp>
        <p:nvSpPr>
          <p:cNvPr id="15" name="Shape 13"/>
          <p:cNvSpPr/>
          <p:nvPr/>
        </p:nvSpPr>
        <p:spPr>
          <a:xfrm>
            <a:off x="9006611" y="2697480"/>
            <a:ext cx="2499284" cy="1920240"/>
          </a:xfrm>
          <a:prstGeom prst="roundRect">
            <a:avLst>
              <a:gd name="adj" fmla="val 5714"/>
            </a:avLst>
          </a:prstGeom>
          <a:solidFill>
            <a:srgbClr val="EDF2F8"/>
          </a:solidFill>
          <a:ln/>
        </p:spPr>
      </p:sp>
      <p:sp>
        <p:nvSpPr>
          <p:cNvPr id="16" name="Text 14"/>
          <p:cNvSpPr/>
          <p:nvPr/>
        </p:nvSpPr>
        <p:spPr>
          <a:xfrm>
            <a:off x="9189491" y="2990088"/>
            <a:ext cx="2133524" cy="914400"/>
          </a:xfrm>
          <a:prstGeom prst="rect">
            <a:avLst/>
          </a:prstGeom>
          <a:noFill/>
          <a:ln/>
        </p:spPr>
        <p:txBody>
          <a:bodyPr wrap="square" lIns="0" tIns="0" rIns="0" bIns="0" rtlCol="0" anchor="ctr"/>
          <a:lstStyle/>
          <a:p>
            <a:pPr algn="l" indent="0" marL="0">
              <a:buNone/>
            </a:pPr>
            <a:r>
              <a:rPr lang="en-US" sz="4400" b="1" dirty="0">
                <a:solidFill>
                  <a:srgbClr val="E8743B"/>
                </a:solidFill>
                <a:latin typeface="Arial" pitchFamily="34" charset="0"/>
                <a:ea typeface="Arial" pitchFamily="34" charset="-122"/>
                <a:cs typeface="Arial" pitchFamily="34" charset="-120"/>
              </a:rPr>
              <a:t>0</a:t>
            </a:r>
            <a:endParaRPr lang="en-US" sz="4400" dirty="0"/>
          </a:p>
        </p:txBody>
      </p:sp>
      <p:sp>
        <p:nvSpPr>
          <p:cNvPr id="17" name="Text 15"/>
          <p:cNvSpPr/>
          <p:nvPr/>
        </p:nvSpPr>
        <p:spPr>
          <a:xfrm>
            <a:off x="9189491" y="3904488"/>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recordings may be lost</a:t>
            </a:r>
            <a:endParaRPr lang="en-US" sz="1300" dirty="0"/>
          </a:p>
        </p:txBody>
      </p:sp>
      <p:sp>
        <p:nvSpPr>
          <p:cNvPr id="18" name="Text 16"/>
          <p:cNvSpPr/>
          <p:nvPr/>
        </p:nvSpPr>
        <p:spPr>
          <a:xfrm>
            <a:off x="685800" y="5257800"/>
            <a:ext cx="10362895" cy="45720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These are Payments-regulated recordings. That is why the last number is zero.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CONSTRAINT</a:t>
            </a:r>
            <a:endParaRPr lang="en-US" sz="11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096"/>
              </a:lnSpc>
              <a:buNone/>
            </a:pPr>
            <a:r>
              <a:rPr lang="en-US" sz="3200" b="1" dirty="0">
                <a:solidFill>
                  <a:srgbClr val="16233A"/>
                </a:solidFill>
                <a:latin typeface="Arial" pitchFamily="34" charset="0"/>
                <a:ea typeface="Arial" pitchFamily="34" charset="-122"/>
                <a:cs typeface="Arial" pitchFamily="34" charset="-120"/>
              </a:rPr>
              <a:t>Every approved enterprise file-transfer</a:t>
            </a:r>
            <a:endParaRPr lang="en-US" sz="3200" dirty="0"/>
          </a:p>
          <a:p>
            <a:pPr algn="l" indent="0" marL="0">
              <a:lnSpc>
                <a:spcPts val="4096"/>
              </a:lnSpc>
              <a:buNone/>
            </a:pPr>
            <a:r>
              <a:rPr lang="en-US" sz="3200" b="1" dirty="0">
                <a:solidFill>
                  <a:srgbClr val="16233A"/>
                </a:solidFill>
                <a:latin typeface="Arial" pitchFamily="34" charset="0"/>
                <a:ea typeface="Arial" pitchFamily="34" charset="-122"/>
                <a:cs typeface="Arial" pitchFamily="34" charset="-120"/>
              </a:rPr>
              <a:t>mechanism: incompatible with the vendor.</a:t>
            </a:r>
            <a:endParaRPr lang="en-US" sz="3200" dirty="0"/>
          </a:p>
          <a:p>
            <a:pPr algn="l" indent="0" marL="0">
              <a:lnSpc>
                <a:spcPts val="4096"/>
              </a:lnSpc>
              <a:buNone/>
            </a:pPr>
            <a:r>
              <a:rPr lang="en-US" sz="3200" b="1" dirty="0">
                <a:solidFill>
                  <a:srgbClr val="00C08B"/>
                </a:solidFill>
                <a:latin typeface="Arial" pitchFamily="34" charset="0"/>
                <a:ea typeface="Arial" pitchFamily="34" charset="-122"/>
                <a:cs typeface="Arial" pitchFamily="34" charset="-120"/>
              </a:rPr>
              <a:t>One integration point survived: their API.</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VENDOR CAPABILITIES</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Two APIs, and the gap between them</a:t>
            </a:r>
            <a:endParaRPr lang="en-US" sz="3200" dirty="0"/>
          </a:p>
        </p:txBody>
      </p:sp>
      <p:sp>
        <p:nvSpPr>
          <p:cNvPr id="6" name="Shape 4"/>
          <p:cNvSpPr/>
          <p:nvPr/>
        </p:nvSpPr>
        <p:spPr>
          <a:xfrm>
            <a:off x="685800" y="2514600"/>
            <a:ext cx="5181448" cy="2377440"/>
          </a:xfrm>
          <a:prstGeom prst="roundRect">
            <a:avLst>
              <a:gd name="adj" fmla="val 5385"/>
            </a:avLst>
          </a:prstGeom>
          <a:solidFill>
            <a:srgbClr val="EDF2F8"/>
          </a:solidFill>
          <a:ln/>
        </p:spPr>
      </p:sp>
      <p:sp>
        <p:nvSpPr>
          <p:cNvPr id="7" name="Shape 5"/>
          <p:cNvSpPr/>
          <p:nvPr/>
        </p:nvSpPr>
        <p:spPr>
          <a:xfrm>
            <a:off x="6324448" y="2514600"/>
            <a:ext cx="5181448" cy="2377440"/>
          </a:xfrm>
          <a:prstGeom prst="roundRect">
            <a:avLst>
              <a:gd name="adj" fmla="val 5385"/>
            </a:avLst>
          </a:prstGeom>
          <a:solidFill>
            <a:srgbClr val="EDF2F8"/>
          </a:solidFill>
          <a:ln/>
        </p:spPr>
      </p:sp>
      <p:sp>
        <p:nvSpPr>
          <p:cNvPr id="8" name="Text 6"/>
          <p:cNvSpPr/>
          <p:nvPr/>
        </p:nvSpPr>
        <p:spPr>
          <a:xfrm>
            <a:off x="1005840" y="2743200"/>
            <a:ext cx="4541368" cy="411480"/>
          </a:xfrm>
          <a:prstGeom prst="rect">
            <a:avLst/>
          </a:prstGeom>
          <a:noFill/>
          <a:ln/>
        </p:spPr>
        <p:txBody>
          <a:bodyPr wrap="square" lIns="0" tIns="0" rIns="0" bIns="0" rtlCol="0" anchor="ctr"/>
          <a:lstStyle/>
          <a:p>
            <a:pPr indent="0" marL="0">
              <a:buNone/>
            </a:pPr>
            <a:r>
              <a:rPr lang="en-US" sz="2000" b="1" dirty="0">
                <a:solidFill>
                  <a:srgbClr val="16233A"/>
                </a:solidFill>
                <a:latin typeface="Arial" pitchFamily="34" charset="0"/>
                <a:ea typeface="Arial" pitchFamily="34" charset="-122"/>
                <a:cs typeface="Arial" pitchFamily="34" charset="-120"/>
              </a:rPr>
              <a:t>Streaming On Demand</a:t>
            </a:r>
            <a:endParaRPr lang="en-US" sz="2000" dirty="0"/>
          </a:p>
        </p:txBody>
      </p:sp>
      <p:sp>
        <p:nvSpPr>
          <p:cNvPr id="9" name="Text 7"/>
          <p:cNvSpPr/>
          <p:nvPr/>
        </p:nvSpPr>
        <p:spPr>
          <a:xfrm>
            <a:off x="1005840" y="3200400"/>
            <a:ext cx="4541368" cy="54864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Pushes the recording the moment the call ends.</a:t>
            </a:r>
            <a:endParaRPr lang="en-US" sz="1500" dirty="0"/>
          </a:p>
        </p:txBody>
      </p:sp>
      <p:sp>
        <p:nvSpPr>
          <p:cNvPr id="10" name="Text 8"/>
          <p:cNvSpPr/>
          <p:nvPr/>
        </p:nvSpPr>
        <p:spPr>
          <a:xfrm>
            <a:off x="1005840" y="3977640"/>
            <a:ext cx="4541368" cy="548640"/>
          </a:xfrm>
          <a:prstGeom prst="rect">
            <a:avLst/>
          </a:prstGeom>
          <a:noFill/>
          <a:ln/>
        </p:spPr>
        <p:txBody>
          <a:bodyPr wrap="square" lIns="0" tIns="0" rIns="0" bIns="0" rtlCol="0" anchor="ctr"/>
          <a:lstStyle/>
          <a:p>
            <a:pPr indent="0" marL="0">
              <a:buNone/>
            </a:pPr>
            <a:r>
              <a:rPr lang="en-US" sz="2400" b="1" dirty="0">
                <a:solidFill>
                  <a:srgbClr val="00C08B"/>
                </a:solidFill>
                <a:latin typeface="Arial" pitchFamily="34" charset="0"/>
                <a:ea typeface="Arial" pitchFamily="34" charset="-122"/>
                <a:cs typeface="Arial" pitchFamily="34" charset="-120"/>
              </a:rPr>
              <a:t>handled more than 90%</a:t>
            </a:r>
            <a:endParaRPr lang="en-US" sz="2400" dirty="0"/>
          </a:p>
        </p:txBody>
      </p:sp>
      <p:sp>
        <p:nvSpPr>
          <p:cNvPr id="11" name="Text 9"/>
          <p:cNvSpPr/>
          <p:nvPr/>
        </p:nvSpPr>
        <p:spPr>
          <a:xfrm>
            <a:off x="6644488" y="2743200"/>
            <a:ext cx="4541368" cy="411480"/>
          </a:xfrm>
          <a:prstGeom prst="rect">
            <a:avLst/>
          </a:prstGeom>
          <a:noFill/>
          <a:ln/>
        </p:spPr>
        <p:txBody>
          <a:bodyPr wrap="square" lIns="0" tIns="0" rIns="0" bIns="0" rtlCol="0" anchor="ctr"/>
          <a:lstStyle/>
          <a:p>
            <a:pPr indent="0" marL="0">
              <a:buNone/>
            </a:pPr>
            <a:r>
              <a:rPr lang="en-US" sz="2000" b="1" dirty="0">
                <a:solidFill>
                  <a:srgbClr val="16233A"/>
                </a:solidFill>
                <a:latin typeface="Arial" pitchFamily="34" charset="0"/>
                <a:ea typeface="Arial" pitchFamily="34" charset="-122"/>
                <a:cs typeface="Arial" pitchFamily="34" charset="-120"/>
              </a:rPr>
              <a:t>Batch Export</a:t>
            </a:r>
            <a:endParaRPr lang="en-US" sz="2000" dirty="0"/>
          </a:p>
        </p:txBody>
      </p:sp>
      <p:sp>
        <p:nvSpPr>
          <p:cNvPr id="12" name="Text 10"/>
          <p:cNvSpPr/>
          <p:nvPr/>
        </p:nvSpPr>
        <p:spPr>
          <a:xfrm>
            <a:off x="6644488" y="3200400"/>
            <a:ext cx="4541368" cy="64008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An async job that eventually produces ZIPs of thousands of recordings.</a:t>
            </a:r>
            <a:endParaRPr lang="en-US" sz="1500" dirty="0"/>
          </a:p>
        </p:txBody>
      </p:sp>
      <p:sp>
        <p:nvSpPr>
          <p:cNvPr id="13" name="Text 11"/>
          <p:cNvSpPr/>
          <p:nvPr/>
        </p:nvSpPr>
        <p:spPr>
          <a:xfrm>
            <a:off x="6644488" y="3977640"/>
            <a:ext cx="4541368" cy="548640"/>
          </a:xfrm>
          <a:prstGeom prst="rect">
            <a:avLst/>
          </a:prstGeom>
          <a:noFill/>
          <a:ln/>
        </p:spPr>
        <p:txBody>
          <a:bodyPr wrap="square" lIns="0" tIns="0" rIns="0" bIns="0" rtlCol="0" anchor="ctr"/>
          <a:lstStyle/>
          <a:p>
            <a:pPr indent="0" marL="0">
              <a:buNone/>
            </a:pPr>
            <a:r>
              <a:rPr lang="en-US" sz="2400" b="1" dirty="0">
                <a:solidFill>
                  <a:srgbClr val="E8743B"/>
                </a:solidFill>
                <a:latin typeface="Arial" pitchFamily="34" charset="0"/>
                <a:ea typeface="Arial" pitchFamily="34" charset="-122"/>
                <a:cs typeface="Arial" pitchFamily="34" charset="-120"/>
              </a:rPr>
              <a:t>recovers the rest</a:t>
            </a:r>
            <a:endParaRPr lang="en-US" sz="2400" dirty="0"/>
          </a:p>
        </p:txBody>
      </p:sp>
      <p:sp>
        <p:nvSpPr>
          <p:cNvPr id="14" name="Text 12"/>
          <p:cNvSpPr/>
          <p:nvPr/>
        </p:nvSpPr>
        <p:spPr>
          <a:xfrm>
            <a:off x="685800" y="5349240"/>
            <a:ext cx="10362895" cy="457200"/>
          </a:xfrm>
          <a:prstGeom prst="rect">
            <a:avLst/>
          </a:prstGeom>
          <a:noFill/>
          <a:ln/>
        </p:spPr>
        <p:txBody>
          <a:bodyPr wrap="square" lIns="0" tIns="0" rIns="0" bIns="0" rtlCol="0" anchor="ctr"/>
          <a:lstStyle/>
          <a:p>
            <a:pPr indent="0" marL="0">
              <a:buNone/>
            </a:pPr>
            <a:r>
              <a:rPr lang="en-US" sz="1700" i="1" dirty="0">
                <a:solidFill>
                  <a:srgbClr val="16233A"/>
                </a:solidFill>
                <a:latin typeface="Calibri" pitchFamily="34" charset="0"/>
                <a:ea typeface="Calibri" pitchFamily="34" charset="-122"/>
                <a:cs typeface="Calibri" pitchFamily="34" charset="-120"/>
              </a:rPr>
              <a:t>Ninety percent is a great result and a failing grade at the same time.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WORKFLOW</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The recovery path is a state machine</a:t>
            </a:r>
            <a:endParaRPr lang="en-US" sz="3200" dirty="0"/>
          </a:p>
        </p:txBody>
      </p:sp>
      <p:sp>
        <p:nvSpPr>
          <p:cNvPr id="6" name="Shape 4"/>
          <p:cNvSpPr/>
          <p:nvPr/>
        </p:nvSpPr>
        <p:spPr>
          <a:xfrm>
            <a:off x="685800" y="2606040"/>
            <a:ext cx="1915302" cy="1188720"/>
          </a:xfrm>
          <a:prstGeom prst="roundRect">
            <a:avLst>
              <a:gd name="adj" fmla="val 9231"/>
            </a:avLst>
          </a:prstGeom>
          <a:solidFill>
            <a:srgbClr val="EDF2F8"/>
          </a:solidFill>
          <a:ln/>
        </p:spPr>
      </p:sp>
      <p:sp>
        <p:nvSpPr>
          <p:cNvPr id="7" name="Text 5"/>
          <p:cNvSpPr/>
          <p:nvPr/>
        </p:nvSpPr>
        <p:spPr>
          <a:xfrm>
            <a:off x="832104" y="2606040"/>
            <a:ext cx="1622694"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Create</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export job</a:t>
            </a:r>
            <a:endParaRPr lang="en-US" sz="1400" dirty="0"/>
          </a:p>
        </p:txBody>
      </p:sp>
      <p:sp>
        <p:nvSpPr>
          <p:cNvPr id="8" name="Text 6"/>
          <p:cNvSpPr/>
          <p:nvPr/>
        </p:nvSpPr>
        <p:spPr>
          <a:xfrm>
            <a:off x="2601102" y="260604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606040"/>
            <a:ext cx="1915302" cy="1188720"/>
          </a:xfrm>
          <a:prstGeom prst="roundRect">
            <a:avLst>
              <a:gd name="adj" fmla="val 9231"/>
            </a:avLst>
          </a:prstGeom>
          <a:solidFill>
            <a:srgbClr val="EDF2F8"/>
          </a:solidFill>
          <a:ln/>
        </p:spPr>
      </p:sp>
      <p:sp>
        <p:nvSpPr>
          <p:cNvPr id="10" name="Text 8"/>
          <p:cNvSpPr/>
          <p:nvPr/>
        </p:nvSpPr>
        <p:spPr>
          <a:xfrm>
            <a:off x="3058302" y="2606040"/>
            <a:ext cx="1622694"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Poll until</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complete</a:t>
            </a:r>
            <a:endParaRPr lang="en-US" sz="1400" dirty="0"/>
          </a:p>
        </p:txBody>
      </p:sp>
      <p:sp>
        <p:nvSpPr>
          <p:cNvPr id="11" name="Text 9"/>
          <p:cNvSpPr/>
          <p:nvPr/>
        </p:nvSpPr>
        <p:spPr>
          <a:xfrm>
            <a:off x="4827300" y="260604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606040"/>
            <a:ext cx="1915302" cy="1188720"/>
          </a:xfrm>
          <a:prstGeom prst="roundRect">
            <a:avLst>
              <a:gd name="adj" fmla="val 9231"/>
            </a:avLst>
          </a:prstGeom>
          <a:solidFill>
            <a:srgbClr val="EDF2F8"/>
          </a:solidFill>
          <a:ln/>
        </p:spPr>
      </p:sp>
      <p:sp>
        <p:nvSpPr>
          <p:cNvPr id="13" name="Text 11"/>
          <p:cNvSpPr/>
          <p:nvPr/>
        </p:nvSpPr>
        <p:spPr>
          <a:xfrm>
            <a:off x="5284500" y="2606040"/>
            <a:ext cx="1622694"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Fetch</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metadata</a:t>
            </a:r>
            <a:endParaRPr lang="en-US" sz="1400" dirty="0"/>
          </a:p>
        </p:txBody>
      </p:sp>
      <p:sp>
        <p:nvSpPr>
          <p:cNvPr id="14" name="Text 12"/>
          <p:cNvSpPr/>
          <p:nvPr/>
        </p:nvSpPr>
        <p:spPr>
          <a:xfrm>
            <a:off x="7053499" y="260604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606040"/>
            <a:ext cx="1915302" cy="1188720"/>
          </a:xfrm>
          <a:prstGeom prst="roundRect">
            <a:avLst>
              <a:gd name="adj" fmla="val 9231"/>
            </a:avLst>
          </a:prstGeom>
          <a:solidFill>
            <a:srgbClr val="EDF2F8"/>
          </a:solidFill>
          <a:ln/>
        </p:spPr>
      </p:sp>
      <p:sp>
        <p:nvSpPr>
          <p:cNvPr id="16" name="Text 14"/>
          <p:cNvSpPr/>
          <p:nvPr/>
        </p:nvSpPr>
        <p:spPr>
          <a:xfrm>
            <a:off x="7510699" y="2606040"/>
            <a:ext cx="1622694"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Download</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paginated ZIPs</a:t>
            </a:r>
            <a:endParaRPr lang="en-US" sz="1400" dirty="0"/>
          </a:p>
        </p:txBody>
      </p:sp>
      <p:sp>
        <p:nvSpPr>
          <p:cNvPr id="17" name="Text 15"/>
          <p:cNvSpPr/>
          <p:nvPr/>
        </p:nvSpPr>
        <p:spPr>
          <a:xfrm>
            <a:off x="9279697" y="260604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606040"/>
            <a:ext cx="1915302" cy="1188720"/>
          </a:xfrm>
          <a:prstGeom prst="roundRect">
            <a:avLst>
              <a:gd name="adj" fmla="val 9231"/>
            </a:avLst>
          </a:prstGeom>
          <a:solidFill>
            <a:srgbClr val="EDF2F8"/>
          </a:solidFill>
          <a:ln/>
        </p:spPr>
      </p:sp>
      <p:sp>
        <p:nvSpPr>
          <p:cNvPr id="19" name="Text 17"/>
          <p:cNvSpPr/>
          <p:nvPr/>
        </p:nvSpPr>
        <p:spPr>
          <a:xfrm>
            <a:off x="9736897" y="2606040"/>
            <a:ext cx="1622694"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Extract</a:t>
            </a:r>
            <a:endParaRPr lang="en-US" sz="1400" dirty="0"/>
          </a:p>
        </p:txBody>
      </p:sp>
      <p:sp>
        <p:nvSpPr>
          <p:cNvPr id="20" name="Text 18"/>
          <p:cNvSpPr/>
          <p:nvPr/>
        </p:nvSpPr>
        <p:spPr>
          <a:xfrm>
            <a:off x="685800" y="4434840"/>
            <a:ext cx="10820095" cy="548640"/>
          </a:xfrm>
          <a:prstGeom prst="rect">
            <a:avLst/>
          </a:prstGeom>
          <a:noFill/>
          <a:ln/>
        </p:spPr>
        <p:txBody>
          <a:bodyPr wrap="square" lIns="0" tIns="0" rIns="0" bIns="0" rtlCol="0" anchor="ctr"/>
          <a:lstStyle/>
          <a:p>
            <a:pPr indent="0" marL="0">
              <a:buNone/>
            </a:pPr>
            <a:r>
              <a:rPr lang="en-US" sz="2400" b="1" dirty="0">
                <a:solidFill>
                  <a:srgbClr val="16233A"/>
                </a:solidFill>
                <a:latin typeface="Arial" pitchFamily="34" charset="0"/>
                <a:ea typeface="Arial" pitchFamily="34" charset="-122"/>
                <a:cs typeface="Arial" pitchFamily="34" charset="-120"/>
              </a:rPr>
              <a:t>Long-running.  Asynchronous.  Fails in the middle.</a:t>
            </a:r>
            <a:endParaRPr lang="en-US" sz="2400" dirty="0"/>
          </a:p>
        </p:txBody>
      </p:sp>
      <p:sp>
        <p:nvSpPr>
          <p:cNvPr id="21" name="Text 19"/>
          <p:cNvSpPr/>
          <p:nvPr/>
        </p:nvSpPr>
        <p:spPr>
          <a:xfrm>
            <a:off x="685800" y="5349240"/>
            <a:ext cx="10362895" cy="54864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Prototyped: Step Functions · a hand-rolled state machine · Saga · event-driven.  Step Functions + TypeScript won.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096"/>
              </a:lnSpc>
              <a:buNone/>
            </a:pPr>
            <a:r>
              <a:rPr lang="en-US" sz="3200" b="1" dirty="0">
                <a:solidFill>
                  <a:srgbClr val="FFFFFF"/>
                </a:solidFill>
                <a:latin typeface="Arial" pitchFamily="34" charset="0"/>
                <a:ea typeface="Arial" pitchFamily="34" charset="-122"/>
                <a:cs typeface="Arial" pitchFamily="34" charset="-120"/>
              </a:rPr>
              <a:t>At the time, AWS SAM had no practical support</a:t>
            </a:r>
            <a:endParaRPr lang="en-US" sz="3200" dirty="0"/>
          </a:p>
          <a:p>
            <a:pPr algn="l" indent="0" marL="0">
              <a:lnSpc>
                <a:spcPts val="4096"/>
              </a:lnSpc>
              <a:buNone/>
            </a:pPr>
            <a:r>
              <a:rPr lang="en-US" sz="3200" b="1" dirty="0">
                <a:solidFill>
                  <a:srgbClr val="FFFFFF"/>
                </a:solidFill>
                <a:latin typeface="Arial" pitchFamily="34" charset="0"/>
                <a:ea typeface="Arial" pitchFamily="34" charset="-122"/>
                <a:cs typeface="Arial" pitchFamily="34" charset="-120"/>
              </a:rPr>
              <a:t>for developing and debugging Step Functions</a:t>
            </a:r>
            <a:endParaRPr lang="en-US" sz="3200" dirty="0"/>
          </a:p>
          <a:p>
            <a:pPr algn="l" indent="0" marL="0">
              <a:lnSpc>
                <a:spcPts val="4096"/>
              </a:lnSpc>
              <a:buNone/>
            </a:pPr>
            <a:r>
              <a:rPr lang="en-US" sz="3200" b="1" dirty="0">
                <a:solidFill>
                  <a:srgbClr val="00C08B"/>
                </a:solidFill>
                <a:latin typeface="Arial" pitchFamily="34" charset="0"/>
                <a:ea typeface="Arial" pitchFamily="34" charset="-122"/>
                <a:cs typeface="Arial" pitchFamily="34" charset="-120"/>
              </a:rPr>
              <a:t>locally.</a:t>
            </a:r>
            <a:endParaRPr lang="en-US" sz="3200" dirty="0"/>
          </a:p>
        </p:txBody>
      </p:sp>
      <p:sp>
        <p:nvSpPr>
          <p:cNvPr id="6" name="Text 4"/>
          <p:cNvSpPr/>
          <p:nvPr/>
        </p:nvSpPr>
        <p:spPr>
          <a:xfrm>
            <a:off x="685800" y="5257800"/>
            <a:ext cx="9905695" cy="640080"/>
          </a:xfrm>
          <a:prstGeom prst="rect">
            <a:avLst/>
          </a:prstGeom>
          <a:noFill/>
          <a:ln/>
        </p:spPr>
        <p:txBody>
          <a:bodyPr wrap="square" lIns="0" tIns="0" rIns="0" bIns="0" rtlCol="0" anchor="ctr"/>
          <a:lstStyle/>
          <a:p>
            <a:pPr indent="0" marL="0">
              <a:buNone/>
            </a:pPr>
            <a:r>
              <a:rPr lang="en-US" sz="1600" dirty="0">
                <a:solidFill>
                  <a:srgbClr val="8FA3BF"/>
                </a:solidFill>
                <a:latin typeface="Calibri" pitchFamily="34" charset="0"/>
                <a:ea typeface="Calibri" pitchFamily="34" charset="-122"/>
                <a:cs typeface="Calibri" pitchFamily="34" charset="-120"/>
              </a:rPr>
              <a:t>Fine for a single Lambda. Not for an orchestration with multiple Lambdas, async callbacks, retries, waits and polling loops.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LOOP</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What one change cost</a:t>
            </a:r>
            <a:endParaRPr lang="en-US" sz="3200" dirty="0"/>
          </a:p>
        </p:txBody>
      </p:sp>
      <p:sp>
        <p:nvSpPr>
          <p:cNvPr id="6" name="Shape 4"/>
          <p:cNvSpPr/>
          <p:nvPr/>
        </p:nvSpPr>
        <p:spPr>
          <a:xfrm>
            <a:off x="685800" y="2286000"/>
            <a:ext cx="402336" cy="402336"/>
          </a:xfrm>
          <a:prstGeom prst="roundRect">
            <a:avLst>
              <a:gd name="adj" fmla="val 25000"/>
            </a:avLst>
          </a:prstGeom>
          <a:solidFill>
            <a:srgbClr val="EDF2F8"/>
          </a:solidFill>
          <a:ln/>
        </p:spPr>
      </p:sp>
      <p:sp>
        <p:nvSpPr>
          <p:cNvPr id="7" name="Text 5"/>
          <p:cNvSpPr/>
          <p:nvPr/>
        </p:nvSpPr>
        <p:spPr>
          <a:xfrm>
            <a:off x="685800" y="22860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286000"/>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Deploy infrastructure</a:t>
            </a:r>
            <a:endParaRPr lang="en-US" sz="1700" dirty="0"/>
          </a:p>
        </p:txBody>
      </p:sp>
      <p:sp>
        <p:nvSpPr>
          <p:cNvPr id="9" name="Shape 7"/>
          <p:cNvSpPr/>
          <p:nvPr/>
        </p:nvSpPr>
        <p:spPr>
          <a:xfrm>
            <a:off x="685800" y="2944368"/>
            <a:ext cx="402336" cy="402336"/>
          </a:xfrm>
          <a:prstGeom prst="roundRect">
            <a:avLst>
              <a:gd name="adj" fmla="val 25000"/>
            </a:avLst>
          </a:prstGeom>
          <a:solidFill>
            <a:srgbClr val="EDF2F8"/>
          </a:solidFill>
          <a:ln/>
        </p:spPr>
      </p:sp>
      <p:sp>
        <p:nvSpPr>
          <p:cNvPr id="10" name="Text 8"/>
          <p:cNvSpPr/>
          <p:nvPr/>
        </p:nvSpPr>
        <p:spPr>
          <a:xfrm>
            <a:off x="685800" y="2944368"/>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2944368"/>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Wait for the pipeline</a:t>
            </a:r>
            <a:endParaRPr lang="en-US" sz="1700" dirty="0"/>
          </a:p>
        </p:txBody>
      </p:sp>
      <p:sp>
        <p:nvSpPr>
          <p:cNvPr id="12" name="Shape 10"/>
          <p:cNvSpPr/>
          <p:nvPr/>
        </p:nvSpPr>
        <p:spPr>
          <a:xfrm>
            <a:off x="685800" y="3602736"/>
            <a:ext cx="402336" cy="402336"/>
          </a:xfrm>
          <a:prstGeom prst="roundRect">
            <a:avLst>
              <a:gd name="adj" fmla="val 25000"/>
            </a:avLst>
          </a:prstGeom>
          <a:solidFill>
            <a:srgbClr val="EDF2F8"/>
          </a:solidFill>
          <a:ln/>
        </p:spPr>
      </p:sp>
      <p:sp>
        <p:nvSpPr>
          <p:cNvPr id="13" name="Text 11"/>
          <p:cNvSpPr/>
          <p:nvPr/>
        </p:nvSpPr>
        <p:spPr>
          <a:xfrm>
            <a:off x="685800" y="3602736"/>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602736"/>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Execute the workflow remotely</a:t>
            </a:r>
            <a:endParaRPr lang="en-US" sz="1700" dirty="0"/>
          </a:p>
        </p:txBody>
      </p:sp>
      <p:sp>
        <p:nvSpPr>
          <p:cNvPr id="15" name="Shape 13"/>
          <p:cNvSpPr/>
          <p:nvPr/>
        </p:nvSpPr>
        <p:spPr>
          <a:xfrm>
            <a:off x="685800" y="4261104"/>
            <a:ext cx="402336" cy="402336"/>
          </a:xfrm>
          <a:prstGeom prst="roundRect">
            <a:avLst>
              <a:gd name="adj" fmla="val 25000"/>
            </a:avLst>
          </a:prstGeom>
          <a:solidFill>
            <a:srgbClr val="EDF2F8"/>
          </a:solidFill>
          <a:ln/>
        </p:spPr>
      </p:sp>
      <p:sp>
        <p:nvSpPr>
          <p:cNvPr id="16" name="Text 14"/>
          <p:cNvSpPr/>
          <p:nvPr/>
        </p:nvSpPr>
        <p:spPr>
          <a:xfrm>
            <a:off x="685800" y="4261104"/>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4261104"/>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Collect logs from several services</a:t>
            </a:r>
            <a:endParaRPr lang="en-US" sz="1700" dirty="0"/>
          </a:p>
        </p:txBody>
      </p:sp>
      <p:sp>
        <p:nvSpPr>
          <p:cNvPr id="18" name="Shape 16"/>
          <p:cNvSpPr/>
          <p:nvPr/>
        </p:nvSpPr>
        <p:spPr>
          <a:xfrm>
            <a:off x="685800" y="4919472"/>
            <a:ext cx="402336" cy="402336"/>
          </a:xfrm>
          <a:prstGeom prst="roundRect">
            <a:avLst>
              <a:gd name="adj" fmla="val 25000"/>
            </a:avLst>
          </a:prstGeom>
          <a:solidFill>
            <a:srgbClr val="EDF2F8"/>
          </a:solidFill>
          <a:ln/>
        </p:spPr>
      </p:sp>
      <p:sp>
        <p:nvSpPr>
          <p:cNvPr id="19" name="Text 17"/>
          <p:cNvSpPr/>
          <p:nvPr/>
        </p:nvSpPr>
        <p:spPr>
          <a:xfrm>
            <a:off x="685800" y="4919472"/>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20" name="Text 18"/>
          <p:cNvSpPr/>
          <p:nvPr/>
        </p:nvSpPr>
        <p:spPr>
          <a:xfrm>
            <a:off x="1344168" y="4919472"/>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Diagnose</a:t>
            </a:r>
            <a:endParaRPr lang="en-US" sz="1700" dirty="0"/>
          </a:p>
        </p:txBody>
      </p:sp>
      <p:sp>
        <p:nvSpPr>
          <p:cNvPr id="21" name="Shape 19"/>
          <p:cNvSpPr/>
          <p:nvPr/>
        </p:nvSpPr>
        <p:spPr>
          <a:xfrm>
            <a:off x="685800" y="5577840"/>
            <a:ext cx="402336" cy="402336"/>
          </a:xfrm>
          <a:prstGeom prst="roundRect">
            <a:avLst>
              <a:gd name="adj" fmla="val 25000"/>
            </a:avLst>
          </a:prstGeom>
          <a:solidFill>
            <a:srgbClr val="EDF2F8"/>
          </a:solidFill>
          <a:ln/>
        </p:spPr>
      </p:sp>
      <p:sp>
        <p:nvSpPr>
          <p:cNvPr id="22" name="Text 20"/>
          <p:cNvSpPr/>
          <p:nvPr/>
        </p:nvSpPr>
        <p:spPr>
          <a:xfrm>
            <a:off x="685800" y="55778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23" name="Text 21"/>
          <p:cNvSpPr/>
          <p:nvPr/>
        </p:nvSpPr>
        <p:spPr>
          <a:xfrm>
            <a:off x="1344168" y="5577840"/>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Repeat</a:t>
            </a:r>
            <a:endParaRPr lang="en-US" sz="1700" dirty="0"/>
          </a:p>
        </p:txBody>
      </p:sp>
      <p:sp>
        <p:nvSpPr>
          <p:cNvPr id="24" name="Shape 22"/>
          <p:cNvSpPr/>
          <p:nvPr/>
        </p:nvSpPr>
        <p:spPr>
          <a:xfrm>
            <a:off x="8138160" y="2286000"/>
            <a:ext cx="3383280" cy="3584448"/>
          </a:xfrm>
          <a:prstGeom prst="roundRect">
            <a:avLst>
              <a:gd name="adj" fmla="val 3784"/>
            </a:avLst>
          </a:prstGeom>
          <a:solidFill>
            <a:srgbClr val="0E1626"/>
          </a:solidFill>
          <a:ln/>
        </p:spPr>
      </p:sp>
      <p:sp>
        <p:nvSpPr>
          <p:cNvPr id="25" name="Text 23"/>
          <p:cNvSpPr/>
          <p:nvPr/>
        </p:nvSpPr>
        <p:spPr>
          <a:xfrm>
            <a:off x="8458200" y="3246120"/>
            <a:ext cx="2834640" cy="914400"/>
          </a:xfrm>
          <a:prstGeom prst="rect">
            <a:avLst/>
          </a:prstGeom>
          <a:noFill/>
          <a:ln/>
        </p:spPr>
        <p:txBody>
          <a:bodyPr wrap="square" lIns="0" tIns="0" rIns="0" bIns="0" rtlCol="0" anchor="ctr"/>
          <a:lstStyle/>
          <a:p>
            <a:pPr indent="0" marL="0">
              <a:buNone/>
            </a:pPr>
            <a:r>
              <a:rPr lang="en-US" sz="4600" b="1" dirty="0">
                <a:solidFill>
                  <a:srgbClr val="E8743B"/>
                </a:solidFill>
                <a:latin typeface="Arial" pitchFamily="34" charset="0"/>
                <a:ea typeface="Arial" pitchFamily="34" charset="-122"/>
                <a:cs typeface="Arial" pitchFamily="34" charset="-120"/>
              </a:rPr>
              <a:t>[N] min</a:t>
            </a:r>
            <a:endParaRPr lang="en-US" sz="4600" dirty="0"/>
          </a:p>
        </p:txBody>
      </p:sp>
      <p:sp>
        <p:nvSpPr>
          <p:cNvPr id="26" name="Text 24"/>
          <p:cNvSpPr/>
          <p:nvPr/>
        </p:nvSpPr>
        <p:spPr>
          <a:xfrm>
            <a:off x="8458200" y="4251960"/>
            <a:ext cx="2834640" cy="45720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one iteration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685800" y="2926080"/>
            <a:ext cx="914400" cy="548640"/>
          </a:xfrm>
          <a:prstGeom prst="rect">
            <a:avLst/>
          </a:prstGeom>
          <a:noFill/>
          <a:ln/>
        </p:spPr>
        <p:txBody>
          <a:bodyPr wrap="square" lIns="0" tIns="0" rIns="0" bIns="0" rtlCol="0" anchor="ctr"/>
          <a:lstStyle/>
          <a:p>
            <a:pPr indent="0" marL="0">
              <a:buNone/>
            </a:pPr>
            <a:r>
              <a:rPr lang="en-US" sz="4000" dirty="0">
                <a:solidFill>
                  <a:srgbClr val="1A2A45"/>
                </a:solidFill>
                <a:latin typeface="Arial" pitchFamily="34" charset="0"/>
                <a:ea typeface="Arial" pitchFamily="34" charset="-122"/>
                <a:cs typeface="Arial" pitchFamily="34" charset="-120"/>
              </a:rPr>
              <a:t>—</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352"/>
              </a:lnSpc>
              <a:buNone/>
            </a:pPr>
            <a:r>
              <a:rPr lang="en-US" sz="3400" dirty="0">
                <a:solidFill>
                  <a:srgbClr val="8FA3BF"/>
                </a:solidFill>
                <a:latin typeface="Arial" pitchFamily="34" charset="0"/>
                <a:ea typeface="Arial" pitchFamily="34" charset="-122"/>
                <a:cs typeface="Arial" pitchFamily="34" charset="-120"/>
              </a:rPr>
              <a:t>The real cost wasn't slowness.</a:t>
            </a:r>
            <a:endParaRPr lang="en-US" sz="3400" dirty="0"/>
          </a:p>
          <a:p>
            <a:pPr algn="l" indent="0" marL="0">
              <a:lnSpc>
                <a:spcPts val="4352"/>
              </a:lnSpc>
              <a:buNone/>
            </a:pPr>
            <a:r>
              <a:rPr lang="en-US" sz="3400" b="1" dirty="0">
                <a:solidFill>
                  <a:srgbClr val="FFFFFF"/>
                </a:solidFill>
                <a:latin typeface="Arial" pitchFamily="34" charset="0"/>
                <a:ea typeface="Arial" pitchFamily="34" charset="-122"/>
                <a:cs typeface="Arial" pitchFamily="34" charset="-120"/>
              </a:rPr>
              <a:t>At that price, you stop testing alternatives.</a:t>
            </a:r>
            <a:endParaRPr lang="en-US" sz="3400" dirty="0"/>
          </a:p>
          <a:p>
            <a:pPr algn="l" indent="0" marL="0">
              <a:lnSpc>
                <a:spcPts val="4352"/>
              </a:lnSpc>
              <a:buNone/>
            </a:pPr>
            <a:r>
              <a:rPr lang="en-US" sz="3400" b="1" dirty="0">
                <a:solidFill>
                  <a:srgbClr val="00C08B"/>
                </a:solidFill>
                <a:latin typeface="Arial" pitchFamily="34" charset="0"/>
                <a:ea typeface="Arial" pitchFamily="34" charset="-122"/>
                <a:cs typeface="Arial" pitchFamily="34" charset="-120"/>
              </a:rPr>
              <a:t>You start deciding by opinion.</a:t>
            </a:r>
            <a:endParaRPr lang="en-US" sz="3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DECISION</a:t>
            </a:r>
            <a:endParaRPr lang="en-US" sz="11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864"/>
              </a:lnSpc>
              <a:buNone/>
            </a:pPr>
            <a:r>
              <a:rPr lang="en-US" sz="3800" b="1" dirty="0">
                <a:solidFill>
                  <a:srgbClr val="16233A"/>
                </a:solidFill>
                <a:latin typeface="Arial" pitchFamily="34" charset="0"/>
                <a:ea typeface="Arial" pitchFamily="34" charset="-122"/>
                <a:cs typeface="Arial" pitchFamily="34" charset="-120"/>
              </a:rPr>
              <a:t>Build the environment that runs</a:t>
            </a:r>
            <a:endParaRPr lang="en-US" sz="3800" dirty="0"/>
          </a:p>
          <a:p>
            <a:pPr algn="l" indent="0" marL="0">
              <a:lnSpc>
                <a:spcPts val="4864"/>
              </a:lnSpc>
              <a:buNone/>
            </a:pPr>
            <a:r>
              <a:rPr lang="en-US" sz="3800" b="1" dirty="0">
                <a:solidFill>
                  <a:srgbClr val="16233A"/>
                </a:solidFill>
                <a:latin typeface="Arial" pitchFamily="34" charset="0"/>
                <a:ea typeface="Arial" pitchFamily="34" charset="-122"/>
                <a:cs typeface="Arial" pitchFamily="34" charset="-120"/>
              </a:rPr>
              <a:t>the whole platform on a laptop.</a:t>
            </a:r>
            <a:endParaRPr lang="en-US" sz="3800" dirty="0"/>
          </a:p>
          <a:p>
            <a:pPr algn="l" indent="0" marL="0">
              <a:lnSpc>
                <a:spcPts val="4864"/>
              </a:lnSpc>
              <a:buNone/>
            </a:pPr>
            <a:r>
              <a:rPr lang="en-US" sz="3800" b="1" dirty="0">
                <a:solidFill>
                  <a:srgbClr val="00C08B"/>
                </a:solidFill>
                <a:latin typeface="Arial" pitchFamily="34" charset="0"/>
                <a:ea typeface="Arial" pitchFamily="34" charset="-122"/>
                <a:cs typeface="Arial" pitchFamily="34" charset="-120"/>
              </a:rPr>
              <a:t>First.</a:t>
            </a:r>
            <a:endParaRPr lang="en-US" sz="3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LOCALSTACK</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The whole thing, running locally</a:t>
            </a:r>
            <a:endParaRPr lang="en-US" sz="3200" dirty="0"/>
          </a:p>
        </p:txBody>
      </p:sp>
      <p:sp>
        <p:nvSpPr>
          <p:cNvPr id="6" name="Shape 4"/>
          <p:cNvSpPr/>
          <p:nvPr/>
        </p:nvSpPr>
        <p:spPr>
          <a:xfrm>
            <a:off x="685800" y="2606040"/>
            <a:ext cx="1915302" cy="914400"/>
          </a:xfrm>
          <a:prstGeom prst="roundRect">
            <a:avLst>
              <a:gd name="adj" fmla="val 12000"/>
            </a:avLst>
          </a:prstGeom>
          <a:solidFill>
            <a:srgbClr val="EDF2F8"/>
          </a:solidFill>
          <a:ln/>
        </p:spPr>
      </p:sp>
      <p:sp>
        <p:nvSpPr>
          <p:cNvPr id="7" name="Text 5"/>
          <p:cNvSpPr/>
          <p:nvPr/>
        </p:nvSpPr>
        <p:spPr>
          <a:xfrm>
            <a:off x="832104" y="2606040"/>
            <a:ext cx="1622694"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Step Functions</a:t>
            </a:r>
            <a:endParaRPr lang="en-US" sz="1500" dirty="0"/>
          </a:p>
        </p:txBody>
      </p:sp>
      <p:sp>
        <p:nvSpPr>
          <p:cNvPr id="8" name="Text 6"/>
          <p:cNvSpPr/>
          <p:nvPr/>
        </p:nvSpPr>
        <p:spPr>
          <a:xfrm>
            <a:off x="2601102" y="260604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606040"/>
            <a:ext cx="1915302" cy="914400"/>
          </a:xfrm>
          <a:prstGeom prst="roundRect">
            <a:avLst>
              <a:gd name="adj" fmla="val 12000"/>
            </a:avLst>
          </a:prstGeom>
          <a:solidFill>
            <a:srgbClr val="EDF2F8"/>
          </a:solidFill>
          <a:ln/>
        </p:spPr>
      </p:sp>
      <p:sp>
        <p:nvSpPr>
          <p:cNvPr id="10" name="Text 8"/>
          <p:cNvSpPr/>
          <p:nvPr/>
        </p:nvSpPr>
        <p:spPr>
          <a:xfrm>
            <a:off x="3058302" y="2606040"/>
            <a:ext cx="1622694"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Lambda</a:t>
            </a:r>
            <a:endParaRPr lang="en-US" sz="1500" dirty="0"/>
          </a:p>
        </p:txBody>
      </p:sp>
      <p:sp>
        <p:nvSpPr>
          <p:cNvPr id="11" name="Text 9"/>
          <p:cNvSpPr/>
          <p:nvPr/>
        </p:nvSpPr>
        <p:spPr>
          <a:xfrm>
            <a:off x="4827300" y="260604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606040"/>
            <a:ext cx="1915302" cy="914400"/>
          </a:xfrm>
          <a:prstGeom prst="roundRect">
            <a:avLst>
              <a:gd name="adj" fmla="val 12000"/>
            </a:avLst>
          </a:prstGeom>
          <a:solidFill>
            <a:srgbClr val="EDF2F8"/>
          </a:solidFill>
          <a:ln/>
        </p:spPr>
      </p:sp>
      <p:sp>
        <p:nvSpPr>
          <p:cNvPr id="13" name="Text 11"/>
          <p:cNvSpPr/>
          <p:nvPr/>
        </p:nvSpPr>
        <p:spPr>
          <a:xfrm>
            <a:off x="5284500" y="2606040"/>
            <a:ext cx="1622694"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DynamoDB</a:t>
            </a:r>
            <a:endParaRPr lang="en-US" sz="1500" dirty="0"/>
          </a:p>
        </p:txBody>
      </p:sp>
      <p:sp>
        <p:nvSpPr>
          <p:cNvPr id="14" name="Text 12"/>
          <p:cNvSpPr/>
          <p:nvPr/>
        </p:nvSpPr>
        <p:spPr>
          <a:xfrm>
            <a:off x="7053499" y="260604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606040"/>
            <a:ext cx="1915302" cy="914400"/>
          </a:xfrm>
          <a:prstGeom prst="roundRect">
            <a:avLst>
              <a:gd name="adj" fmla="val 12000"/>
            </a:avLst>
          </a:prstGeom>
          <a:solidFill>
            <a:srgbClr val="EDF2F8"/>
          </a:solidFill>
          <a:ln/>
        </p:spPr>
      </p:sp>
      <p:sp>
        <p:nvSpPr>
          <p:cNvPr id="16" name="Text 14"/>
          <p:cNvSpPr/>
          <p:nvPr/>
        </p:nvSpPr>
        <p:spPr>
          <a:xfrm>
            <a:off x="7510699" y="2606040"/>
            <a:ext cx="1622694"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SQS</a:t>
            </a:r>
            <a:endParaRPr lang="en-US" sz="1500" dirty="0"/>
          </a:p>
        </p:txBody>
      </p:sp>
      <p:sp>
        <p:nvSpPr>
          <p:cNvPr id="17" name="Text 15"/>
          <p:cNvSpPr/>
          <p:nvPr/>
        </p:nvSpPr>
        <p:spPr>
          <a:xfrm>
            <a:off x="9279697" y="260604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606040"/>
            <a:ext cx="1915302" cy="914400"/>
          </a:xfrm>
          <a:prstGeom prst="roundRect">
            <a:avLst>
              <a:gd name="adj" fmla="val 12000"/>
            </a:avLst>
          </a:prstGeom>
          <a:solidFill>
            <a:srgbClr val="EDF2F8"/>
          </a:solidFill>
          <a:ln/>
        </p:spPr>
      </p:sp>
      <p:sp>
        <p:nvSpPr>
          <p:cNvPr id="19" name="Text 17"/>
          <p:cNvSpPr/>
          <p:nvPr/>
        </p:nvSpPr>
        <p:spPr>
          <a:xfrm>
            <a:off x="9736897" y="2606040"/>
            <a:ext cx="1622694"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S3</a:t>
            </a:r>
            <a:endParaRPr lang="en-US" sz="1500" dirty="0"/>
          </a:p>
        </p:txBody>
      </p:sp>
      <p:sp>
        <p:nvSpPr>
          <p:cNvPr id="20" name="Shape 18"/>
          <p:cNvSpPr/>
          <p:nvPr/>
        </p:nvSpPr>
        <p:spPr>
          <a:xfrm>
            <a:off x="685800" y="3977640"/>
            <a:ext cx="10820095" cy="1234440"/>
          </a:xfrm>
          <a:prstGeom prst="roundRect">
            <a:avLst>
              <a:gd name="adj" fmla="val 10370"/>
            </a:avLst>
          </a:prstGeom>
          <a:solidFill>
            <a:srgbClr val="0E1626"/>
          </a:solidFill>
          <a:ln/>
        </p:spPr>
      </p:sp>
      <p:sp>
        <p:nvSpPr>
          <p:cNvPr id="21" name="Text 19"/>
          <p:cNvSpPr/>
          <p:nvPr/>
        </p:nvSpPr>
        <p:spPr>
          <a:xfrm>
            <a:off x="1051560" y="3977640"/>
            <a:ext cx="10088575" cy="1234440"/>
          </a:xfrm>
          <a:prstGeom prst="rect">
            <a:avLst/>
          </a:prstGeom>
          <a:noFill/>
          <a:ln/>
        </p:spPr>
        <p:txBody>
          <a:bodyPr wrap="square" lIns="0" tIns="0" rIns="0" bIns="0" rtlCol="0" anchor="ctr"/>
          <a:lstStyle/>
          <a:p>
            <a:pPr indent="0" marL="0">
              <a:buNone/>
            </a:pPr>
            <a:r>
              <a:rPr lang="en-US" sz="2400" b="1" dirty="0">
                <a:solidFill>
                  <a:srgbClr val="00C08B"/>
                </a:solidFill>
                <a:latin typeface="Arial" pitchFamily="34" charset="0"/>
                <a:ea typeface="Arial" pitchFamily="34" charset="-122"/>
                <a:cs typeface="Arial" pitchFamily="34" charset="-120"/>
              </a:rPr>
              <a:t>Stood up from the same CDK definitions as production.</a:t>
            </a:r>
            <a:endParaRPr lang="en-US" sz="2400" dirty="0"/>
          </a:p>
        </p:txBody>
      </p:sp>
      <p:sp>
        <p:nvSpPr>
          <p:cNvPr id="22" name="Text 20"/>
          <p:cNvSpPr/>
          <p:nvPr/>
        </p:nvSpPr>
        <p:spPr>
          <a:xfrm>
            <a:off x="685800" y="5532120"/>
            <a:ext cx="10362895" cy="54864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Not a hand-written approximation of production. Production's own definitions, pointed somewhere else.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MISSING HALF</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LocalStack alone wasn't enough</a:t>
            </a:r>
            <a:endParaRPr lang="en-US" sz="3200" dirty="0"/>
          </a:p>
        </p:txBody>
      </p:sp>
      <p:sp>
        <p:nvSpPr>
          <p:cNvPr id="6" name="Shape 4"/>
          <p:cNvSpPr/>
          <p:nvPr/>
        </p:nvSpPr>
        <p:spPr>
          <a:xfrm>
            <a:off x="685800" y="2286000"/>
            <a:ext cx="3411626" cy="1170432"/>
          </a:xfrm>
          <a:prstGeom prst="roundRect">
            <a:avLst>
              <a:gd name="adj" fmla="val 9375"/>
            </a:avLst>
          </a:prstGeom>
          <a:solidFill>
            <a:srgbClr val="EDF2F8"/>
          </a:solidFill>
          <a:ln/>
        </p:spPr>
      </p:sp>
      <p:sp>
        <p:nvSpPr>
          <p:cNvPr id="7" name="Text 5"/>
          <p:cNvSpPr/>
          <p:nvPr/>
        </p:nvSpPr>
        <p:spPr>
          <a:xfrm>
            <a:off x="914400" y="2487168"/>
            <a:ext cx="2954426" cy="54864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Prepare local infrastructure</a:t>
            </a:r>
            <a:endParaRPr lang="en-US" sz="1600" dirty="0"/>
          </a:p>
        </p:txBody>
      </p:sp>
      <p:sp>
        <p:nvSpPr>
          <p:cNvPr id="8" name="Text 6"/>
          <p:cNvSpPr/>
          <p:nvPr/>
        </p:nvSpPr>
        <p:spPr>
          <a:xfrm>
            <a:off x="914400" y="3017520"/>
            <a:ext cx="2954426" cy="41148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cold laptop to running stack</a:t>
            </a:r>
            <a:endParaRPr lang="en-US" sz="1300" dirty="0"/>
          </a:p>
        </p:txBody>
      </p:sp>
      <p:sp>
        <p:nvSpPr>
          <p:cNvPr id="9" name="Shape 7"/>
          <p:cNvSpPr/>
          <p:nvPr/>
        </p:nvSpPr>
        <p:spPr>
          <a:xfrm>
            <a:off x="4390034" y="2286000"/>
            <a:ext cx="3411626" cy="1170432"/>
          </a:xfrm>
          <a:prstGeom prst="roundRect">
            <a:avLst>
              <a:gd name="adj" fmla="val 9375"/>
            </a:avLst>
          </a:prstGeom>
          <a:solidFill>
            <a:srgbClr val="EDF2F8"/>
          </a:solidFill>
          <a:ln/>
        </p:spPr>
      </p:sp>
      <p:sp>
        <p:nvSpPr>
          <p:cNvPr id="10" name="Text 8"/>
          <p:cNvSpPr/>
          <p:nvPr/>
        </p:nvSpPr>
        <p:spPr>
          <a:xfrm>
            <a:off x="4618634" y="2487168"/>
            <a:ext cx="2954426" cy="54864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Deploy the CDK stack locally</a:t>
            </a:r>
            <a:endParaRPr lang="en-US" sz="1600" dirty="0"/>
          </a:p>
        </p:txBody>
      </p:sp>
      <p:sp>
        <p:nvSpPr>
          <p:cNvPr id="11" name="Text 9"/>
          <p:cNvSpPr/>
          <p:nvPr/>
        </p:nvSpPr>
        <p:spPr>
          <a:xfrm>
            <a:off x="4618634" y="3017520"/>
            <a:ext cx="2954426" cy="41148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same definitions, no AWS account</a:t>
            </a:r>
            <a:endParaRPr lang="en-US" sz="1300" dirty="0"/>
          </a:p>
        </p:txBody>
      </p:sp>
      <p:sp>
        <p:nvSpPr>
          <p:cNvPr id="12" name="Shape 10"/>
          <p:cNvSpPr/>
          <p:nvPr/>
        </p:nvSpPr>
        <p:spPr>
          <a:xfrm>
            <a:off x="8094269" y="2286000"/>
            <a:ext cx="3411626" cy="1170432"/>
          </a:xfrm>
          <a:prstGeom prst="roundRect">
            <a:avLst>
              <a:gd name="adj" fmla="val 9375"/>
            </a:avLst>
          </a:prstGeom>
          <a:solidFill>
            <a:srgbClr val="EDF2F8"/>
          </a:solidFill>
          <a:ln/>
        </p:spPr>
      </p:sp>
      <p:sp>
        <p:nvSpPr>
          <p:cNvPr id="13" name="Text 11"/>
          <p:cNvSpPr/>
          <p:nvPr/>
        </p:nvSpPr>
        <p:spPr>
          <a:xfrm>
            <a:off x="8322869" y="2487168"/>
            <a:ext cx="2954426" cy="54864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Generate test data</a:t>
            </a:r>
            <a:endParaRPr lang="en-US" sz="1600" dirty="0"/>
          </a:p>
        </p:txBody>
      </p:sp>
      <p:sp>
        <p:nvSpPr>
          <p:cNvPr id="14" name="Text 12"/>
          <p:cNvSpPr/>
          <p:nvPr/>
        </p:nvSpPr>
        <p:spPr>
          <a:xfrm>
            <a:off x="8322869" y="3017520"/>
            <a:ext cx="2954426" cy="41148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realistic calls and export jobs</a:t>
            </a:r>
            <a:endParaRPr lang="en-US" sz="1300" dirty="0"/>
          </a:p>
        </p:txBody>
      </p:sp>
      <p:sp>
        <p:nvSpPr>
          <p:cNvPr id="15" name="Shape 13"/>
          <p:cNvSpPr/>
          <p:nvPr/>
        </p:nvSpPr>
        <p:spPr>
          <a:xfrm>
            <a:off x="685800" y="3767328"/>
            <a:ext cx="3411626" cy="1170432"/>
          </a:xfrm>
          <a:prstGeom prst="roundRect">
            <a:avLst>
              <a:gd name="adj" fmla="val 9375"/>
            </a:avLst>
          </a:prstGeom>
          <a:solidFill>
            <a:srgbClr val="EDF2F8"/>
          </a:solidFill>
          <a:ln/>
        </p:spPr>
      </p:sp>
      <p:sp>
        <p:nvSpPr>
          <p:cNvPr id="16" name="Text 14"/>
          <p:cNvSpPr/>
          <p:nvPr/>
        </p:nvSpPr>
        <p:spPr>
          <a:xfrm>
            <a:off x="914400" y="3968496"/>
            <a:ext cx="2954426" cy="54864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Execute the state machine</a:t>
            </a:r>
            <a:endParaRPr lang="en-US" sz="1600" dirty="0"/>
          </a:p>
        </p:txBody>
      </p:sp>
      <p:sp>
        <p:nvSpPr>
          <p:cNvPr id="17" name="Text 15"/>
          <p:cNvSpPr/>
          <p:nvPr/>
        </p:nvSpPr>
        <p:spPr>
          <a:xfrm>
            <a:off x="914400" y="4498848"/>
            <a:ext cx="2954426" cy="41148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one command, one execution</a:t>
            </a:r>
            <a:endParaRPr lang="en-US" sz="1300" dirty="0"/>
          </a:p>
        </p:txBody>
      </p:sp>
      <p:sp>
        <p:nvSpPr>
          <p:cNvPr id="18" name="Shape 16"/>
          <p:cNvSpPr/>
          <p:nvPr/>
        </p:nvSpPr>
        <p:spPr>
          <a:xfrm>
            <a:off x="4390034" y="3767328"/>
            <a:ext cx="3411626" cy="1170432"/>
          </a:xfrm>
          <a:prstGeom prst="roundRect">
            <a:avLst>
              <a:gd name="adj" fmla="val 9375"/>
            </a:avLst>
          </a:prstGeom>
          <a:solidFill>
            <a:srgbClr val="EDF2F8"/>
          </a:solidFill>
          <a:ln/>
        </p:spPr>
      </p:sp>
      <p:sp>
        <p:nvSpPr>
          <p:cNvPr id="19" name="Text 17"/>
          <p:cNvSpPr/>
          <p:nvPr/>
        </p:nvSpPr>
        <p:spPr>
          <a:xfrm>
            <a:off x="4618634" y="3968496"/>
            <a:ext cx="2954426" cy="54864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Reset the environment</a:t>
            </a:r>
            <a:endParaRPr lang="en-US" sz="1600" dirty="0"/>
          </a:p>
        </p:txBody>
      </p:sp>
      <p:sp>
        <p:nvSpPr>
          <p:cNvPr id="20" name="Text 18"/>
          <p:cNvSpPr/>
          <p:nvPr/>
        </p:nvSpPr>
        <p:spPr>
          <a:xfrm>
            <a:off x="4618634" y="4498848"/>
            <a:ext cx="2954426" cy="41148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back to clean in seconds</a:t>
            </a:r>
            <a:endParaRPr lang="en-US" sz="1300" dirty="0"/>
          </a:p>
        </p:txBody>
      </p:sp>
      <p:sp>
        <p:nvSpPr>
          <p:cNvPr id="21" name="Shape 19"/>
          <p:cNvSpPr/>
          <p:nvPr/>
        </p:nvSpPr>
        <p:spPr>
          <a:xfrm>
            <a:off x="8094269" y="3767328"/>
            <a:ext cx="3411626" cy="1170432"/>
          </a:xfrm>
          <a:prstGeom prst="roundRect">
            <a:avLst>
              <a:gd name="adj" fmla="val 9375"/>
            </a:avLst>
          </a:prstGeom>
          <a:solidFill>
            <a:srgbClr val="EDF2F8"/>
          </a:solidFill>
          <a:ln/>
        </p:spPr>
      </p:sp>
      <p:sp>
        <p:nvSpPr>
          <p:cNvPr id="22" name="Text 20"/>
          <p:cNvSpPr/>
          <p:nvPr/>
        </p:nvSpPr>
        <p:spPr>
          <a:xfrm>
            <a:off x="8322869" y="3968496"/>
            <a:ext cx="2954426" cy="54864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Automate the repetitive parts</a:t>
            </a:r>
            <a:endParaRPr lang="en-US" sz="1600" dirty="0"/>
          </a:p>
        </p:txBody>
      </p:sp>
      <p:sp>
        <p:nvSpPr>
          <p:cNvPr id="23" name="Text 21"/>
          <p:cNvSpPr/>
          <p:nvPr/>
        </p:nvSpPr>
        <p:spPr>
          <a:xfrm>
            <a:off x="8322869" y="4498848"/>
            <a:ext cx="2954426" cy="41148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the same five commands, every day</a:t>
            </a:r>
            <a:endParaRPr lang="en-US" sz="1300" dirty="0"/>
          </a:p>
        </p:txBody>
      </p:sp>
      <p:sp>
        <p:nvSpPr>
          <p:cNvPr id="24" name="Text 22"/>
          <p:cNvSpPr/>
          <p:nvPr/>
        </p:nvSpPr>
        <p:spPr>
          <a:xfrm>
            <a:off x="685800" y="5532120"/>
            <a:ext cx="10362895" cy="457200"/>
          </a:xfrm>
          <a:prstGeom prst="rect">
            <a:avLst/>
          </a:prstGeom>
          <a:noFill/>
          <a:ln/>
        </p:spPr>
        <p:txBody>
          <a:bodyPr wrap="square" lIns="0" tIns="0" rIns="0" bIns="0" rtlCol="0" anchor="ctr"/>
          <a:lstStyle/>
          <a:p>
            <a:pPr indent="0" marL="0">
              <a:buNone/>
            </a:pPr>
            <a:r>
              <a:rPr lang="en-US" sz="1700" b="1" dirty="0">
                <a:solidFill>
                  <a:srgbClr val="00C08B"/>
                </a:solidFill>
                <a:latin typeface="Arial" pitchFamily="34" charset="0"/>
                <a:ea typeface="Arial" pitchFamily="34" charset="-122"/>
                <a:cs typeface="Arial" pitchFamily="34" charset="-120"/>
              </a:rPr>
              <a:t>A few commands, from cold laptop to a running execution.</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DISTRIBUTED TRACING</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One execution, one timeline</a:t>
            </a:r>
            <a:endParaRPr lang="en-US" sz="3200" dirty="0"/>
          </a:p>
        </p:txBody>
      </p:sp>
      <p:sp>
        <p:nvSpPr>
          <p:cNvPr id="6" name="Shape 4"/>
          <p:cNvSpPr/>
          <p:nvPr/>
        </p:nvSpPr>
        <p:spPr>
          <a:xfrm>
            <a:off x="685800" y="2606040"/>
            <a:ext cx="2471852" cy="1143000"/>
          </a:xfrm>
          <a:prstGeom prst="roundRect">
            <a:avLst>
              <a:gd name="adj" fmla="val 9600"/>
            </a:avLst>
          </a:prstGeom>
          <a:solidFill>
            <a:srgbClr val="EDF2F8"/>
          </a:solidFill>
          <a:ln/>
        </p:spPr>
      </p:sp>
      <p:sp>
        <p:nvSpPr>
          <p:cNvPr id="7" name="Text 5"/>
          <p:cNvSpPr/>
          <p:nvPr/>
        </p:nvSpPr>
        <p:spPr>
          <a:xfrm>
            <a:off x="832104" y="2606040"/>
            <a:ext cx="2179244"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Collect logs from</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every Lambda</a:t>
            </a:r>
            <a:endParaRPr lang="en-US" sz="1500" dirty="0"/>
          </a:p>
        </p:txBody>
      </p:sp>
      <p:sp>
        <p:nvSpPr>
          <p:cNvPr id="8" name="Text 6"/>
          <p:cNvSpPr/>
          <p:nvPr/>
        </p:nvSpPr>
        <p:spPr>
          <a:xfrm>
            <a:off x="3157652" y="260604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68548" y="2606040"/>
            <a:ext cx="2471852" cy="1143000"/>
          </a:xfrm>
          <a:prstGeom prst="roundRect">
            <a:avLst>
              <a:gd name="adj" fmla="val 9600"/>
            </a:avLst>
          </a:prstGeom>
          <a:solidFill>
            <a:srgbClr val="EDF2F8"/>
          </a:solidFill>
          <a:ln/>
        </p:spPr>
      </p:sp>
      <p:sp>
        <p:nvSpPr>
          <p:cNvPr id="10" name="Text 8"/>
          <p:cNvSpPr/>
          <p:nvPr/>
        </p:nvSpPr>
        <p:spPr>
          <a:xfrm>
            <a:off x="3614852" y="2606040"/>
            <a:ext cx="2179244"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Correlate into</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one timeline</a:t>
            </a:r>
            <a:endParaRPr lang="en-US" sz="1500" dirty="0"/>
          </a:p>
        </p:txBody>
      </p:sp>
      <p:sp>
        <p:nvSpPr>
          <p:cNvPr id="11" name="Text 9"/>
          <p:cNvSpPr/>
          <p:nvPr/>
        </p:nvSpPr>
        <p:spPr>
          <a:xfrm>
            <a:off x="5940400" y="260604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6251296" y="2606040"/>
            <a:ext cx="2471852" cy="1143000"/>
          </a:xfrm>
          <a:prstGeom prst="roundRect">
            <a:avLst>
              <a:gd name="adj" fmla="val 9600"/>
            </a:avLst>
          </a:prstGeom>
          <a:solidFill>
            <a:srgbClr val="EDF2F8"/>
          </a:solidFill>
          <a:ln/>
        </p:spPr>
      </p:sp>
      <p:sp>
        <p:nvSpPr>
          <p:cNvPr id="13" name="Text 11"/>
          <p:cNvSpPr/>
          <p:nvPr/>
        </p:nvSpPr>
        <p:spPr>
          <a:xfrm>
            <a:off x="6397600" y="2606040"/>
            <a:ext cx="2179244"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Follow the state</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transitions</a:t>
            </a:r>
            <a:endParaRPr lang="en-US" sz="1500" dirty="0"/>
          </a:p>
        </p:txBody>
      </p:sp>
      <p:sp>
        <p:nvSpPr>
          <p:cNvPr id="14" name="Text 12"/>
          <p:cNvSpPr/>
          <p:nvPr/>
        </p:nvSpPr>
        <p:spPr>
          <a:xfrm>
            <a:off x="8723147" y="260604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9034043" y="2606040"/>
            <a:ext cx="2471852" cy="1143000"/>
          </a:xfrm>
          <a:prstGeom prst="roundRect">
            <a:avLst>
              <a:gd name="adj" fmla="val 9600"/>
            </a:avLst>
          </a:prstGeom>
          <a:solidFill>
            <a:srgbClr val="EDF2F8"/>
          </a:solidFill>
          <a:ln/>
        </p:spPr>
      </p:sp>
      <p:sp>
        <p:nvSpPr>
          <p:cNvPr id="16" name="Text 14"/>
          <p:cNvSpPr/>
          <p:nvPr/>
        </p:nvSpPr>
        <p:spPr>
          <a:xfrm>
            <a:off x="9180347" y="2606040"/>
            <a:ext cx="2179244"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Reconstruct</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the flow</a:t>
            </a:r>
            <a:endParaRPr lang="en-US" sz="1500" dirty="0"/>
          </a:p>
        </p:txBody>
      </p:sp>
      <p:sp>
        <p:nvSpPr>
          <p:cNvPr id="17" name="Shape 15"/>
          <p:cNvSpPr/>
          <p:nvPr/>
        </p:nvSpPr>
        <p:spPr>
          <a:xfrm>
            <a:off x="685800" y="4251960"/>
            <a:ext cx="10820095" cy="1097280"/>
          </a:xfrm>
          <a:prstGeom prst="roundRect">
            <a:avLst>
              <a:gd name="adj" fmla="val 11667"/>
            </a:avLst>
          </a:prstGeom>
          <a:solidFill>
            <a:srgbClr val="0E1626"/>
          </a:solidFill>
          <a:ln/>
        </p:spPr>
      </p:sp>
      <p:sp>
        <p:nvSpPr>
          <p:cNvPr id="18" name="Text 16"/>
          <p:cNvSpPr/>
          <p:nvPr/>
        </p:nvSpPr>
        <p:spPr>
          <a:xfrm>
            <a:off x="1051560" y="4251960"/>
            <a:ext cx="10088575" cy="1097280"/>
          </a:xfrm>
          <a:prstGeom prst="rect">
            <a:avLst/>
          </a:prstGeom>
          <a:noFill/>
          <a:ln/>
        </p:spPr>
        <p:txBody>
          <a:bodyPr wrap="square" lIns="0" tIns="0" rIns="0" bIns="0" rtlCol="0" anchor="ctr"/>
          <a:lstStyle/>
          <a:p>
            <a:pPr indent="0" marL="0">
              <a:buNone/>
            </a:pPr>
            <a:r>
              <a:rPr lang="en-US" sz="2200" b="1" dirty="0">
                <a:solidFill>
                  <a:srgbClr val="00C08B"/>
                </a:solidFill>
                <a:latin typeface="Arial" pitchFamily="34" charset="0"/>
                <a:ea typeface="Arial" pitchFamily="34" charset="-122"/>
                <a:cs typeface="Arial" pitchFamily="34" charset="-120"/>
              </a:rPr>
              <a:t>Works against local, Dev and QA.</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VISUALIZATION</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And then you can just look at it</a:t>
            </a:r>
            <a:endParaRPr lang="en-US" sz="3200" dirty="0"/>
          </a:p>
        </p:txBody>
      </p:sp>
      <p:sp>
        <p:nvSpPr>
          <p:cNvPr id="6" name="Shape 4"/>
          <p:cNvSpPr/>
          <p:nvPr/>
        </p:nvSpPr>
        <p:spPr>
          <a:xfrm>
            <a:off x="685800" y="2194560"/>
            <a:ext cx="6766560" cy="3246120"/>
          </a:xfrm>
          <a:prstGeom prst="roundRect">
            <a:avLst>
              <a:gd name="adj" fmla="val 3944"/>
            </a:avLst>
          </a:prstGeom>
          <a:solidFill>
            <a:srgbClr val="EDF2F8"/>
          </a:solidFill>
          <a:ln/>
        </p:spPr>
      </p:sp>
      <p:sp>
        <p:nvSpPr>
          <p:cNvPr id="7" name="Text 5"/>
          <p:cNvSpPr/>
          <p:nvPr/>
        </p:nvSpPr>
        <p:spPr>
          <a:xfrm>
            <a:off x="960120" y="2194560"/>
            <a:ext cx="6217920" cy="3246120"/>
          </a:xfrm>
          <a:prstGeom prst="rect">
            <a:avLst/>
          </a:prstGeom>
          <a:noFill/>
          <a:ln/>
        </p:spPr>
        <p:txBody>
          <a:bodyPr wrap="square" lIns="0" tIns="0" rIns="0" bIns="0" rtlCol="0" anchor="ctr"/>
          <a:lstStyle/>
          <a:p>
            <a:pPr algn="ctr" indent="0" marL="0">
              <a:buNone/>
            </a:pPr>
            <a:r>
              <a:rPr lang="en-US" sz="1500" dirty="0">
                <a:solidFill>
                  <a:srgbClr val="6B7B93"/>
                </a:solidFill>
                <a:latin typeface="Calibri" pitchFamily="34" charset="0"/>
                <a:ea typeface="Calibri" pitchFamily="34" charset="-122"/>
                <a:cs typeface="Calibri" pitchFamily="34" charset="-120"/>
              </a:rPr>
              <a:t>[ screenshot of the workflow UI goes here ]</a:t>
            </a:r>
            <a:endParaRPr lang="en-US" sz="1500" dirty="0"/>
          </a:p>
        </p:txBody>
      </p:sp>
      <p:sp>
        <p:nvSpPr>
          <p:cNvPr id="8" name="Shape 6"/>
          <p:cNvSpPr/>
          <p:nvPr/>
        </p:nvSpPr>
        <p:spPr>
          <a:xfrm>
            <a:off x="7818120" y="2404872"/>
            <a:ext cx="146304" cy="146304"/>
          </a:xfrm>
          <a:prstGeom prst="roundRect">
            <a:avLst>
              <a:gd name="adj" fmla="val 31250"/>
            </a:avLst>
          </a:prstGeom>
          <a:solidFill>
            <a:srgbClr val="00C08B"/>
          </a:solidFill>
          <a:ln/>
        </p:spPr>
      </p:sp>
      <p:sp>
        <p:nvSpPr>
          <p:cNvPr id="9" name="Text 7"/>
          <p:cNvSpPr/>
          <p:nvPr/>
        </p:nvSpPr>
        <p:spPr>
          <a:xfrm>
            <a:off x="8138160" y="2286000"/>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State machine progress</a:t>
            </a:r>
            <a:endParaRPr lang="en-US" sz="1500" dirty="0"/>
          </a:p>
        </p:txBody>
      </p:sp>
      <p:sp>
        <p:nvSpPr>
          <p:cNvPr id="10" name="Shape 8"/>
          <p:cNvSpPr/>
          <p:nvPr/>
        </p:nvSpPr>
        <p:spPr>
          <a:xfrm>
            <a:off x="7818120" y="2935224"/>
            <a:ext cx="146304" cy="146304"/>
          </a:xfrm>
          <a:prstGeom prst="roundRect">
            <a:avLst>
              <a:gd name="adj" fmla="val 31250"/>
            </a:avLst>
          </a:prstGeom>
          <a:solidFill>
            <a:srgbClr val="00C08B"/>
          </a:solidFill>
          <a:ln/>
        </p:spPr>
      </p:sp>
      <p:sp>
        <p:nvSpPr>
          <p:cNvPr id="11" name="Text 9"/>
          <p:cNvSpPr/>
          <p:nvPr/>
        </p:nvSpPr>
        <p:spPr>
          <a:xfrm>
            <a:off x="8138160" y="2816352"/>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Current and previous state</a:t>
            </a:r>
            <a:endParaRPr lang="en-US" sz="1500" dirty="0"/>
          </a:p>
        </p:txBody>
      </p:sp>
      <p:sp>
        <p:nvSpPr>
          <p:cNvPr id="12" name="Shape 10"/>
          <p:cNvSpPr/>
          <p:nvPr/>
        </p:nvSpPr>
        <p:spPr>
          <a:xfrm>
            <a:off x="7818120" y="3465576"/>
            <a:ext cx="146304" cy="146304"/>
          </a:xfrm>
          <a:prstGeom prst="roundRect">
            <a:avLst>
              <a:gd name="adj" fmla="val 31250"/>
            </a:avLst>
          </a:prstGeom>
          <a:solidFill>
            <a:srgbClr val="00C08B"/>
          </a:solidFill>
          <a:ln/>
        </p:spPr>
      </p:sp>
      <p:sp>
        <p:nvSpPr>
          <p:cNvPr id="13" name="Text 11"/>
          <p:cNvSpPr/>
          <p:nvPr/>
        </p:nvSpPr>
        <p:spPr>
          <a:xfrm>
            <a:off x="8138160" y="3346704"/>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Lambda invocations</a:t>
            </a:r>
            <a:endParaRPr lang="en-US" sz="1500" dirty="0"/>
          </a:p>
        </p:txBody>
      </p:sp>
      <p:sp>
        <p:nvSpPr>
          <p:cNvPr id="14" name="Shape 12"/>
          <p:cNvSpPr/>
          <p:nvPr/>
        </p:nvSpPr>
        <p:spPr>
          <a:xfrm>
            <a:off x="7818120" y="3995928"/>
            <a:ext cx="146304" cy="146304"/>
          </a:xfrm>
          <a:prstGeom prst="roundRect">
            <a:avLst>
              <a:gd name="adj" fmla="val 31250"/>
            </a:avLst>
          </a:prstGeom>
          <a:solidFill>
            <a:srgbClr val="00C08B"/>
          </a:solidFill>
          <a:ln/>
        </p:spPr>
      </p:sp>
      <p:sp>
        <p:nvSpPr>
          <p:cNvPr id="15" name="Text 13"/>
          <p:cNvSpPr/>
          <p:nvPr/>
        </p:nvSpPr>
        <p:spPr>
          <a:xfrm>
            <a:off x="8138160" y="3877056"/>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Execution history</a:t>
            </a:r>
            <a:endParaRPr lang="en-US" sz="1500" dirty="0"/>
          </a:p>
        </p:txBody>
      </p:sp>
      <p:sp>
        <p:nvSpPr>
          <p:cNvPr id="16" name="Shape 14"/>
          <p:cNvSpPr/>
          <p:nvPr/>
        </p:nvSpPr>
        <p:spPr>
          <a:xfrm>
            <a:off x="7818120" y="4526280"/>
            <a:ext cx="146304" cy="146304"/>
          </a:xfrm>
          <a:prstGeom prst="roundRect">
            <a:avLst>
              <a:gd name="adj" fmla="val 31250"/>
            </a:avLst>
          </a:prstGeom>
          <a:solidFill>
            <a:srgbClr val="00C08B"/>
          </a:solidFill>
          <a:ln/>
        </p:spPr>
      </p:sp>
      <p:sp>
        <p:nvSpPr>
          <p:cNvPr id="17" name="Text 15"/>
          <p:cNvSpPr/>
          <p:nvPr/>
        </p:nvSpPr>
        <p:spPr>
          <a:xfrm>
            <a:off x="8138160" y="440740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Correlated logs</a:t>
            </a:r>
            <a:endParaRPr lang="en-US" sz="1500" dirty="0"/>
          </a:p>
        </p:txBody>
      </p:sp>
      <p:sp>
        <p:nvSpPr>
          <p:cNvPr id="18" name="Shape 16"/>
          <p:cNvSpPr/>
          <p:nvPr/>
        </p:nvSpPr>
        <p:spPr>
          <a:xfrm>
            <a:off x="7818120" y="5056632"/>
            <a:ext cx="146304" cy="146304"/>
          </a:xfrm>
          <a:prstGeom prst="roundRect">
            <a:avLst>
              <a:gd name="adj" fmla="val 31250"/>
            </a:avLst>
          </a:prstGeom>
          <a:solidFill>
            <a:srgbClr val="00C08B"/>
          </a:solidFill>
          <a:ln/>
        </p:spPr>
      </p:sp>
      <p:sp>
        <p:nvSpPr>
          <p:cNvPr id="19" name="Text 17"/>
          <p:cNvSpPr/>
          <p:nvPr/>
        </p:nvSpPr>
        <p:spPr>
          <a:xfrm>
            <a:off x="8138160" y="4937760"/>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Execution timing</a:t>
            </a:r>
            <a:endParaRPr lang="en-US" sz="1500" dirty="0"/>
          </a:p>
        </p:txBody>
      </p:sp>
      <p:sp>
        <p:nvSpPr>
          <p:cNvPr id="20" name="Text 18"/>
          <p:cNvSpPr/>
          <p:nvPr/>
        </p:nvSpPr>
        <p:spPr>
          <a:xfrm>
            <a:off x="685800" y="5669280"/>
            <a:ext cx="10362895" cy="457200"/>
          </a:xfrm>
          <a:prstGeom prst="rect">
            <a:avLst/>
          </a:prstGeom>
          <a:noFill/>
          <a:ln/>
        </p:spPr>
        <p:txBody>
          <a:bodyPr wrap="square" lIns="0" tIns="0" rIns="0" bIns="0" rtlCol="0" anchor="ctr"/>
          <a:lstStyle/>
          <a:p>
            <a:pPr indent="0" marL="0">
              <a:buNone/>
            </a:pPr>
            <a:r>
              <a:rPr lang="en-US" sz="1700" b="1" dirty="0">
                <a:solidFill>
                  <a:srgbClr val="16233A"/>
                </a:solidFill>
                <a:latin typeface="Arial" pitchFamily="34" charset="0"/>
                <a:ea typeface="Arial" pitchFamily="34" charset="-122"/>
                <a:cs typeface="Arial" pitchFamily="34" charset="-120"/>
              </a:rPr>
              <a:t>Debugging stopped being log reading and became reading a workflow.</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LOOP, AFTER</a:t>
            </a:r>
            <a:endParaRPr lang="en-US" sz="1100" dirty="0"/>
          </a:p>
        </p:txBody>
      </p:sp>
      <p:sp>
        <p:nvSpPr>
          <p:cNvPr id="6" name="Shape 4"/>
          <p:cNvSpPr/>
          <p:nvPr/>
        </p:nvSpPr>
        <p:spPr>
          <a:xfrm>
            <a:off x="685800" y="2240280"/>
            <a:ext cx="5135728" cy="2834640"/>
          </a:xfrm>
          <a:prstGeom prst="roundRect">
            <a:avLst>
              <a:gd name="adj" fmla="val 5161"/>
            </a:avLst>
          </a:prstGeom>
          <a:solidFill>
            <a:srgbClr val="1A2A45"/>
          </a:solidFill>
          <a:ln/>
        </p:spPr>
      </p:sp>
      <p:sp>
        <p:nvSpPr>
          <p:cNvPr id="7" name="Shape 5"/>
          <p:cNvSpPr/>
          <p:nvPr/>
        </p:nvSpPr>
        <p:spPr>
          <a:xfrm>
            <a:off x="6370168" y="2240280"/>
            <a:ext cx="5135728" cy="2834640"/>
          </a:xfrm>
          <a:prstGeom prst="roundRect">
            <a:avLst>
              <a:gd name="adj" fmla="val 5161"/>
            </a:avLst>
          </a:prstGeom>
          <a:solidFill>
            <a:srgbClr val="00C08B"/>
          </a:solidFill>
          <a:ln/>
        </p:spPr>
      </p:sp>
      <p:sp>
        <p:nvSpPr>
          <p:cNvPr id="8" name="Text 6"/>
          <p:cNvSpPr/>
          <p:nvPr/>
        </p:nvSpPr>
        <p:spPr>
          <a:xfrm>
            <a:off x="1097280" y="2560320"/>
            <a:ext cx="2743200" cy="365760"/>
          </a:xfrm>
          <a:prstGeom prst="rect">
            <a:avLst/>
          </a:prstGeom>
          <a:noFill/>
          <a:ln/>
        </p:spPr>
        <p:txBody>
          <a:bodyPr wrap="square" lIns="0" tIns="0" rIns="0" bIns="0" rtlCol="0" anchor="ctr"/>
          <a:lstStyle/>
          <a:p>
            <a:pPr indent="0" marL="0">
              <a:buNone/>
            </a:pPr>
            <a:r>
              <a:rPr lang="en-US" sz="1200" b="1" spc="200" kern="0" dirty="0">
                <a:solidFill>
                  <a:srgbClr val="8FA3BF"/>
                </a:solidFill>
                <a:latin typeface="Arial" pitchFamily="34" charset="0"/>
                <a:ea typeface="Arial" pitchFamily="34" charset="-122"/>
                <a:cs typeface="Arial" pitchFamily="34" charset="-120"/>
              </a:rPr>
              <a:t>BEFORE</a:t>
            </a:r>
            <a:endParaRPr lang="en-US" sz="1200" dirty="0"/>
          </a:p>
        </p:txBody>
      </p:sp>
      <p:sp>
        <p:nvSpPr>
          <p:cNvPr id="9" name="Text 7"/>
          <p:cNvSpPr/>
          <p:nvPr/>
        </p:nvSpPr>
        <p:spPr>
          <a:xfrm>
            <a:off x="1097280" y="3108960"/>
            <a:ext cx="4114800" cy="1005840"/>
          </a:xfrm>
          <a:prstGeom prst="rect">
            <a:avLst/>
          </a:prstGeom>
          <a:noFill/>
          <a:ln/>
        </p:spPr>
        <p:txBody>
          <a:bodyPr wrap="square" lIns="0" tIns="0" rIns="0" bIns="0" rtlCol="0" anchor="ctr"/>
          <a:lstStyle/>
          <a:p>
            <a:pPr indent="0" marL="0">
              <a:buNone/>
            </a:pPr>
            <a:r>
              <a:rPr lang="en-US" sz="5200" b="1" dirty="0">
                <a:solidFill>
                  <a:srgbClr val="E8743B"/>
                </a:solidFill>
                <a:latin typeface="Arial" pitchFamily="34" charset="0"/>
                <a:ea typeface="Arial" pitchFamily="34" charset="-122"/>
                <a:cs typeface="Arial" pitchFamily="34" charset="-120"/>
              </a:rPr>
              <a:t>[N] min</a:t>
            </a:r>
            <a:endParaRPr lang="en-US" sz="5200" dirty="0"/>
          </a:p>
        </p:txBody>
      </p:sp>
      <p:sp>
        <p:nvSpPr>
          <p:cNvPr id="10" name="Text 8"/>
          <p:cNvSpPr/>
          <p:nvPr/>
        </p:nvSpPr>
        <p:spPr>
          <a:xfrm>
            <a:off x="1097280" y="4251960"/>
            <a:ext cx="4114800" cy="45720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a deploy and a pipeline</a:t>
            </a:r>
            <a:endParaRPr lang="en-US" sz="1500" dirty="0"/>
          </a:p>
        </p:txBody>
      </p:sp>
      <p:sp>
        <p:nvSpPr>
          <p:cNvPr id="11" name="Text 9"/>
          <p:cNvSpPr/>
          <p:nvPr/>
        </p:nvSpPr>
        <p:spPr>
          <a:xfrm>
            <a:off x="6781648" y="2560320"/>
            <a:ext cx="2743200" cy="365760"/>
          </a:xfrm>
          <a:prstGeom prst="rect">
            <a:avLst/>
          </a:prstGeom>
          <a:noFill/>
          <a:ln/>
        </p:spPr>
        <p:txBody>
          <a:bodyPr wrap="square" lIns="0" tIns="0" rIns="0" bIns="0" rtlCol="0" anchor="ctr"/>
          <a:lstStyle/>
          <a:p>
            <a:pPr indent="0" marL="0">
              <a:buNone/>
            </a:pPr>
            <a:r>
              <a:rPr lang="en-US" sz="1200" b="1" spc="200" kern="0" dirty="0">
                <a:solidFill>
                  <a:srgbClr val="0E1626"/>
                </a:solidFill>
                <a:latin typeface="Arial" pitchFamily="34" charset="0"/>
                <a:ea typeface="Arial" pitchFamily="34" charset="-122"/>
                <a:cs typeface="Arial" pitchFamily="34" charset="-120"/>
              </a:rPr>
              <a:t>AFTER</a:t>
            </a:r>
            <a:endParaRPr lang="en-US" sz="1200" dirty="0"/>
          </a:p>
        </p:txBody>
      </p:sp>
      <p:sp>
        <p:nvSpPr>
          <p:cNvPr id="12" name="Text 10"/>
          <p:cNvSpPr/>
          <p:nvPr/>
        </p:nvSpPr>
        <p:spPr>
          <a:xfrm>
            <a:off x="6781648" y="3108960"/>
            <a:ext cx="4114800" cy="1005840"/>
          </a:xfrm>
          <a:prstGeom prst="rect">
            <a:avLst/>
          </a:prstGeom>
          <a:noFill/>
          <a:ln/>
        </p:spPr>
        <p:txBody>
          <a:bodyPr wrap="square" lIns="0" tIns="0" rIns="0" bIns="0" rtlCol="0" anchor="ctr"/>
          <a:lstStyle/>
          <a:p>
            <a:pPr indent="0" marL="0">
              <a:buNone/>
            </a:pPr>
            <a:r>
              <a:rPr lang="en-US" sz="5200" b="1" dirty="0">
                <a:solidFill>
                  <a:srgbClr val="0E1626"/>
                </a:solidFill>
                <a:latin typeface="Arial" pitchFamily="34" charset="0"/>
                <a:ea typeface="Arial" pitchFamily="34" charset="-122"/>
                <a:cs typeface="Arial" pitchFamily="34" charset="-120"/>
              </a:rPr>
              <a:t>[N] sec</a:t>
            </a:r>
            <a:endParaRPr lang="en-US" sz="5200" dirty="0"/>
          </a:p>
        </p:txBody>
      </p:sp>
      <p:sp>
        <p:nvSpPr>
          <p:cNvPr id="13" name="Text 11"/>
          <p:cNvSpPr/>
          <p:nvPr/>
        </p:nvSpPr>
        <p:spPr>
          <a:xfrm>
            <a:off x="6781648" y="4251960"/>
            <a:ext cx="4114800" cy="457200"/>
          </a:xfrm>
          <a:prstGeom prst="rect">
            <a:avLst/>
          </a:prstGeom>
          <a:noFill/>
          <a:ln/>
        </p:spPr>
        <p:txBody>
          <a:bodyPr wrap="square" lIns="0" tIns="0" rIns="0" bIns="0" rtlCol="0" anchor="ctr"/>
          <a:lstStyle/>
          <a:p>
            <a:pPr indent="0" marL="0">
              <a:buNone/>
            </a:pPr>
            <a:r>
              <a:rPr lang="en-US" sz="1500" dirty="0">
                <a:solidFill>
                  <a:srgbClr val="0E1626"/>
                </a:solidFill>
                <a:latin typeface="Calibri" pitchFamily="34" charset="0"/>
                <a:ea typeface="Calibri" pitchFamily="34" charset="-122"/>
                <a:cs typeface="Calibri" pitchFamily="34" charset="-120"/>
              </a:rPr>
              <a:t>on a laptop, offline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HOW ONE ENGINEER AFFORDED ALL THIS</a:t>
            </a:r>
            <a:endParaRPr lang="en-US" sz="11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[Claude Code] did the reasoning.</a:t>
            </a:r>
            <a:endParaRPr lang="en-US" sz="3400" dirty="0"/>
          </a:p>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[Uncle Dev] was the harness.</a:t>
            </a:r>
            <a:endParaRPr lang="en-US" sz="3400" dirty="0"/>
          </a:p>
          <a:p>
            <a:pPr algn="l" indent="0" marL="0">
              <a:lnSpc>
                <a:spcPts val="4352"/>
              </a:lnSpc>
              <a:buNone/>
            </a:pPr>
            <a:r>
              <a:rPr lang="en-US" sz="3400" b="1" dirty="0">
                <a:solidFill>
                  <a:srgbClr val="00C08B"/>
                </a:solidFill>
                <a:latin typeface="Arial" pitchFamily="34" charset="0"/>
                <a:ea typeface="Arial" pitchFamily="34" charset="-122"/>
                <a:cs typeface="Arial" pitchFamily="34" charset="-120"/>
              </a:rPr>
              <a:t>Neither made a decision.</a:t>
            </a:r>
            <a:endParaRPr lang="en-US" sz="3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NOW THE LOOP EARNS ITS MONEY</a:t>
            </a:r>
            <a:endParaRPr lang="en-US" sz="11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4608"/>
              </a:lnSpc>
              <a:buNone/>
            </a:pPr>
            <a:r>
              <a:rPr lang="en-US" sz="3600" b="1" dirty="0">
                <a:solidFill>
                  <a:srgbClr val="16233A"/>
                </a:solidFill>
                <a:latin typeface="Arial" pitchFamily="34" charset="0"/>
                <a:ea typeface="Arial" pitchFamily="34" charset="-122"/>
                <a:cs typeface="Arial" pitchFamily="34" charset="-120"/>
              </a:rPr>
              <a:t>Step Functions bill per state transition.</a:t>
            </a:r>
            <a:endParaRPr lang="en-US" sz="3600" dirty="0"/>
          </a:p>
          <a:p>
            <a:pPr algn="l" indent="0" marL="0">
              <a:lnSpc>
                <a:spcPts val="4608"/>
              </a:lnSpc>
              <a:buNone/>
            </a:pPr>
            <a:r>
              <a:rPr lang="en-US" sz="3600" b="1" dirty="0">
                <a:solidFill>
                  <a:srgbClr val="00C08B"/>
                </a:solidFill>
                <a:latin typeface="Arial" pitchFamily="34" charset="0"/>
                <a:ea typeface="Arial" pitchFamily="34" charset="-122"/>
                <a:cs typeface="Arial" pitchFamily="34" charset="-120"/>
              </a:rPr>
              <a:t>Polling is state transitions.</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SO WE BUILT THE OTHER ONE</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EventBridge, instead of waiting inside the workflow</a:t>
            </a:r>
            <a:endParaRPr lang="en-US" sz="3200" dirty="0"/>
          </a:p>
        </p:txBody>
      </p:sp>
      <p:sp>
        <p:nvSpPr>
          <p:cNvPr id="6" name="Shape 4"/>
          <p:cNvSpPr/>
          <p:nvPr/>
        </p:nvSpPr>
        <p:spPr>
          <a:xfrm>
            <a:off x="685800" y="2651760"/>
            <a:ext cx="1915302" cy="1005840"/>
          </a:xfrm>
          <a:prstGeom prst="roundRect">
            <a:avLst>
              <a:gd name="adj" fmla="val 10909"/>
            </a:avLst>
          </a:prstGeom>
          <a:solidFill>
            <a:srgbClr val="EDF2F8"/>
          </a:solidFill>
          <a:ln/>
        </p:spPr>
      </p:sp>
      <p:sp>
        <p:nvSpPr>
          <p:cNvPr id="7" name="Text 5"/>
          <p:cNvSpPr/>
          <p:nvPr/>
        </p:nvSpPr>
        <p:spPr>
          <a:xfrm>
            <a:off x="832104" y="2651760"/>
            <a:ext cx="1622694"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Schedule</a:t>
            </a:r>
            <a:endParaRPr lang="en-US" sz="1500" dirty="0"/>
          </a:p>
        </p:txBody>
      </p:sp>
      <p:sp>
        <p:nvSpPr>
          <p:cNvPr id="8" name="Text 6"/>
          <p:cNvSpPr/>
          <p:nvPr/>
        </p:nvSpPr>
        <p:spPr>
          <a:xfrm>
            <a:off x="2601102" y="265176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651760"/>
            <a:ext cx="1915302" cy="1005840"/>
          </a:xfrm>
          <a:prstGeom prst="roundRect">
            <a:avLst>
              <a:gd name="adj" fmla="val 10909"/>
            </a:avLst>
          </a:prstGeom>
          <a:solidFill>
            <a:srgbClr val="EDF2F8"/>
          </a:solidFill>
          <a:ln/>
        </p:spPr>
      </p:sp>
      <p:sp>
        <p:nvSpPr>
          <p:cNvPr id="10" name="Text 8"/>
          <p:cNvSpPr/>
          <p:nvPr/>
        </p:nvSpPr>
        <p:spPr>
          <a:xfrm>
            <a:off x="3058302" y="2651760"/>
            <a:ext cx="1622694"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Terminate</a:t>
            </a:r>
            <a:endParaRPr lang="en-US" sz="1500" dirty="0"/>
          </a:p>
        </p:txBody>
      </p:sp>
      <p:sp>
        <p:nvSpPr>
          <p:cNvPr id="11" name="Text 9"/>
          <p:cNvSpPr/>
          <p:nvPr/>
        </p:nvSpPr>
        <p:spPr>
          <a:xfrm>
            <a:off x="4827300" y="265176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651760"/>
            <a:ext cx="1915302" cy="1005840"/>
          </a:xfrm>
          <a:prstGeom prst="roundRect">
            <a:avLst>
              <a:gd name="adj" fmla="val 10909"/>
            </a:avLst>
          </a:prstGeom>
          <a:solidFill>
            <a:srgbClr val="EDF2F8"/>
          </a:solidFill>
          <a:ln/>
        </p:spPr>
      </p:sp>
      <p:sp>
        <p:nvSpPr>
          <p:cNvPr id="13" name="Text 11"/>
          <p:cNvSpPr/>
          <p:nvPr/>
        </p:nvSpPr>
        <p:spPr>
          <a:xfrm>
            <a:off x="5284500" y="2651760"/>
            <a:ext cx="1622694"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Wake up later</a:t>
            </a:r>
            <a:endParaRPr lang="en-US" sz="1500" dirty="0"/>
          </a:p>
        </p:txBody>
      </p:sp>
      <p:sp>
        <p:nvSpPr>
          <p:cNvPr id="14" name="Text 12"/>
          <p:cNvSpPr/>
          <p:nvPr/>
        </p:nvSpPr>
        <p:spPr>
          <a:xfrm>
            <a:off x="7053499" y="265176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651760"/>
            <a:ext cx="1915302" cy="1005840"/>
          </a:xfrm>
          <a:prstGeom prst="roundRect">
            <a:avLst>
              <a:gd name="adj" fmla="val 10909"/>
            </a:avLst>
          </a:prstGeom>
          <a:solidFill>
            <a:srgbClr val="EDF2F8"/>
          </a:solidFill>
          <a:ln/>
        </p:spPr>
      </p:sp>
      <p:sp>
        <p:nvSpPr>
          <p:cNvPr id="16" name="Text 14"/>
          <p:cNvSpPr/>
          <p:nvPr/>
        </p:nvSpPr>
        <p:spPr>
          <a:xfrm>
            <a:off x="7510699" y="2651760"/>
            <a:ext cx="1622694"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Check status</a:t>
            </a:r>
            <a:endParaRPr lang="en-US" sz="1500" dirty="0"/>
          </a:p>
        </p:txBody>
      </p:sp>
      <p:sp>
        <p:nvSpPr>
          <p:cNvPr id="17" name="Text 15"/>
          <p:cNvSpPr/>
          <p:nvPr/>
        </p:nvSpPr>
        <p:spPr>
          <a:xfrm>
            <a:off x="9279697" y="265176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651760"/>
            <a:ext cx="1915302" cy="1005840"/>
          </a:xfrm>
          <a:prstGeom prst="roundRect">
            <a:avLst>
              <a:gd name="adj" fmla="val 10909"/>
            </a:avLst>
          </a:prstGeom>
          <a:solidFill>
            <a:srgbClr val="EDF2F8"/>
          </a:solidFill>
          <a:ln/>
        </p:spPr>
      </p:sp>
      <p:sp>
        <p:nvSpPr>
          <p:cNvPr id="19" name="Text 17"/>
          <p:cNvSpPr/>
          <p:nvPr/>
        </p:nvSpPr>
        <p:spPr>
          <a:xfrm>
            <a:off x="9736897" y="2651760"/>
            <a:ext cx="1622694"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Repeat</a:t>
            </a:r>
            <a:endParaRPr lang="en-US" sz="1500" dirty="0"/>
          </a:p>
        </p:txBody>
      </p:sp>
      <p:sp>
        <p:nvSpPr>
          <p:cNvPr id="20" name="Text 18"/>
          <p:cNvSpPr/>
          <p:nvPr/>
        </p:nvSpPr>
        <p:spPr>
          <a:xfrm>
            <a:off x="685800" y="4206240"/>
            <a:ext cx="10362895" cy="640080"/>
          </a:xfrm>
          <a:prstGeom prst="rect">
            <a:avLst/>
          </a:prstGeom>
          <a:noFill/>
          <a:ln/>
        </p:spPr>
        <p:txBody>
          <a:bodyPr wrap="square" lIns="0" tIns="0" rIns="0" bIns="0" rtlCol="0" anchor="ctr"/>
          <a:lstStyle/>
          <a:p>
            <a:pPr indent="0" marL="0">
              <a:buNone/>
            </a:pPr>
            <a:r>
              <a:rPr lang="en-US" sz="2800" b="1" dirty="0">
                <a:solidFill>
                  <a:srgbClr val="16233A"/>
                </a:solidFill>
                <a:latin typeface="Arial" pitchFamily="34" charset="0"/>
                <a:ea typeface="Arial" pitchFamily="34" charset="-122"/>
                <a:cs typeface="Arial" pitchFamily="34" charset="-120"/>
              </a:rPr>
              <a:t>It worked. It was genuinely cheaper per job.</a:t>
            </a:r>
            <a:endParaRPr lang="en-US" sz="2800" dirty="0"/>
          </a:p>
        </p:txBody>
      </p:sp>
      <p:sp>
        <p:nvSpPr>
          <p:cNvPr id="21" name="Text 19"/>
          <p:cNvSpPr/>
          <p:nvPr/>
        </p:nvSpPr>
        <p:spPr>
          <a:xfrm>
            <a:off x="685800" y="5029200"/>
            <a:ext cx="10362895" cy="457200"/>
          </a:xfrm>
          <a:prstGeom prst="rect">
            <a:avLst/>
          </a:prstGeom>
          <a:noFill/>
          <a:ln/>
        </p:spPr>
        <p:txBody>
          <a:bodyPr wrap="square" lIns="0" tIns="0" rIns="0" bIns="0" rtlCol="0" anchor="ctr"/>
          <a:lstStyle/>
          <a:p>
            <a:pPr indent="0" marL="0">
              <a:buNone/>
            </a:pPr>
            <a:r>
              <a:rPr lang="en-US" sz="1700" i="1" dirty="0">
                <a:solidFill>
                  <a:srgbClr val="6B7B93"/>
                </a:solidFill>
                <a:latin typeface="Calibri" pitchFamily="34" charset="0"/>
                <a:ea typeface="Calibri" pitchFamily="34" charset="-122"/>
                <a:cs typeface="Calibri" pitchFamily="34" charset="-120"/>
              </a:rPr>
              <a:t>We were pleased with ourselves.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THEN WE LOOKED AT THE ACTUAL VOLUME</a:t>
            </a:r>
            <a:endParaRPr lang="en-US" sz="1100" dirty="0"/>
          </a:p>
        </p:txBody>
      </p:sp>
      <p:sp>
        <p:nvSpPr>
          <p:cNvPr id="6" name="Text 4"/>
          <p:cNvSpPr/>
          <p:nvPr/>
        </p:nvSpPr>
        <p:spPr>
          <a:xfrm>
            <a:off x="685800" y="2148840"/>
            <a:ext cx="9905695" cy="1737360"/>
          </a:xfrm>
          <a:prstGeom prst="rect">
            <a:avLst/>
          </a:prstGeom>
          <a:noFill/>
          <a:ln/>
        </p:spPr>
        <p:txBody>
          <a:bodyPr wrap="square" lIns="0" tIns="0" rIns="0" bIns="0" rtlCol="0" anchor="ctr"/>
          <a:lstStyle/>
          <a:p>
            <a:pPr indent="0" marL="0">
              <a:buNone/>
            </a:pPr>
            <a:r>
              <a:rPr lang="en-US" sz="11000" b="1" dirty="0">
                <a:solidFill>
                  <a:srgbClr val="00C08B"/>
                </a:solidFill>
                <a:latin typeface="Arial" pitchFamily="34" charset="0"/>
                <a:ea typeface="Arial" pitchFamily="34" charset="-122"/>
                <a:cs typeface="Arial" pitchFamily="34" charset="-120"/>
              </a:rPr>
              <a:t>[N]</a:t>
            </a:r>
            <a:endParaRPr lang="en-US" sz="11000" dirty="0"/>
          </a:p>
        </p:txBody>
      </p:sp>
      <p:sp>
        <p:nvSpPr>
          <p:cNvPr id="7" name="Text 5"/>
          <p:cNvSpPr/>
          <p:nvPr/>
        </p:nvSpPr>
        <p:spPr>
          <a:xfrm>
            <a:off x="685800" y="4114800"/>
            <a:ext cx="9905695" cy="548640"/>
          </a:xfrm>
          <a:prstGeom prst="rect">
            <a:avLst/>
          </a:prstGeom>
          <a:noFill/>
          <a:ln/>
        </p:spPr>
        <p:txBody>
          <a:bodyPr wrap="square" lIns="0" tIns="0" rIns="0" bIns="0" rtlCol="0" anchor="ctr"/>
          <a:lstStyle/>
          <a:p>
            <a:pPr indent="0" marL="0">
              <a:buNone/>
            </a:pPr>
            <a:r>
              <a:rPr lang="en-US" sz="2600" dirty="0">
                <a:solidFill>
                  <a:srgbClr val="FFFFFF"/>
                </a:solidFill>
                <a:latin typeface="Arial" pitchFamily="34" charset="0"/>
                <a:ea typeface="Arial" pitchFamily="34" charset="-122"/>
                <a:cs typeface="Arial" pitchFamily="34" charset="-120"/>
              </a:rPr>
              <a:t>export jobs a day</a:t>
            </a:r>
            <a:endParaRPr lang="en-US" sz="2600" dirty="0"/>
          </a:p>
        </p:txBody>
      </p:sp>
      <p:sp>
        <p:nvSpPr>
          <p:cNvPr id="8" name="Text 6"/>
          <p:cNvSpPr/>
          <p:nvPr/>
        </p:nvSpPr>
        <p:spPr>
          <a:xfrm>
            <a:off x="685800" y="5394960"/>
            <a:ext cx="103628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Savings: about [$X] a month.   Complexity: permanent.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WHY THIS MATTERS</a:t>
            </a:r>
            <a:endParaRPr lang="en-US" sz="11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That comparison cost days, not months,</a:t>
            </a:r>
            <a:endParaRPr lang="en-US" sz="3000" dirty="0"/>
          </a:p>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because the loop was cheap.</a:t>
            </a:r>
            <a:endParaRPr lang="en-US" sz="3000" dirty="0"/>
          </a:p>
          <a:p>
            <a:pPr algn="l" indent="0" marL="0">
              <a:lnSpc>
                <a:spcPts val="3840"/>
              </a:lnSpc>
              <a:buNone/>
            </a:pPr>
            <a:r>
              <a:rPr lang="en-US" sz="3000" dirty="0">
                <a:solidFill>
                  <a:srgbClr val="6B7B93"/>
                </a:solidFill>
                <a:latin typeface="Arial" pitchFamily="34" charset="0"/>
                <a:ea typeface="Arial" pitchFamily="34" charset="-122"/>
                <a:cs typeface="Arial" pitchFamily="34" charset="-120"/>
              </a:rPr>
              <a:t>At pipeline prices we'd have argued instead —</a:t>
            </a:r>
            <a:endParaRPr lang="en-US" sz="3000" dirty="0"/>
          </a:p>
          <a:p>
            <a:pPr algn="l" indent="0" marL="0">
              <a:lnSpc>
                <a:spcPts val="3840"/>
              </a:lnSpc>
              <a:buNone/>
            </a:pPr>
            <a:r>
              <a:rPr lang="en-US" sz="3000" b="1" dirty="0">
                <a:solidFill>
                  <a:srgbClr val="00C08B"/>
                </a:solidFill>
                <a:latin typeface="Arial" pitchFamily="34" charset="0"/>
                <a:ea typeface="Arial" pitchFamily="34" charset="-122"/>
                <a:cs typeface="Arial" pitchFamily="34" charset="-120"/>
              </a:rPr>
              <a:t>and shipped the wrong one.</a:t>
            </a:r>
            <a:endParaRPr lang="en-US" sz="3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OBJECTION</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400" b="1" dirty="0">
                <a:solidFill>
                  <a:srgbClr val="16233A"/>
                </a:solidFill>
                <a:latin typeface="Arial" pitchFamily="34" charset="0"/>
                <a:ea typeface="Arial" pitchFamily="34" charset="-122"/>
                <a:cs typeface="Arial" pitchFamily="34" charset="-120"/>
              </a:rPr>
              <a:t>“LocalStack isn't AWS.”</a:t>
            </a:r>
            <a:endParaRPr lang="en-US" sz="3400" dirty="0"/>
          </a:p>
        </p:txBody>
      </p:sp>
      <p:sp>
        <p:nvSpPr>
          <p:cNvPr id="6" name="Text 4"/>
          <p:cNvSpPr/>
          <p:nvPr/>
        </p:nvSpPr>
        <p:spPr>
          <a:xfrm>
            <a:off x="685800" y="2240280"/>
            <a:ext cx="10820095" cy="457200"/>
          </a:xfrm>
          <a:prstGeom prst="rect">
            <a:avLst/>
          </a:prstGeom>
          <a:noFill/>
          <a:ln/>
        </p:spPr>
        <p:txBody>
          <a:bodyPr wrap="square" lIns="0" tIns="0" rIns="0" bIns="0" rtlCol="0" anchor="ctr"/>
          <a:lstStyle/>
          <a:p>
            <a:pPr indent="0" marL="0">
              <a:buNone/>
            </a:pPr>
            <a:r>
              <a:rPr lang="en-US" sz="2200" b="1" dirty="0">
                <a:solidFill>
                  <a:srgbClr val="E8743B"/>
                </a:solidFill>
                <a:latin typeface="Arial" pitchFamily="34" charset="0"/>
                <a:ea typeface="Arial" pitchFamily="34" charset="-122"/>
                <a:cs typeface="Arial" pitchFamily="34" charset="-120"/>
              </a:rPr>
              <a:t>Correct.</a:t>
            </a:r>
            <a:endParaRPr lang="en-US" sz="2200" dirty="0"/>
          </a:p>
        </p:txBody>
      </p:sp>
      <p:sp>
        <p:nvSpPr>
          <p:cNvPr id="7" name="Shape 5"/>
          <p:cNvSpPr/>
          <p:nvPr/>
        </p:nvSpPr>
        <p:spPr>
          <a:xfrm>
            <a:off x="685800" y="3063240"/>
            <a:ext cx="5181448" cy="2057400"/>
          </a:xfrm>
          <a:prstGeom prst="roundRect">
            <a:avLst>
              <a:gd name="adj" fmla="val 6222"/>
            </a:avLst>
          </a:prstGeom>
          <a:solidFill>
            <a:srgbClr val="EDF2F8"/>
          </a:solidFill>
          <a:ln/>
        </p:spPr>
      </p:sp>
      <p:sp>
        <p:nvSpPr>
          <p:cNvPr id="8" name="Shape 6"/>
          <p:cNvSpPr/>
          <p:nvPr/>
        </p:nvSpPr>
        <p:spPr>
          <a:xfrm>
            <a:off x="6324448" y="3063240"/>
            <a:ext cx="5181448" cy="2057400"/>
          </a:xfrm>
          <a:prstGeom prst="roundRect">
            <a:avLst>
              <a:gd name="adj" fmla="val 6222"/>
            </a:avLst>
          </a:prstGeom>
          <a:solidFill>
            <a:srgbClr val="EDF2F8"/>
          </a:solidFill>
          <a:ln/>
        </p:spPr>
      </p:sp>
      <p:sp>
        <p:nvSpPr>
          <p:cNvPr id="9" name="Text 7"/>
          <p:cNvSpPr/>
          <p:nvPr/>
        </p:nvSpPr>
        <p:spPr>
          <a:xfrm>
            <a:off x="1005840" y="3337560"/>
            <a:ext cx="4541368"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Local catches</a:t>
            </a:r>
            <a:endParaRPr lang="en-US" sz="1400" dirty="0"/>
          </a:p>
        </p:txBody>
      </p:sp>
      <p:sp>
        <p:nvSpPr>
          <p:cNvPr id="10" name="Text 8"/>
          <p:cNvSpPr/>
          <p:nvPr/>
        </p:nvSpPr>
        <p:spPr>
          <a:xfrm>
            <a:off x="1005840" y="3840480"/>
            <a:ext cx="4541368" cy="10058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Workflow logic, state transitions,</a:t>
            </a:r>
            <a:endParaRPr lang="en-US" sz="1800" dirty="0"/>
          </a:p>
          <a:p>
            <a:pPr indent="0" marL="0">
              <a:buNone/>
            </a:pPr>
            <a:r>
              <a:rPr lang="en-US" sz="1800" b="1" dirty="0">
                <a:solidFill>
                  <a:srgbClr val="16233A"/>
                </a:solidFill>
                <a:latin typeface="Calibri" pitchFamily="34" charset="0"/>
                <a:ea typeface="Calibri" pitchFamily="34" charset="-122"/>
                <a:cs typeface="Calibri" pitchFamily="34" charset="-120"/>
              </a:rPr>
              <a:t>callbacks, retries</a:t>
            </a:r>
            <a:endParaRPr lang="en-US" sz="1800" dirty="0"/>
          </a:p>
        </p:txBody>
      </p:sp>
      <p:sp>
        <p:nvSpPr>
          <p:cNvPr id="11" name="Text 9"/>
          <p:cNvSpPr/>
          <p:nvPr/>
        </p:nvSpPr>
        <p:spPr>
          <a:xfrm>
            <a:off x="6644488" y="3337560"/>
            <a:ext cx="4541368"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Dev and QA catch</a:t>
            </a:r>
            <a:endParaRPr lang="en-US" sz="1400" dirty="0"/>
          </a:p>
        </p:txBody>
      </p:sp>
      <p:sp>
        <p:nvSpPr>
          <p:cNvPr id="12" name="Text 10"/>
          <p:cNvSpPr/>
          <p:nvPr/>
        </p:nvSpPr>
        <p:spPr>
          <a:xfrm>
            <a:off x="6644488" y="3840480"/>
            <a:ext cx="4541368" cy="10058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IAM, throughput,</a:t>
            </a:r>
            <a:endParaRPr lang="en-US" sz="1800" dirty="0"/>
          </a:p>
          <a:p>
            <a:pPr indent="0" marL="0">
              <a:buNone/>
            </a:pPr>
            <a:r>
              <a:rPr lang="en-US" sz="1800" b="1" dirty="0">
                <a:solidFill>
                  <a:srgbClr val="16233A"/>
                </a:solidFill>
                <a:latin typeface="Calibri" pitchFamily="34" charset="0"/>
                <a:ea typeface="Calibri" pitchFamily="34" charset="-122"/>
                <a:cs typeface="Calibri" pitchFamily="34" charset="-120"/>
              </a:rPr>
              <a:t>production behaviour</a:t>
            </a:r>
            <a:endParaRPr lang="en-US" sz="1800" dirty="0"/>
          </a:p>
        </p:txBody>
      </p:sp>
      <p:sp>
        <p:nvSpPr>
          <p:cNvPr id="13" name="Text 11"/>
          <p:cNvSpPr/>
          <p:nvPr/>
        </p:nvSpPr>
        <p:spPr>
          <a:xfrm>
            <a:off x="685800" y="5440680"/>
            <a:ext cx="10362895" cy="457200"/>
          </a:xfrm>
          <a:prstGeom prst="rect">
            <a:avLst/>
          </a:prstGeom>
          <a:noFill/>
          <a:ln/>
        </p:spPr>
        <p:txBody>
          <a:bodyPr wrap="square" lIns="0" tIns="0" rIns="0" bIns="0" rtlCol="0" anchor="ctr"/>
          <a:lstStyle/>
          <a:p>
            <a:pPr indent="0" marL="0">
              <a:buNone/>
            </a:pPr>
            <a:r>
              <a:rPr lang="en-US" sz="1700" b="1" dirty="0">
                <a:solidFill>
                  <a:srgbClr val="00C08B"/>
                </a:solidFill>
                <a:latin typeface="Arial" pitchFamily="34" charset="0"/>
                <a:ea typeface="Arial" pitchFamily="34" charset="-122"/>
                <a:cs typeface="Arial" pitchFamily="34" charset="-120"/>
              </a:rPr>
              <a:t>Which is exactly why the tracing tool works against all three.</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OBJECTION</a:t>
            </a:r>
            <a:endParaRPr lang="en-US" sz="1100" dirty="0"/>
          </a:p>
        </p:txBody>
      </p:sp>
      <p:sp>
        <p:nvSpPr>
          <p:cNvPr id="5" name="Text 3"/>
          <p:cNvSpPr/>
          <p:nvPr/>
        </p:nvSpPr>
        <p:spPr>
          <a:xfrm>
            <a:off x="685800" y="2194560"/>
            <a:ext cx="9722815" cy="2743200"/>
          </a:xfrm>
          <a:prstGeom prst="rect">
            <a:avLst/>
          </a:prstGeom>
          <a:noFill/>
          <a:ln/>
        </p:spPr>
        <p:txBody>
          <a:bodyPr wrap="square" lIns="0" tIns="0" rIns="0" bIns="0" rtlCol="0" anchor="t"/>
          <a:lstStyle/>
          <a:p>
            <a:pPr algn="l" indent="0" marL="0">
              <a:lnSpc>
                <a:spcPts val="3840"/>
              </a:lnSpc>
              <a:buNone/>
            </a:pPr>
            <a:r>
              <a:rPr lang="en-US" sz="3000" dirty="0">
                <a:solidFill>
                  <a:srgbClr val="6B7B93"/>
                </a:solidFill>
                <a:latin typeface="Arial" pitchFamily="34" charset="0"/>
                <a:ea typeface="Arial" pitchFamily="34" charset="-122"/>
                <a:cs typeface="Arial" pitchFamily="34" charset="-120"/>
              </a:rPr>
              <a:t>“We don't have time to build tooling.”</a:t>
            </a:r>
            <a:endParaRPr lang="en-US" sz="3000" dirty="0"/>
          </a:p>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It took [N].</a:t>
            </a:r>
            <a:endParaRPr lang="en-US" sz="3000" dirty="0"/>
          </a:p>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We spent longer than that waiting on</a:t>
            </a:r>
            <a:endParaRPr lang="en-US" sz="3000" dirty="0"/>
          </a:p>
          <a:p>
            <a:pPr algn="l" indent="0" marL="0">
              <a:lnSpc>
                <a:spcPts val="3840"/>
              </a:lnSpc>
              <a:buNone/>
            </a:pPr>
            <a:r>
              <a:rPr lang="en-US" sz="3000" b="1" dirty="0">
                <a:solidFill>
                  <a:srgbClr val="00C08B"/>
                </a:solidFill>
                <a:latin typeface="Arial" pitchFamily="34" charset="0"/>
                <a:ea typeface="Arial" pitchFamily="34" charset="-122"/>
                <a:cs typeface="Arial" pitchFamily="34" charset="-120"/>
              </a:rPr>
              <a:t>pipelines in the first two weeks.</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SCOPE</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Where this doesn't apply</a:t>
            </a:r>
            <a:endParaRPr lang="en-US" sz="3200" dirty="0"/>
          </a:p>
        </p:txBody>
      </p:sp>
      <p:sp>
        <p:nvSpPr>
          <p:cNvPr id="6" name="Shape 4"/>
          <p:cNvSpPr/>
          <p:nvPr/>
        </p:nvSpPr>
        <p:spPr>
          <a:xfrm>
            <a:off x="685800" y="2468880"/>
            <a:ext cx="10820095" cy="822960"/>
          </a:xfrm>
          <a:prstGeom prst="roundRect">
            <a:avLst>
              <a:gd name="adj" fmla="val 13333"/>
            </a:avLst>
          </a:prstGeom>
          <a:solidFill>
            <a:srgbClr val="EDF2F8"/>
          </a:solidFill>
          <a:ln/>
        </p:spPr>
      </p:sp>
      <p:sp>
        <p:nvSpPr>
          <p:cNvPr id="7" name="Text 5"/>
          <p:cNvSpPr/>
          <p:nvPr/>
        </p:nvSpPr>
        <p:spPr>
          <a:xfrm>
            <a:off x="1005840" y="2468880"/>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Single Lambda?</a:t>
            </a:r>
            <a:endParaRPr lang="en-US" sz="1900" dirty="0"/>
          </a:p>
        </p:txBody>
      </p:sp>
      <p:sp>
        <p:nvSpPr>
          <p:cNvPr id="8" name="Text 6"/>
          <p:cNvSpPr/>
          <p:nvPr/>
        </p:nvSpPr>
        <p:spPr>
          <a:xfrm>
            <a:off x="4800600" y="2468880"/>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Use SAM. This is overkill.</a:t>
            </a:r>
            <a:endParaRPr lang="en-US" sz="1700" dirty="0"/>
          </a:p>
        </p:txBody>
      </p:sp>
      <p:sp>
        <p:nvSpPr>
          <p:cNvPr id="9" name="Shape 7"/>
          <p:cNvSpPr/>
          <p:nvPr/>
        </p:nvSpPr>
        <p:spPr>
          <a:xfrm>
            <a:off x="685800" y="3584448"/>
            <a:ext cx="10820095" cy="822960"/>
          </a:xfrm>
          <a:prstGeom prst="roundRect">
            <a:avLst>
              <a:gd name="adj" fmla="val 13333"/>
            </a:avLst>
          </a:prstGeom>
          <a:solidFill>
            <a:srgbClr val="EDF2F8"/>
          </a:solidFill>
          <a:ln/>
        </p:spPr>
      </p:sp>
      <p:sp>
        <p:nvSpPr>
          <p:cNvPr id="10" name="Text 8"/>
          <p:cNvSpPr/>
          <p:nvPr/>
        </p:nvSpPr>
        <p:spPr>
          <a:xfrm>
            <a:off x="1005840" y="3584448"/>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Not long-running?</a:t>
            </a:r>
            <a:endParaRPr lang="en-US" sz="1900" dirty="0"/>
          </a:p>
        </p:txBody>
      </p:sp>
      <p:sp>
        <p:nvSpPr>
          <p:cNvPr id="11" name="Text 9"/>
          <p:cNvSpPr/>
          <p:nvPr/>
        </p:nvSpPr>
        <p:spPr>
          <a:xfrm>
            <a:off x="4800600" y="3584448"/>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Don't build any of it.</a:t>
            </a:r>
            <a:endParaRPr lang="en-US" sz="1700" dirty="0"/>
          </a:p>
        </p:txBody>
      </p:sp>
      <p:sp>
        <p:nvSpPr>
          <p:cNvPr id="12" name="Shape 10"/>
          <p:cNvSpPr/>
          <p:nvPr/>
        </p:nvSpPr>
        <p:spPr>
          <a:xfrm>
            <a:off x="685800" y="4700016"/>
            <a:ext cx="10820095" cy="822960"/>
          </a:xfrm>
          <a:prstGeom prst="roundRect">
            <a:avLst>
              <a:gd name="adj" fmla="val 13333"/>
            </a:avLst>
          </a:prstGeom>
          <a:solidFill>
            <a:srgbClr val="EDF2F8"/>
          </a:solidFill>
          <a:ln/>
        </p:spPr>
      </p:sp>
      <p:sp>
        <p:nvSpPr>
          <p:cNvPr id="13" name="Text 11"/>
          <p:cNvSpPr/>
          <p:nvPr/>
        </p:nvSpPr>
        <p:spPr>
          <a:xfrm>
            <a:off x="1005840" y="4700016"/>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Not multi-service?</a:t>
            </a:r>
            <a:endParaRPr lang="en-US" sz="1900" dirty="0"/>
          </a:p>
        </p:txBody>
      </p:sp>
      <p:sp>
        <p:nvSpPr>
          <p:cNvPr id="14" name="Text 12"/>
          <p:cNvSpPr/>
          <p:nvPr/>
        </p:nvSpPr>
        <p:spPr>
          <a:xfrm>
            <a:off x="4800600" y="4700016"/>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You can already see what happened.</a:t>
            </a:r>
            <a:endParaRPr lang="en-US" sz="1700" dirty="0"/>
          </a:p>
        </p:txBody>
      </p:sp>
      <p:sp>
        <p:nvSpPr>
          <p:cNvPr id="15" name="Text 13"/>
          <p:cNvSpPr/>
          <p:nvPr/>
        </p:nvSpPr>
        <p:spPr>
          <a:xfrm>
            <a:off x="685800" y="5806440"/>
            <a:ext cx="10362895" cy="45720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What justifies it: long-running, asynchronous, multi-service, and hard to observe. All four.</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7</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PATTERN</a:t>
            </a:r>
            <a:endParaRPr lang="en-US" sz="1100" dirty="0"/>
          </a:p>
        </p:txBody>
      </p:sp>
      <p:sp>
        <p:nvSpPr>
          <p:cNvPr id="5" name="Text 3"/>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How every decision on this project was made</a:t>
            </a:r>
            <a:endParaRPr lang="en-US" sz="3200" dirty="0"/>
          </a:p>
        </p:txBody>
      </p:sp>
      <p:sp>
        <p:nvSpPr>
          <p:cNvPr id="6" name="Shape 4"/>
          <p:cNvSpPr/>
          <p:nvPr/>
        </p:nvSpPr>
        <p:spPr>
          <a:xfrm>
            <a:off x="685800" y="2331720"/>
            <a:ext cx="402336" cy="402336"/>
          </a:xfrm>
          <a:prstGeom prst="roundRect">
            <a:avLst>
              <a:gd name="adj" fmla="val 25000"/>
            </a:avLst>
          </a:prstGeom>
          <a:solidFill>
            <a:srgbClr val="00C08B"/>
          </a:solidFill>
          <a:ln/>
        </p:spPr>
      </p:sp>
      <p:sp>
        <p:nvSpPr>
          <p:cNvPr id="7" name="Text 5"/>
          <p:cNvSpPr/>
          <p:nvPr/>
        </p:nvSpPr>
        <p:spPr>
          <a:xfrm>
            <a:off x="685800" y="233172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33172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Form a hypothesis</a:t>
            </a:r>
            <a:endParaRPr lang="en-US" sz="1800" dirty="0"/>
          </a:p>
        </p:txBody>
      </p:sp>
      <p:sp>
        <p:nvSpPr>
          <p:cNvPr id="9" name="Shape 7"/>
          <p:cNvSpPr/>
          <p:nvPr/>
        </p:nvSpPr>
        <p:spPr>
          <a:xfrm>
            <a:off x="685800" y="3026664"/>
            <a:ext cx="402336" cy="402336"/>
          </a:xfrm>
          <a:prstGeom prst="roundRect">
            <a:avLst>
              <a:gd name="adj" fmla="val 25000"/>
            </a:avLst>
          </a:prstGeom>
          <a:solidFill>
            <a:srgbClr val="00C08B"/>
          </a:solidFill>
          <a:ln/>
        </p:spPr>
      </p:sp>
      <p:sp>
        <p:nvSpPr>
          <p:cNvPr id="10" name="Text 8"/>
          <p:cNvSpPr/>
          <p:nvPr/>
        </p:nvSpPr>
        <p:spPr>
          <a:xfrm>
            <a:off x="685800" y="3026664"/>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3026664"/>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Build a small experiment</a:t>
            </a:r>
            <a:endParaRPr lang="en-US" sz="1800" dirty="0"/>
          </a:p>
        </p:txBody>
      </p:sp>
      <p:sp>
        <p:nvSpPr>
          <p:cNvPr id="12" name="Shape 10"/>
          <p:cNvSpPr/>
          <p:nvPr/>
        </p:nvSpPr>
        <p:spPr>
          <a:xfrm>
            <a:off x="685800" y="3721608"/>
            <a:ext cx="402336" cy="402336"/>
          </a:xfrm>
          <a:prstGeom prst="roundRect">
            <a:avLst>
              <a:gd name="adj" fmla="val 25000"/>
            </a:avLst>
          </a:prstGeom>
          <a:solidFill>
            <a:srgbClr val="00C08B"/>
          </a:solidFill>
          <a:ln/>
        </p:spPr>
      </p:sp>
      <p:sp>
        <p:nvSpPr>
          <p:cNvPr id="13" name="Text 11"/>
          <p:cNvSpPr/>
          <p:nvPr/>
        </p:nvSpPr>
        <p:spPr>
          <a:xfrm>
            <a:off x="685800" y="3721608"/>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721608"/>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Measure</a:t>
            </a:r>
            <a:endParaRPr lang="en-US" sz="1800" dirty="0"/>
          </a:p>
        </p:txBody>
      </p:sp>
      <p:sp>
        <p:nvSpPr>
          <p:cNvPr id="15" name="Shape 13"/>
          <p:cNvSpPr/>
          <p:nvPr/>
        </p:nvSpPr>
        <p:spPr>
          <a:xfrm>
            <a:off x="685800" y="4416552"/>
            <a:ext cx="402336" cy="402336"/>
          </a:xfrm>
          <a:prstGeom prst="roundRect">
            <a:avLst>
              <a:gd name="adj" fmla="val 25000"/>
            </a:avLst>
          </a:prstGeom>
          <a:solidFill>
            <a:srgbClr val="00C08B"/>
          </a:solidFill>
          <a:ln/>
        </p:spPr>
      </p:sp>
      <p:sp>
        <p:nvSpPr>
          <p:cNvPr id="16" name="Text 14"/>
          <p:cNvSpPr/>
          <p:nvPr/>
        </p:nvSpPr>
        <p:spPr>
          <a:xfrm>
            <a:off x="685800" y="4416552"/>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4416552"/>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Compare alternatives</a:t>
            </a:r>
            <a:endParaRPr lang="en-US" sz="1800" dirty="0"/>
          </a:p>
        </p:txBody>
      </p:sp>
      <p:sp>
        <p:nvSpPr>
          <p:cNvPr id="18" name="Shape 16"/>
          <p:cNvSpPr/>
          <p:nvPr/>
        </p:nvSpPr>
        <p:spPr>
          <a:xfrm>
            <a:off x="685800" y="5111496"/>
            <a:ext cx="402336" cy="402336"/>
          </a:xfrm>
          <a:prstGeom prst="roundRect">
            <a:avLst>
              <a:gd name="adj" fmla="val 25000"/>
            </a:avLst>
          </a:prstGeom>
          <a:solidFill>
            <a:srgbClr val="00C08B"/>
          </a:solidFill>
          <a:ln/>
        </p:spPr>
      </p:sp>
      <p:sp>
        <p:nvSpPr>
          <p:cNvPr id="19" name="Text 17"/>
          <p:cNvSpPr/>
          <p:nvPr/>
        </p:nvSpPr>
        <p:spPr>
          <a:xfrm>
            <a:off x="685800" y="5111496"/>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20" name="Text 18"/>
          <p:cNvSpPr/>
          <p:nvPr/>
        </p:nvSpPr>
        <p:spPr>
          <a:xfrm>
            <a:off x="1344168" y="5111496"/>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Choose the simplest solution the evidence supports</a:t>
            </a:r>
            <a:endParaRPr lang="en-US" sz="1800" dirty="0"/>
          </a:p>
        </p:txBody>
      </p:sp>
      <p:sp>
        <p:nvSpPr>
          <p:cNvPr id="21" name="Text 19"/>
          <p:cNvSpPr/>
          <p:nvPr/>
        </p:nvSpPr>
        <p:spPr>
          <a:xfrm>
            <a:off x="685800" y="5806440"/>
            <a:ext cx="10362895" cy="457200"/>
          </a:xfrm>
          <a:prstGeom prst="rect">
            <a:avLst/>
          </a:prstGeom>
          <a:noFill/>
          <a:ln/>
        </p:spPr>
        <p:txBody>
          <a:bodyPr wrap="square" lIns="0" tIns="0" rIns="0" bIns="0" rtlCol="0" anchor="ctr"/>
          <a:lstStyle/>
          <a:p>
            <a:pPr indent="0" marL="0">
              <a:buNone/>
            </a:pPr>
            <a:r>
              <a:rPr lang="en-US" sz="2000" b="1" dirty="0">
                <a:solidFill>
                  <a:srgbClr val="E8743B"/>
                </a:solidFill>
                <a:latin typeface="Arial" pitchFamily="34" charset="0"/>
                <a:ea typeface="Arial" pitchFamily="34" charset="-122"/>
                <a:cs typeface="Arial" pitchFamily="34" charset="-120"/>
              </a:rPr>
              <a:t>None of it works if one experiment costs a pipeline.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2103120"/>
            <a:ext cx="566928" cy="566928"/>
          </a:xfrm>
          <a:prstGeom prst="roundRect">
            <a:avLst>
              <a:gd name="adj" fmla="val 24194"/>
            </a:avLst>
          </a:prstGeom>
          <a:solidFill>
            <a:srgbClr val="00C08B"/>
          </a:solidFill>
          <a:ln/>
        </p:spPr>
      </p:sp>
      <p:sp>
        <p:nvSpPr>
          <p:cNvPr id="4" name="Text 2"/>
          <p:cNvSpPr/>
          <p:nvPr/>
        </p:nvSpPr>
        <p:spPr>
          <a:xfrm>
            <a:off x="685800" y="2971800"/>
            <a:ext cx="9722815" cy="1828800"/>
          </a:xfrm>
          <a:prstGeom prst="rect">
            <a:avLst/>
          </a:prstGeom>
          <a:noFill/>
          <a:ln/>
        </p:spPr>
        <p:txBody>
          <a:bodyPr wrap="square" lIns="0" tIns="0" rIns="0" bIns="0" rtlCol="0" anchor="t"/>
          <a:lstStyle/>
          <a:p>
            <a:pPr indent="0" marL="0">
              <a:lnSpc>
                <a:spcPts val="5400"/>
              </a:lnSpc>
              <a:buNone/>
            </a:pPr>
            <a:r>
              <a:rPr lang="en-US" sz="4400" b="1" dirty="0">
                <a:solidFill>
                  <a:srgbClr val="FFFFFF"/>
                </a:solidFill>
                <a:latin typeface="Arial" pitchFamily="34" charset="0"/>
                <a:ea typeface="Arial" pitchFamily="34" charset="-122"/>
                <a:cs typeface="Arial" pitchFamily="34" charset="-120"/>
              </a:rPr>
              <a:t>The feedback loop is</a:t>
            </a:r>
            <a:endParaRPr lang="en-US" sz="4400" dirty="0"/>
          </a:p>
          <a:p>
            <a:pPr indent="0" marL="0">
              <a:lnSpc>
                <a:spcPts val="5400"/>
              </a:lnSpc>
              <a:buNone/>
            </a:pPr>
            <a:r>
              <a:rPr lang="en-US" sz="4400" b="1" dirty="0">
                <a:solidFill>
                  <a:srgbClr val="FFFFFF"/>
                </a:solidFill>
                <a:latin typeface="Arial" pitchFamily="34" charset="0"/>
                <a:ea typeface="Arial" pitchFamily="34" charset="-122"/>
                <a:cs typeface="Arial" pitchFamily="34" charset="-120"/>
              </a:rPr>
              <a:t>the first architecture decision.</a:t>
            </a:r>
            <a:endParaRPr lang="en-US" sz="4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Text 1"/>
          <p:cNvSpPr/>
          <p:nvPr/>
        </p:nvSpPr>
        <p:spPr>
          <a:xfrm>
            <a:off x="685800" y="2743200"/>
            <a:ext cx="10820095"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Appendix</a:t>
            </a:r>
            <a:endParaRPr lang="en-US" sz="4000" dirty="0"/>
          </a:p>
        </p:txBody>
      </p:sp>
      <p:sp>
        <p:nvSpPr>
          <p:cNvPr id="4" name="Text 2"/>
          <p:cNvSpPr/>
          <p:nvPr/>
        </p:nvSpPr>
        <p:spPr>
          <a:xfrm>
            <a:off x="685800" y="3611880"/>
            <a:ext cx="10820095" cy="457200"/>
          </a:xfrm>
          <a:prstGeom prst="rect">
            <a:avLst/>
          </a:prstGeom>
          <a:noFill/>
          <a:ln/>
        </p:spPr>
        <p:txBody>
          <a:bodyPr wrap="square" lIns="0" tIns="0" rIns="0" bIns="0" rtlCol="0" anchor="ctr"/>
          <a:lstStyle/>
          <a:p>
            <a:pPr indent="0" marL="0">
              <a:buNone/>
            </a:pPr>
            <a:r>
              <a:rPr lang="en-US" sz="1600" dirty="0">
                <a:solidFill>
                  <a:srgbClr val="8FA3BF"/>
                </a:solidFill>
                <a:latin typeface="Calibri" pitchFamily="34" charset="0"/>
                <a:ea typeface="Calibri" pitchFamily="34" charset="-122"/>
                <a:cs typeface="Calibri" pitchFamily="34" charset="-120"/>
              </a:rPr>
              <a:t>Q&amp;A only — do not present</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A1</a:t>
            </a:r>
            <a:endParaRPr lang="en-US" sz="1100" dirty="0"/>
          </a:p>
        </p:txBody>
      </p:sp>
      <p:sp>
        <p:nvSpPr>
          <p:cNvPr id="3" name="Text 1"/>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Production architecture</a:t>
            </a:r>
            <a:endParaRPr lang="en-US" sz="3200" dirty="0"/>
          </a:p>
        </p:txBody>
      </p:sp>
      <p:sp>
        <p:nvSpPr>
          <p:cNvPr id="4" name="Shape 2"/>
          <p:cNvSpPr/>
          <p:nvPr/>
        </p:nvSpPr>
        <p:spPr>
          <a:xfrm>
            <a:off x="685800" y="2743200"/>
            <a:ext cx="1544269" cy="1371600"/>
          </a:xfrm>
          <a:prstGeom prst="roundRect">
            <a:avLst>
              <a:gd name="adj" fmla="val 8000"/>
            </a:avLst>
          </a:prstGeom>
          <a:solidFill>
            <a:srgbClr val="EDF2F8"/>
          </a:solidFill>
          <a:ln/>
        </p:spPr>
      </p:sp>
      <p:sp>
        <p:nvSpPr>
          <p:cNvPr id="5" name="Text 3"/>
          <p:cNvSpPr/>
          <p:nvPr/>
        </p:nvSpPr>
        <p:spPr>
          <a:xfrm>
            <a:off x="832104" y="2743200"/>
            <a:ext cx="1251661" cy="137160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Step Functions</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orchestrate</a:t>
            </a:r>
            <a:endParaRPr lang="en-US" sz="1400" dirty="0"/>
          </a:p>
        </p:txBody>
      </p:sp>
      <p:sp>
        <p:nvSpPr>
          <p:cNvPr id="6" name="Text 4"/>
          <p:cNvSpPr/>
          <p:nvPr/>
        </p:nvSpPr>
        <p:spPr>
          <a:xfrm>
            <a:off x="2230069"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2540965" y="2743200"/>
            <a:ext cx="1544269" cy="1371600"/>
          </a:xfrm>
          <a:prstGeom prst="roundRect">
            <a:avLst>
              <a:gd name="adj" fmla="val 8000"/>
            </a:avLst>
          </a:prstGeom>
          <a:solidFill>
            <a:srgbClr val="EDF2F8"/>
          </a:solidFill>
          <a:ln/>
        </p:spPr>
      </p:sp>
      <p:sp>
        <p:nvSpPr>
          <p:cNvPr id="8" name="Text 6"/>
          <p:cNvSpPr/>
          <p:nvPr/>
        </p:nvSpPr>
        <p:spPr>
          <a:xfrm>
            <a:off x="2687269" y="2743200"/>
            <a:ext cx="1251661" cy="137160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SQS</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distributes</a:t>
            </a:r>
            <a:endParaRPr lang="en-US" sz="1400" dirty="0"/>
          </a:p>
        </p:txBody>
      </p:sp>
      <p:sp>
        <p:nvSpPr>
          <p:cNvPr id="9" name="Text 7"/>
          <p:cNvSpPr/>
          <p:nvPr/>
        </p:nvSpPr>
        <p:spPr>
          <a:xfrm>
            <a:off x="4085234"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4396130" y="2743200"/>
            <a:ext cx="1544269" cy="1371600"/>
          </a:xfrm>
          <a:prstGeom prst="roundRect">
            <a:avLst>
              <a:gd name="adj" fmla="val 8000"/>
            </a:avLst>
          </a:prstGeom>
          <a:solidFill>
            <a:srgbClr val="EDF2F8"/>
          </a:solidFill>
          <a:ln/>
        </p:spPr>
      </p:sp>
      <p:sp>
        <p:nvSpPr>
          <p:cNvPr id="11" name="Text 9"/>
          <p:cNvSpPr/>
          <p:nvPr/>
        </p:nvSpPr>
        <p:spPr>
          <a:xfrm>
            <a:off x="4542434" y="2743200"/>
            <a:ext cx="1251661" cy="137160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Fargate</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downloads ZIPs</a:t>
            </a:r>
            <a:endParaRPr lang="en-US" sz="1400" dirty="0"/>
          </a:p>
        </p:txBody>
      </p:sp>
      <p:sp>
        <p:nvSpPr>
          <p:cNvPr id="12" name="Text 10"/>
          <p:cNvSpPr/>
          <p:nvPr/>
        </p:nvSpPr>
        <p:spPr>
          <a:xfrm>
            <a:off x="5940400"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6251296" y="2743200"/>
            <a:ext cx="1544269" cy="1371600"/>
          </a:xfrm>
          <a:prstGeom prst="roundRect">
            <a:avLst>
              <a:gd name="adj" fmla="val 8000"/>
            </a:avLst>
          </a:prstGeom>
          <a:solidFill>
            <a:srgbClr val="EDF2F8"/>
          </a:solidFill>
          <a:ln/>
        </p:spPr>
      </p:sp>
      <p:sp>
        <p:nvSpPr>
          <p:cNvPr id="14" name="Text 12"/>
          <p:cNvSpPr/>
          <p:nvPr/>
        </p:nvSpPr>
        <p:spPr>
          <a:xfrm>
            <a:off x="6397600" y="2743200"/>
            <a:ext cx="1251661" cy="137160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S3</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stores</a:t>
            </a:r>
            <a:endParaRPr lang="en-US" sz="1400" dirty="0"/>
          </a:p>
        </p:txBody>
      </p:sp>
      <p:sp>
        <p:nvSpPr>
          <p:cNvPr id="15" name="Text 13"/>
          <p:cNvSpPr/>
          <p:nvPr/>
        </p:nvSpPr>
        <p:spPr>
          <a:xfrm>
            <a:off x="7795565"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8106461" y="2743200"/>
            <a:ext cx="1544269" cy="1371600"/>
          </a:xfrm>
          <a:prstGeom prst="roundRect">
            <a:avLst>
              <a:gd name="adj" fmla="val 8000"/>
            </a:avLst>
          </a:prstGeom>
          <a:solidFill>
            <a:srgbClr val="EDF2F8"/>
          </a:solidFill>
          <a:ln/>
        </p:spPr>
      </p:sp>
      <p:sp>
        <p:nvSpPr>
          <p:cNvPr id="17" name="Text 15"/>
          <p:cNvSpPr/>
          <p:nvPr/>
        </p:nvSpPr>
        <p:spPr>
          <a:xfrm>
            <a:off x="8252765" y="2743200"/>
            <a:ext cx="1251661" cy="137160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Fargate calls</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the callback</a:t>
            </a:r>
            <a:endParaRPr lang="en-US" sz="1400" dirty="0"/>
          </a:p>
        </p:txBody>
      </p:sp>
      <p:sp>
        <p:nvSpPr>
          <p:cNvPr id="18" name="Text 16"/>
          <p:cNvSpPr/>
          <p:nvPr/>
        </p:nvSpPr>
        <p:spPr>
          <a:xfrm>
            <a:off x="9650730"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9961626" y="2743200"/>
            <a:ext cx="1544269" cy="1371600"/>
          </a:xfrm>
          <a:prstGeom prst="roundRect">
            <a:avLst>
              <a:gd name="adj" fmla="val 8000"/>
            </a:avLst>
          </a:prstGeom>
          <a:solidFill>
            <a:srgbClr val="EDF2F8"/>
          </a:solidFill>
          <a:ln/>
        </p:spPr>
      </p:sp>
      <p:sp>
        <p:nvSpPr>
          <p:cNvPr id="20" name="Text 18"/>
          <p:cNvSpPr/>
          <p:nvPr/>
        </p:nvSpPr>
        <p:spPr>
          <a:xfrm>
            <a:off x="10107930" y="2743200"/>
            <a:ext cx="1251661" cy="137160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Workflow</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resumes</a:t>
            </a:r>
            <a:endParaRPr lang="en-US" sz="1400" dirty="0"/>
          </a:p>
        </p:txBody>
      </p:sp>
      <p:sp>
        <p:nvSpPr>
          <p:cNvPr id="21" name="Text 19"/>
          <p:cNvSpPr/>
          <p:nvPr/>
        </p:nvSpPr>
        <p:spPr>
          <a:xfrm>
            <a:off x="685800" y="4663440"/>
            <a:ext cx="10362895" cy="45720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Orchestration separated from heavy file processing, without losing workflow state.</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A2</a:t>
            </a:r>
            <a:endParaRPr lang="en-US" sz="1100" dirty="0"/>
          </a:p>
        </p:txBody>
      </p:sp>
      <p:sp>
        <p:nvSpPr>
          <p:cNvPr id="3" name="Text 1"/>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Why Fargate + NestJS for ingestion</a:t>
            </a:r>
            <a:endParaRPr lang="en-US" sz="3200" dirty="0"/>
          </a:p>
        </p:txBody>
      </p:sp>
      <p:sp>
        <p:nvSpPr>
          <p:cNvPr id="4" name="Text 2"/>
          <p:cNvSpPr/>
          <p:nvPr/>
        </p:nvSpPr>
        <p:spPr>
          <a:xfrm>
            <a:off x="685800" y="233172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Prototyped</a:t>
            </a:r>
            <a:endParaRPr lang="en-US" sz="1400" dirty="0"/>
          </a:p>
        </p:txBody>
      </p:sp>
      <p:sp>
        <p:nvSpPr>
          <p:cNvPr id="5" name="Text 3"/>
          <p:cNvSpPr/>
          <p:nvPr/>
        </p:nvSpPr>
        <p:spPr>
          <a:xfrm>
            <a:off x="685800" y="2788920"/>
            <a:ext cx="10362895" cy="82296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Go · Python · TypeScript · AWS Lambda · AWS Fargate · Containers · NestJS · Middy</a:t>
            </a:r>
            <a:endParaRPr lang="en-US" sz="2000" dirty="0"/>
          </a:p>
        </p:txBody>
      </p:sp>
      <p:sp>
        <p:nvSpPr>
          <p:cNvPr id="6" name="Text 4"/>
          <p:cNvSpPr/>
          <p:nvPr/>
        </p:nvSpPr>
        <p:spPr>
          <a:xfrm>
            <a:off x="685800" y="397764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Measured on</a:t>
            </a:r>
            <a:endParaRPr lang="en-US" sz="1400" dirty="0"/>
          </a:p>
        </p:txBody>
      </p:sp>
      <p:sp>
        <p:nvSpPr>
          <p:cNvPr id="7" name="Text 5"/>
          <p:cNvSpPr/>
          <p:nvPr/>
        </p:nvSpPr>
        <p:spPr>
          <a:xfrm>
            <a:off x="685800" y="4434840"/>
            <a:ext cx="10362895" cy="54864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Throughput · scaling behaviour · maintainability · operational complexity</a:t>
            </a:r>
            <a:endParaRPr lang="en-US" sz="2000" dirty="0"/>
          </a:p>
        </p:txBody>
      </p:sp>
      <p:sp>
        <p:nvSpPr>
          <p:cNvPr id="8" name="Text 6"/>
          <p:cNvSpPr/>
          <p:nvPr/>
        </p:nvSpPr>
        <p:spPr>
          <a:xfrm>
            <a:off x="685800" y="5440680"/>
            <a:ext cx="10362895" cy="457200"/>
          </a:xfrm>
          <a:prstGeom prst="rect">
            <a:avLst/>
          </a:prstGeom>
          <a:noFill/>
          <a:ln/>
        </p:spPr>
        <p:txBody>
          <a:bodyPr wrap="square" lIns="0" tIns="0" rIns="0" bIns="0" rtlCol="0" anchor="ctr"/>
          <a:lstStyle/>
          <a:p>
            <a:pPr indent="0" marL="0">
              <a:buNone/>
            </a:pPr>
            <a:r>
              <a:rPr lang="en-US" sz="1700" b="1" dirty="0">
                <a:solidFill>
                  <a:srgbClr val="00C08B"/>
                </a:solidFill>
                <a:latin typeface="Arial" pitchFamily="34" charset="0"/>
                <a:ea typeface="Arial" pitchFamily="34" charset="-122"/>
                <a:cs typeface="Arial" pitchFamily="34" charset="-120"/>
              </a:rPr>
              <a:t>Winner: AWS Fargate + NestJS. The stack answer is local to this problem — the method isn't.</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A3</a:t>
            </a:r>
            <a:endParaRPr lang="en-US" sz="1100" dirty="0"/>
          </a:p>
        </p:txBody>
      </p:sp>
      <p:sp>
        <p:nvSpPr>
          <p:cNvPr id="3" name="Text 1"/>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Tracking: deciding when to recover</a:t>
            </a:r>
            <a:endParaRPr lang="en-US" sz="3200" dirty="0"/>
          </a:p>
        </p:txBody>
      </p:sp>
      <p:sp>
        <p:nvSpPr>
          <p:cNvPr id="4" name="Shape 2"/>
          <p:cNvSpPr/>
          <p:nvPr/>
        </p:nvSpPr>
        <p:spPr>
          <a:xfrm>
            <a:off x="685800" y="2688336"/>
            <a:ext cx="146304" cy="146304"/>
          </a:xfrm>
          <a:prstGeom prst="roundRect">
            <a:avLst>
              <a:gd name="adj" fmla="val 31250"/>
            </a:avLst>
          </a:prstGeom>
          <a:solidFill>
            <a:srgbClr val="6B7B93"/>
          </a:solidFill>
          <a:ln/>
        </p:spPr>
      </p:sp>
      <p:sp>
        <p:nvSpPr>
          <p:cNvPr id="5" name="Text 3"/>
          <p:cNvSpPr/>
          <p:nvPr/>
        </p:nvSpPr>
        <p:spPr>
          <a:xfrm>
            <a:off x="1097280" y="25146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Every call is tracked through its lifecycle.</a:t>
            </a:r>
            <a:endParaRPr lang="en-US" sz="1800" dirty="0"/>
          </a:p>
        </p:txBody>
      </p:sp>
      <p:sp>
        <p:nvSpPr>
          <p:cNvPr id="6" name="Shape 4"/>
          <p:cNvSpPr/>
          <p:nvPr/>
        </p:nvSpPr>
        <p:spPr>
          <a:xfrm>
            <a:off x="685800" y="3602736"/>
            <a:ext cx="146304" cy="146304"/>
          </a:xfrm>
          <a:prstGeom prst="roundRect">
            <a:avLst>
              <a:gd name="adj" fmla="val 31250"/>
            </a:avLst>
          </a:prstGeom>
          <a:solidFill>
            <a:srgbClr val="6B7B93"/>
          </a:solidFill>
          <a:ln/>
        </p:spPr>
      </p:sp>
      <p:sp>
        <p:nvSpPr>
          <p:cNvPr id="7" name="Text 5"/>
          <p:cNvSpPr/>
          <p:nvPr/>
        </p:nvSpPr>
        <p:spPr>
          <a:xfrm>
            <a:off x="1097280" y="34290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Streaming delivers → the call is marked complete.</a:t>
            </a:r>
            <a:endParaRPr lang="en-US" sz="1800" dirty="0"/>
          </a:p>
        </p:txBody>
      </p:sp>
      <p:sp>
        <p:nvSpPr>
          <p:cNvPr id="8" name="Shape 6"/>
          <p:cNvSpPr/>
          <p:nvPr/>
        </p:nvSpPr>
        <p:spPr>
          <a:xfrm>
            <a:off x="685800" y="4517136"/>
            <a:ext cx="146304" cy="146304"/>
          </a:xfrm>
          <a:prstGeom prst="roundRect">
            <a:avLst>
              <a:gd name="adj" fmla="val 31250"/>
            </a:avLst>
          </a:prstGeom>
          <a:solidFill>
            <a:srgbClr val="6B7B93"/>
          </a:solidFill>
          <a:ln/>
        </p:spPr>
      </p:sp>
      <p:sp>
        <p:nvSpPr>
          <p:cNvPr id="9" name="Text 7"/>
          <p:cNvSpPr/>
          <p:nvPr/>
        </p:nvSpPr>
        <p:spPr>
          <a:xfrm>
            <a:off x="1097280" y="43434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No recording inside the expected window → recovery is scheduled automatically.</a:t>
            </a:r>
            <a:endParaRPr lang="en-US" sz="1800" dirty="0"/>
          </a:p>
        </p:txBody>
      </p:sp>
      <p:sp>
        <p:nvSpPr>
          <p:cNvPr id="10" name="Shape 8"/>
          <p:cNvSpPr/>
          <p:nvPr/>
        </p:nvSpPr>
        <p:spPr>
          <a:xfrm>
            <a:off x="685800" y="5431536"/>
            <a:ext cx="146304" cy="146304"/>
          </a:xfrm>
          <a:prstGeom prst="roundRect">
            <a:avLst>
              <a:gd name="adj" fmla="val 31250"/>
            </a:avLst>
          </a:prstGeom>
          <a:solidFill>
            <a:srgbClr val="00C08B"/>
          </a:solidFill>
          <a:ln/>
        </p:spPr>
      </p:sp>
      <p:sp>
        <p:nvSpPr>
          <p:cNvPr id="11" name="Text 9"/>
          <p:cNvSpPr/>
          <p:nvPr/>
        </p:nvSpPr>
        <p:spPr>
          <a:xfrm>
            <a:off x="1097280" y="5257800"/>
            <a:ext cx="9997135" cy="502920"/>
          </a:xfrm>
          <a:prstGeom prst="rect">
            <a:avLst/>
          </a:prstGeom>
          <a:noFill/>
          <a:ln/>
        </p:spPr>
        <p:txBody>
          <a:bodyPr wrap="square" lIns="0" tIns="0" rIns="0" bIns="0" rtlCol="0" anchor="ctr"/>
          <a:lstStyle/>
          <a:p>
            <a:pPr indent="0" marL="0">
              <a:buNone/>
            </a:pPr>
            <a:r>
              <a:rPr lang="en-US" sz="1800" b="1" dirty="0">
                <a:solidFill>
                  <a:srgbClr val="00C08B"/>
                </a:solidFill>
                <a:latin typeface="Calibri" pitchFamily="34" charset="0"/>
                <a:ea typeface="Calibri" pitchFamily="34" charset="-122"/>
                <a:cs typeface="Calibri" pitchFamily="34" charset="-120"/>
              </a:rPr>
              <a:t>Nothing is reconciled by hand. Everything is driven by state.</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A4</a:t>
            </a:r>
            <a:endParaRPr lang="en-US" sz="1100" dirty="0"/>
          </a:p>
        </p:txBody>
      </p:sp>
      <p:sp>
        <p:nvSpPr>
          <p:cNvPr id="3" name="Text 1"/>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Local environment: what's in it</a:t>
            </a:r>
            <a:endParaRPr lang="en-US" sz="3200" dirty="0"/>
          </a:p>
        </p:txBody>
      </p:sp>
      <p:sp>
        <p:nvSpPr>
          <p:cNvPr id="4" name="Text 2"/>
          <p:cNvSpPr/>
          <p:nvPr/>
        </p:nvSpPr>
        <p:spPr>
          <a:xfrm>
            <a:off x="685800" y="237744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In</a:t>
            </a:r>
            <a:endParaRPr lang="en-US" sz="1400" dirty="0"/>
          </a:p>
        </p:txBody>
      </p:sp>
      <p:sp>
        <p:nvSpPr>
          <p:cNvPr id="5" name="Text 3"/>
          <p:cNvSpPr/>
          <p:nvPr/>
        </p:nvSpPr>
        <p:spPr>
          <a:xfrm>
            <a:off x="685800" y="2834640"/>
            <a:ext cx="10362895" cy="822960"/>
          </a:xfrm>
          <a:prstGeom prst="rect">
            <a:avLst/>
          </a:prstGeom>
          <a:noFill/>
          <a:ln/>
        </p:spPr>
        <p:txBody>
          <a:bodyPr wrap="square" lIns="0" tIns="0" rIns="0" bIns="0" rtlCol="0" anchor="ctr"/>
          <a:lstStyle/>
          <a:p>
            <a:pPr indent="0" marL="0">
              <a:buNone/>
            </a:pPr>
            <a:r>
              <a:rPr lang="en-US" sz="1900" b="1" dirty="0">
                <a:solidFill>
                  <a:srgbClr val="16233A"/>
                </a:solidFill>
                <a:latin typeface="Calibri" pitchFamily="34" charset="0"/>
                <a:ea typeface="Calibri" pitchFamily="34" charset="-122"/>
                <a:cs typeface="Calibri" pitchFamily="34" charset="-120"/>
              </a:rPr>
              <a:t>Step Functions · Lambda · DynamoDB · SQS · S3 · supporting infrastructure from the production CDK</a:t>
            </a:r>
            <a:endParaRPr lang="en-US" sz="1900" dirty="0"/>
          </a:p>
        </p:txBody>
      </p:sp>
      <p:sp>
        <p:nvSpPr>
          <p:cNvPr id="6" name="Text 4"/>
          <p:cNvSpPr/>
          <p:nvPr/>
        </p:nvSpPr>
        <p:spPr>
          <a:xfrm>
            <a:off x="685800" y="411480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Not in</a:t>
            </a:r>
            <a:endParaRPr lang="en-US" sz="1400" dirty="0"/>
          </a:p>
        </p:txBody>
      </p:sp>
      <p:sp>
        <p:nvSpPr>
          <p:cNvPr id="7" name="Text 5"/>
          <p:cNvSpPr/>
          <p:nvPr/>
        </p:nvSpPr>
        <p:spPr>
          <a:xfrm>
            <a:off x="685800" y="4572000"/>
            <a:ext cx="10362895" cy="640080"/>
          </a:xfrm>
          <a:prstGeom prst="rect">
            <a:avLst/>
          </a:prstGeom>
          <a:noFill/>
          <a:ln/>
        </p:spPr>
        <p:txBody>
          <a:bodyPr wrap="square" lIns="0" tIns="0" rIns="0" bIns="0" rtlCol="0" anchor="ctr"/>
          <a:lstStyle/>
          <a:p>
            <a:pPr indent="0" marL="0">
              <a:buNone/>
            </a:pPr>
            <a:r>
              <a:rPr lang="en-US" sz="1900" b="1" dirty="0">
                <a:solidFill>
                  <a:srgbClr val="E8743B"/>
                </a:solidFill>
                <a:latin typeface="Calibri" pitchFamily="34" charset="0"/>
                <a:ea typeface="Calibri" pitchFamily="34" charset="-122"/>
                <a:cs typeface="Calibri" pitchFamily="34" charset="-120"/>
              </a:rPr>
              <a:t>IAM behaviour · real throughput · production-scale timing · vendor APIs</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A5</a:t>
            </a:r>
            <a:endParaRPr lang="en-US" sz="1100" dirty="0"/>
          </a:p>
        </p:txBody>
      </p:sp>
      <p:sp>
        <p:nvSpPr>
          <p:cNvPr id="3" name="Text 1"/>
          <p:cNvSpPr/>
          <p:nvPr/>
        </p:nvSpPr>
        <p:spPr>
          <a:xfrm>
            <a:off x="685800" y="1143000"/>
            <a:ext cx="10088575" cy="77724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Platform milestones</a:t>
            </a:r>
            <a:endParaRPr lang="en-US" sz="3200" dirty="0"/>
          </a:p>
        </p:txBody>
      </p:sp>
      <p:sp>
        <p:nvSpPr>
          <p:cNvPr id="4" name="Shape 2"/>
          <p:cNvSpPr/>
          <p:nvPr/>
        </p:nvSpPr>
        <p:spPr>
          <a:xfrm>
            <a:off x="685800" y="2560320"/>
            <a:ext cx="402336" cy="402336"/>
          </a:xfrm>
          <a:prstGeom prst="roundRect">
            <a:avLst>
              <a:gd name="adj" fmla="val 25000"/>
            </a:avLst>
          </a:prstGeom>
          <a:solidFill>
            <a:srgbClr val="EDF2F8"/>
          </a:solidFill>
          <a:ln/>
        </p:spPr>
      </p:sp>
      <p:sp>
        <p:nvSpPr>
          <p:cNvPr id="5" name="Text 3"/>
          <p:cNvSpPr/>
          <p:nvPr/>
        </p:nvSpPr>
        <p:spPr>
          <a:xfrm>
            <a:off x="685800" y="256032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344168" y="256032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First IVR initiative on the new platform SDK</a:t>
            </a:r>
            <a:endParaRPr lang="en-US" sz="1800" dirty="0"/>
          </a:p>
        </p:txBody>
      </p:sp>
      <p:sp>
        <p:nvSpPr>
          <p:cNvPr id="7" name="Shape 5"/>
          <p:cNvSpPr/>
          <p:nvPr/>
        </p:nvSpPr>
        <p:spPr>
          <a:xfrm>
            <a:off x="685800" y="3383280"/>
            <a:ext cx="402336" cy="402336"/>
          </a:xfrm>
          <a:prstGeom prst="roundRect">
            <a:avLst>
              <a:gd name="adj" fmla="val 25000"/>
            </a:avLst>
          </a:prstGeom>
          <a:solidFill>
            <a:srgbClr val="EDF2F8"/>
          </a:solidFill>
          <a:ln/>
        </p:spPr>
      </p:sp>
      <p:sp>
        <p:nvSpPr>
          <p:cNvPr id="8" name="Text 6"/>
          <p:cNvSpPr/>
          <p:nvPr/>
        </p:nvSpPr>
        <p:spPr>
          <a:xfrm>
            <a:off x="685800" y="338328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1344168" y="338328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First monorepo</a:t>
            </a:r>
            <a:endParaRPr lang="en-US" sz="1800" dirty="0"/>
          </a:p>
        </p:txBody>
      </p:sp>
      <p:sp>
        <p:nvSpPr>
          <p:cNvPr id="10" name="Shape 8"/>
          <p:cNvSpPr/>
          <p:nvPr/>
        </p:nvSpPr>
        <p:spPr>
          <a:xfrm>
            <a:off x="685800" y="4206240"/>
            <a:ext cx="402336" cy="402336"/>
          </a:xfrm>
          <a:prstGeom prst="roundRect">
            <a:avLst>
              <a:gd name="adj" fmla="val 25000"/>
            </a:avLst>
          </a:prstGeom>
          <a:solidFill>
            <a:srgbClr val="EDF2F8"/>
          </a:solidFill>
          <a:ln/>
        </p:spPr>
      </p:sp>
      <p:sp>
        <p:nvSpPr>
          <p:cNvPr id="11" name="Text 9"/>
          <p:cNvSpPr/>
          <p:nvPr/>
        </p:nvSpPr>
        <p:spPr>
          <a:xfrm>
            <a:off x="685800" y="420624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1344168" y="420624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Independently deployable services</a:t>
            </a:r>
            <a:endParaRPr lang="en-US" sz="1800" dirty="0"/>
          </a:p>
        </p:txBody>
      </p:sp>
      <p:sp>
        <p:nvSpPr>
          <p:cNvPr id="13" name="Shape 11"/>
          <p:cNvSpPr/>
          <p:nvPr/>
        </p:nvSpPr>
        <p:spPr>
          <a:xfrm>
            <a:off x="685800" y="5029200"/>
            <a:ext cx="402336" cy="402336"/>
          </a:xfrm>
          <a:prstGeom prst="roundRect">
            <a:avLst>
              <a:gd name="adj" fmla="val 25000"/>
            </a:avLst>
          </a:prstGeom>
          <a:solidFill>
            <a:srgbClr val="EDF2F8"/>
          </a:solidFill>
          <a:ln/>
        </p:spPr>
      </p:sp>
      <p:sp>
        <p:nvSpPr>
          <p:cNvPr id="14" name="Text 12"/>
          <p:cNvSpPr/>
          <p:nvPr/>
        </p:nvSpPr>
        <p:spPr>
          <a:xfrm>
            <a:off x="685800" y="502920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1344168" y="502920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Independently deployable Step Functions</a:t>
            </a:r>
            <a:endParaRPr lang="en-US" sz="1800" dirty="0"/>
          </a:p>
        </p:txBody>
      </p:sp>
      <p:sp>
        <p:nvSpPr>
          <p:cNvPr id="16" name="Text 14"/>
          <p:cNvSpPr/>
          <p:nvPr/>
        </p:nvSpPr>
        <p:spPr>
          <a:xfrm>
            <a:off x="685800" y="5760720"/>
            <a:ext cx="10362895" cy="45720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The repository is the single source of truth — which is why onboarding engineers two and three was quick.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LocalStack Saved the StateMachine</dc:title>
  <dc:subject>PptxGenJS Presentation</dc:subject>
  <dc:creator>Javier Benavides</dc:creator>
  <cp:lastModifiedBy>Javier Benavides</cp:lastModifiedBy>
  <cp:revision>1</cp:revision>
  <dcterms:created xsi:type="dcterms:W3CDTF">2026-08-17T01:04:24Z</dcterms:created>
  <dcterms:modified xsi:type="dcterms:W3CDTF">2026-08-17T01:04:24Z</dcterms:modified>
</cp:coreProperties>
</file>