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start here — this is what's on screen while people sit down. Start on slide 2.
[FILL] Your team name and the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the research properly. We prototyped several orchestration approaches and Step Functions won. Good decision.
And then implementation started, and within about a week it was clear that decision was going to be very hard to execute — for a reason that had nothing to do with architecture."
Pause. Then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explicitly, it earns you patience: "I'm not going to show you the architecture and then explain it. You're going to arrive at it with me, one question at a time."
Also say the production diagram is in the appendix and in the repo, so the architects stop waiting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 flat. Let it sound as small as it sounded on day one.
Then ask the question out loud and actually pause. Let two or three people guess. This is the moment the audience joins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at a time. The last one changes the problem.
"A thousand lost recordings a day is a thousand lost recordings a day. This became a distributed systems problem the moment that number was zero."
[FILL] I derived 5.5 TB/day from 1M x 5.5 MB. Use the real S3 growth figure if you have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Waiting for the vendor to build us something was not on the table.
"The question stopped being 'how do we move a file' and became 'how do you build enterprise ingestion when the only surface you're allowed to touch is someone else's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it's the setup for the first real experiment. The two labels do the work: one looked promising, one looked painful. We were wrong about which one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the 90% for a beat — it was a real result and the team was pleased.
Then: "Ninety percent is a great engineering result and a failing grade at the same time."
One spoken sentence on tracking, no slide: every call is tracked as state; streaming lands, the call closes; it doesn't land in the window, recovery opens automatically. Nobody reconciles by hand. Appendix A3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quickly. The point is not the steps — it's that this thing has waits, retries and callbacks, and it spans several Lambdas. That shape is what forces every decision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shortlist. We built in each of them."
Say out loud, not on the slide: chosen on simplicity, resiliency — and honestly, on what the team already knew.
Say the last line as written. Team familiarity was genuinely part of this decision, and admitting it is what makes the rest of the talk credible — someone in that room was in those conversations. A talk that claims pure measurement when the room remembers otherwise loses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 this is the one factual claim in the talk someone will go and check.
[FILL] VERIFY whether this is still true today. Saying "this may have improved since" from the stage costs you nothing; being caught out costs you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with your finger, then land the number.
"That's the price of finding out you got a retry policy wrong."
[FILL] How long one deploy-and-test cycle actually took. This number makes the next three slides mean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TEXT ON SCREEN. Tell this one. Roughly:
"A single Step Function execution fans out across many Lambdas, and every one of them writes its own log stream. So when an execution failed, the question 'which state broke, and why' meant opening CloudWatch, finding each stream, and correlating them by hand — by timestamp, by request id, by eye.
I remember sitting there with [N] log streams open across [N] tabs, trying to reconstruct one execution, and thinking: I'm not debugging a workflow. I'm doing archaeology."
[FILL] The real number of streams/tabs. And if a teammate said something verbatim in that stretch, use it — verbatim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load-bearing sentence of the talk. Slow down.
"We'd made a rule at the start of this project — experiment first, implement later. That rule is free to say and it has a price, and the price is the cost of one iteration.
At [N] minutes a cycle, nobody runs a second experiment. They go with whoever sounds most confident."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stopped building the product and went and built the loop. That felt wrong at the time. It was the highest-leverage week of the project."
[FILL] How long the local platform took to build. The objection on slide 27 lives or dies on this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CDK point hard. It is what makes the local environment trustworthy rather than a parallel fiction — not a hand-written approximation of production, but production's own definitions.
Then answer your own next question flatly: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LocalStack solved half of it. The other half was that every developer still had to hand-assemble an environment before running anything. So I wrapped all of it in scripts — a few commands from cold laptop to a running execution.
[FILL] Show the real commands if you can. A live command on screen beats three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line matters more than it looks. Building the tracer to work against real cloud environments too is what stops the local environment becoming a private toy — the debugging experience is identical wherever the execution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screenshot, put it here and stop talking for five seconds. Show, don't describe.
[FILL] A screenshot of the visualization UI. Most persuasive artifact you have, and it costs you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talk points at this slide. Give both numbers, then stop talking for a second.
[FILL] THE most important pair of numbers in the deck. Before and after iteration time. If you get nothing else, get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no more.
Honest framing: building a local platform, a tracing tool and a UI on top of delivering the product is not something one engineer does at the old price of writing software. That is what changed.
Then the guard-rail: none of it chose anything. Every architectural call in this talk came from a measurement.
[FILL] Your drafts say "Cloud Code" — I've assumed Claude Code. Confirm both names before this goes on a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had a worry: at our volume, the polling loop is going to be expensive."
"On most projects that sentence IS the decision. Someone senior says it, the room agrees, and you build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how good it was. The reversal only lands if the thing being reversed was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the projected number. The one production actually gave us."
"We'd built a second architecture to save money on something that happens [N] times a day. The savings were about [$X] a month. The extra complexity was permanent — another service, another failure mode, another thing to explain at 3am."
"We deleted the clever solution and shipped the simpler one. Sometimes engineering means removing ideas."
You confirmed this is measured production data, not an estimate — have the source ready, because this is the slide a good engineer will question.
[FILL] Real export jobs per day, and the monthly cost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loop of the talk. The local platform isn't why the project was pleasant — it's why the architecture is right.
Then the outcome, briefly: shipped with one engineer, later three; onboarding was fast because everything was specified in the repo, so nobody needed tribal knowledge; hit the enterprise delivery commitments and the Payments regulatory deadline.
[FILL] The regulatory deadline date, if you can name it. A date makes this a fact rather than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this fast and completely — it's the strongest objection in the room, and conceding it buys you everything after it. Do not defend the emulator.
"We never claimed the emulator was the last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version of the answer isn't hours saved — it's the deadline. We had a regulatory date and we hit it, and we hit it because the middle of the project was fast, not because the start was.
[FILL] How long the local platform took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boundary before someone else does. If a workflow isn't all four of those, this is overkill and I'd tell you not to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these five steps on every question I just walked you through. They're not a methodology, they're just refusing to decide from opinion."
"And they have a prerequisite nobody puts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line, and it's the best sentence in any of the drafts. Deliver it slowly and let it sit. Then one more slide — the thing you actually want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starting something with waits, retries and callbacks in it — before you design the workflow, work out what it costs to run one. If the answer is a pipeline, go fix that first.
Thank you."
Stop. No summary slide. No thank-you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Jump here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Downloading thousands of large ZIPs was never a Lambda problem. Each service does the one thing it's best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not Lambda' — one sentence and redirect. This is a tar pit, and every minute here is a minute off your claim.
[FILL] One real measured comparison would make this slide much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vendor later added a single-recording download API for when only a few files are missing — cheaper than a full export for small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able to say precisely what the emulator does not cover. A vague answer here undoes slide 26.
[FILL] Correct the 'Not in' list — I inferred it. Add the command list if you want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if asked. Credibility, not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1417320"/>
            <a:ext cx="566928" cy="566928"/>
          </a:xfrm>
          <a:prstGeom prst="roundRect">
            <a:avLst>
              <a:gd name="adj" fmla="val 24194"/>
            </a:avLst>
          </a:prstGeom>
          <a:solidFill>
            <a:srgbClr val="00C08B"/>
          </a:solidFill>
          <a:ln/>
        </p:spPr>
      </p:sp>
      <p:sp>
        <p:nvSpPr>
          <p:cNvPr id="4" name="Text 2"/>
          <p:cNvSpPr/>
          <p:nvPr/>
        </p:nvSpPr>
        <p:spPr>
          <a:xfrm>
            <a:off x="685800" y="2240280"/>
            <a:ext cx="9448495" cy="1828800"/>
          </a:xfrm>
          <a:prstGeom prst="rect">
            <a:avLst/>
          </a:prstGeom>
          <a:noFill/>
          <a:ln/>
        </p:spPr>
        <p:txBody>
          <a:bodyPr wrap="square" lIns="0" tIns="0" rIns="0" bIns="0" rtlCol="0" anchor="t"/>
          <a:lstStyle/>
          <a:p>
            <a:pPr indent="0" marL="0">
              <a:lnSpc>
                <a:spcPts val="5800"/>
              </a:lnSpc>
              <a:buNone/>
            </a:pPr>
            <a:r>
              <a:rPr lang="en-US" sz="4800" b="1" dirty="0">
                <a:solidFill>
                  <a:srgbClr val="FFFFFF"/>
                </a:solidFill>
                <a:latin typeface="Arial" pitchFamily="34" charset="0"/>
                <a:ea typeface="Arial" pitchFamily="34" charset="-122"/>
                <a:cs typeface="Arial" pitchFamily="34" charset="-120"/>
              </a:rPr>
              <a:t>How LocalStack Saved</a:t>
            </a:r>
            <a:endParaRPr lang="en-US" sz="4800" dirty="0"/>
          </a:p>
          <a:p>
            <a:pPr indent="0" marL="0">
              <a:lnSpc>
                <a:spcPts val="5800"/>
              </a:lnSpc>
              <a:buNone/>
            </a:pPr>
            <a:r>
              <a:rPr lang="en-US" sz="4800" b="1" dirty="0">
                <a:solidFill>
                  <a:srgbClr val="FFFFFF"/>
                </a:solidFill>
                <a:latin typeface="Arial" pitchFamily="34" charset="0"/>
                <a:ea typeface="Arial" pitchFamily="34" charset="-122"/>
                <a:cs typeface="Arial" pitchFamily="34" charset="-120"/>
              </a:rPr>
              <a:t>the StateMachine</a:t>
            </a:r>
            <a:endParaRPr lang="en-US" sz="4800" dirty="0"/>
          </a:p>
        </p:txBody>
      </p:sp>
      <p:sp>
        <p:nvSpPr>
          <p:cNvPr id="5" name="Text 3"/>
          <p:cNvSpPr/>
          <p:nvPr/>
        </p:nvSpPr>
        <p:spPr>
          <a:xfrm>
            <a:off x="685800" y="4206240"/>
            <a:ext cx="9448495" cy="457200"/>
          </a:xfrm>
          <a:prstGeom prst="rect">
            <a:avLst/>
          </a:prstGeom>
          <a:noFill/>
          <a:ln/>
        </p:spPr>
        <p:txBody>
          <a:bodyPr wrap="square" lIns="0" tIns="0" rIns="0" bIns="0" rtlCol="0" anchor="ctr"/>
          <a:lstStyle/>
          <a:p>
            <a:pPr indent="0" marL="0">
              <a:buNone/>
            </a:pPr>
            <a:r>
              <a:rPr lang="en-US" sz="1700" dirty="0">
                <a:solidFill>
                  <a:srgbClr val="8FA3BF"/>
                </a:solidFill>
                <a:latin typeface="Calibri" pitchFamily="34" charset="0"/>
                <a:ea typeface="Calibri" pitchFamily="34" charset="-122"/>
                <a:cs typeface="Calibri" pitchFamily="34" charset="-120"/>
              </a:rPr>
              <a:t>Step Functions, 1M recordings a day, and the loop that made every decision affordable</a:t>
            </a:r>
            <a:endParaRPr lang="en-US" sz="1700" dirty="0"/>
          </a:p>
        </p:txBody>
      </p:sp>
      <p:sp>
        <p:nvSpPr>
          <p:cNvPr id="6" name="Text 4"/>
          <p:cNvSpPr/>
          <p:nvPr/>
        </p:nvSpPr>
        <p:spPr>
          <a:xfrm>
            <a:off x="685800" y="5852160"/>
            <a:ext cx="10820095" cy="365760"/>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Javier Benavides  ·  IVR Data  ·  [date]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5" name="Text 3"/>
          <p:cNvSpPr/>
          <p:nvPr/>
        </p:nvSpPr>
        <p:spPr>
          <a:xfrm>
            <a:off x="685800" y="2286000"/>
            <a:ext cx="9722815" cy="2926080"/>
          </a:xfrm>
          <a:prstGeom prst="rect">
            <a:avLst/>
          </a:prstGeom>
          <a:noFill/>
          <a:ln/>
        </p:spPr>
        <p:txBody>
          <a:bodyPr wrap="square" lIns="0" tIns="0" rIns="0" bIns="0" rtlCol="0" anchor="t"/>
          <a:lstStyle/>
          <a:p>
            <a:pPr algn="l" indent="0" marL="0">
              <a:lnSpc>
                <a:spcPts val="4608"/>
              </a:lnSpc>
              <a:buNone/>
            </a:pPr>
            <a:r>
              <a:rPr lang="en-US" sz="3600" b="1" dirty="0">
                <a:solidFill>
                  <a:srgbClr val="FFFFFF"/>
                </a:solidFill>
                <a:latin typeface="Arial" pitchFamily="34" charset="0"/>
                <a:ea typeface="Arial" pitchFamily="34" charset="-122"/>
                <a:cs typeface="Arial" pitchFamily="34" charset="-120"/>
              </a:rPr>
              <a:t>We picked Step Functions</a:t>
            </a:r>
            <a:endParaRPr lang="en-US" sz="3600" dirty="0"/>
          </a:p>
          <a:p>
            <a:pPr algn="l" indent="0" marL="0">
              <a:lnSpc>
                <a:spcPts val="4608"/>
              </a:lnSpc>
              <a:buNone/>
            </a:pPr>
            <a:r>
              <a:rPr lang="en-US" sz="3600" b="1" dirty="0">
                <a:solidFill>
                  <a:srgbClr val="FFFFFF"/>
                </a:solidFill>
                <a:latin typeface="Arial" pitchFamily="34" charset="0"/>
                <a:ea typeface="Arial" pitchFamily="34" charset="-122"/>
                <a:cs typeface="Arial" pitchFamily="34" charset="-120"/>
              </a:rPr>
              <a:t>because the experiments said so.</a:t>
            </a:r>
            <a:endParaRPr lang="en-US" sz="3600" dirty="0"/>
          </a:p>
          <a:p>
            <a:pPr algn="l" indent="0" marL="0">
              <a:lnSpc>
                <a:spcPts val="4608"/>
              </a:lnSpc>
              <a:buNone/>
            </a:pPr>
            <a:r>
              <a:rPr lang="en-US" sz="3600" b="1" dirty="0">
                <a:solidFill>
                  <a:srgbClr val="00C08B"/>
                </a:solidFill>
                <a:latin typeface="Arial" pitchFamily="34" charset="0"/>
                <a:ea typeface="Arial" pitchFamily="34" charset="-122"/>
                <a:cs typeface="Arial" pitchFamily="34" charset="-120"/>
              </a:rPr>
              <a:t>Then we almost couldn't build them.</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HOW THIS TALK WORKS</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Every slide is a question we had to answer</a:t>
            </a:r>
            <a:endParaRPr lang="en-US" sz="3200" dirty="0"/>
          </a:p>
        </p:txBody>
      </p:sp>
      <p:sp>
        <p:nvSpPr>
          <p:cNvPr id="6" name="Shape 4"/>
          <p:cNvSpPr/>
          <p:nvPr/>
        </p:nvSpPr>
        <p:spPr>
          <a:xfrm>
            <a:off x="685800" y="2377440"/>
            <a:ext cx="402336" cy="402336"/>
          </a:xfrm>
          <a:prstGeom prst="roundRect">
            <a:avLst>
              <a:gd name="adj" fmla="val 25000"/>
            </a:avLst>
          </a:prstGeom>
          <a:solidFill>
            <a:srgbClr val="00C08B"/>
          </a:solidFill>
          <a:ln/>
        </p:spPr>
      </p:sp>
      <p:sp>
        <p:nvSpPr>
          <p:cNvPr id="7" name="Text 5"/>
          <p:cNvSpPr/>
          <p:nvPr/>
        </p:nvSpPr>
        <p:spPr>
          <a:xfrm>
            <a:off x="685800" y="237744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344168" y="237744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Here's the question we were stuck on</a:t>
            </a:r>
            <a:endParaRPr lang="en-US" sz="1800" dirty="0"/>
          </a:p>
        </p:txBody>
      </p:sp>
      <p:sp>
        <p:nvSpPr>
          <p:cNvPr id="9" name="Shape 7"/>
          <p:cNvSpPr/>
          <p:nvPr/>
        </p:nvSpPr>
        <p:spPr>
          <a:xfrm>
            <a:off x="685800" y="3108960"/>
            <a:ext cx="402336" cy="402336"/>
          </a:xfrm>
          <a:prstGeom prst="roundRect">
            <a:avLst>
              <a:gd name="adj" fmla="val 25000"/>
            </a:avLst>
          </a:prstGeom>
          <a:solidFill>
            <a:srgbClr val="00C08B"/>
          </a:solidFill>
          <a:ln/>
        </p:spPr>
      </p:sp>
      <p:sp>
        <p:nvSpPr>
          <p:cNvPr id="10" name="Text 8"/>
          <p:cNvSpPr/>
          <p:nvPr/>
        </p:nvSpPr>
        <p:spPr>
          <a:xfrm>
            <a:off x="685800" y="310896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344168" y="310896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Here's the experiment we built</a:t>
            </a:r>
            <a:endParaRPr lang="en-US" sz="1800" dirty="0"/>
          </a:p>
        </p:txBody>
      </p:sp>
      <p:sp>
        <p:nvSpPr>
          <p:cNvPr id="12" name="Shape 10"/>
          <p:cNvSpPr/>
          <p:nvPr/>
        </p:nvSpPr>
        <p:spPr>
          <a:xfrm>
            <a:off x="685800" y="3840480"/>
            <a:ext cx="402336" cy="402336"/>
          </a:xfrm>
          <a:prstGeom prst="roundRect">
            <a:avLst>
              <a:gd name="adj" fmla="val 25000"/>
            </a:avLst>
          </a:prstGeom>
          <a:solidFill>
            <a:srgbClr val="00C08B"/>
          </a:solidFill>
          <a:ln/>
        </p:spPr>
      </p:sp>
      <p:sp>
        <p:nvSpPr>
          <p:cNvPr id="13" name="Text 11"/>
          <p:cNvSpPr/>
          <p:nvPr/>
        </p:nvSpPr>
        <p:spPr>
          <a:xfrm>
            <a:off x="685800" y="384048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344168" y="384048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Here's what it told us</a:t>
            </a:r>
            <a:endParaRPr lang="en-US" sz="1800" dirty="0"/>
          </a:p>
        </p:txBody>
      </p:sp>
      <p:sp>
        <p:nvSpPr>
          <p:cNvPr id="15" name="Shape 13"/>
          <p:cNvSpPr/>
          <p:nvPr/>
        </p:nvSpPr>
        <p:spPr>
          <a:xfrm>
            <a:off x="685800" y="4572000"/>
            <a:ext cx="402336" cy="402336"/>
          </a:xfrm>
          <a:prstGeom prst="roundRect">
            <a:avLst>
              <a:gd name="adj" fmla="val 25000"/>
            </a:avLst>
          </a:prstGeom>
          <a:solidFill>
            <a:srgbClr val="00C08B"/>
          </a:solidFill>
          <a:ln/>
        </p:spPr>
      </p:sp>
      <p:sp>
        <p:nvSpPr>
          <p:cNvPr id="16" name="Text 14"/>
          <p:cNvSpPr/>
          <p:nvPr/>
        </p:nvSpPr>
        <p:spPr>
          <a:xfrm>
            <a:off x="685800" y="45720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17" name="Text 15"/>
          <p:cNvSpPr/>
          <p:nvPr/>
        </p:nvSpPr>
        <p:spPr>
          <a:xfrm>
            <a:off x="1344168" y="457200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Here's the next question it created</a:t>
            </a:r>
            <a:endParaRPr lang="en-US" sz="1800" dirty="0"/>
          </a:p>
        </p:txBody>
      </p:sp>
      <p:sp>
        <p:nvSpPr>
          <p:cNvPr id="18" name="Text 16"/>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 what could possibly make moving a file difficult?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REQUIREMENT</a:t>
            </a:r>
            <a:endParaRPr lang="en-US" sz="1100" dirty="0"/>
          </a:p>
        </p:txBody>
      </p:sp>
      <p:sp>
        <p:nvSpPr>
          <p:cNvPr id="6" name="Text 4"/>
          <p:cNvSpPr/>
          <p:nvPr/>
        </p:nvSpPr>
        <p:spPr>
          <a:xfrm>
            <a:off x="685800" y="2194560"/>
            <a:ext cx="9357055" cy="2377440"/>
          </a:xfrm>
          <a:prstGeom prst="rect">
            <a:avLst/>
          </a:prstGeom>
          <a:noFill/>
          <a:ln/>
        </p:spPr>
        <p:txBody>
          <a:bodyPr wrap="square" lIns="0" tIns="0" rIns="0" bIns="0" rtlCol="0" anchor="t"/>
          <a:lstStyle/>
          <a:p>
            <a:pPr indent="0" marL="0">
              <a:lnSpc>
                <a:spcPts val="4500"/>
              </a:lnSpc>
              <a:buNone/>
            </a:pPr>
            <a:r>
              <a:rPr lang="en-US" sz="3300" i="1" dirty="0">
                <a:solidFill>
                  <a:srgbClr val="FFFFFF"/>
                </a:solidFill>
                <a:latin typeface="Arial" pitchFamily="34" charset="0"/>
                <a:ea typeface="Arial" pitchFamily="34" charset="-122"/>
                <a:cs typeface="Arial" pitchFamily="34" charset="-120"/>
              </a:rPr>
              <a:t>“A call ends, an audio file is generated,</a:t>
            </a:r>
            <a:endParaRPr lang="en-US" sz="3300" dirty="0"/>
          </a:p>
          <a:p>
            <a:pPr indent="0" marL="0">
              <a:lnSpc>
                <a:spcPts val="4500"/>
              </a:lnSpc>
              <a:buNone/>
            </a:pPr>
            <a:r>
              <a:rPr lang="en-US" sz="3300" i="1" dirty="0">
                <a:solidFill>
                  <a:srgbClr val="FFFFFF"/>
                </a:solidFill>
                <a:latin typeface="Arial" pitchFamily="34" charset="0"/>
                <a:ea typeface="Arial" pitchFamily="34" charset="-122"/>
                <a:cs typeface="Arial" pitchFamily="34" charset="-120"/>
              </a:rPr>
              <a:t>and that file must be transferred</a:t>
            </a:r>
            <a:endParaRPr lang="en-US" sz="3300" dirty="0"/>
          </a:p>
          <a:p>
            <a:pPr indent="0" marL="0">
              <a:lnSpc>
                <a:spcPts val="4500"/>
              </a:lnSpc>
              <a:buNone/>
            </a:pPr>
            <a:r>
              <a:rPr lang="en-US" sz="3300" i="1" dirty="0">
                <a:solidFill>
                  <a:srgbClr val="FFFFFF"/>
                </a:solidFill>
                <a:latin typeface="Arial" pitchFamily="34" charset="0"/>
                <a:ea typeface="Arial" pitchFamily="34" charset="-122"/>
                <a:cs typeface="Arial" pitchFamily="34" charset="-120"/>
              </a:rPr>
              <a:t>into Capital One.”</a:t>
            </a:r>
            <a:endParaRPr lang="en-US" sz="3300" dirty="0"/>
          </a:p>
        </p:txBody>
      </p:sp>
      <p:sp>
        <p:nvSpPr>
          <p:cNvPr id="7" name="Text 5"/>
          <p:cNvSpPr/>
          <p:nvPr/>
        </p:nvSpPr>
        <p:spPr>
          <a:xfrm>
            <a:off x="685800" y="4846320"/>
            <a:ext cx="9905695" cy="457200"/>
          </a:xfrm>
          <a:prstGeom prst="rect">
            <a:avLst/>
          </a:prstGeom>
          <a:noFill/>
          <a:ln/>
        </p:spPr>
        <p:txBody>
          <a:bodyPr wrap="square" lIns="0" tIns="0" rIns="0" bIns="0" rtlCol="0" anchor="ctr"/>
          <a:lstStyle/>
          <a:p>
            <a:pPr indent="0" marL="0">
              <a:buNone/>
            </a:pPr>
            <a:r>
              <a:rPr lang="en-US" sz="1700" dirty="0">
                <a:solidFill>
                  <a:srgbClr val="8FA3BF"/>
                </a:solidFill>
                <a:latin typeface="Calibri" pitchFamily="34" charset="0"/>
                <a:ea typeface="Calibri" pitchFamily="34" charset="-122"/>
                <a:cs typeface="Calibri" pitchFamily="34" charset="-120"/>
              </a:rPr>
              <a:t>That was the entire ticket.</a:t>
            </a:r>
            <a:endParaRPr lang="en-US" sz="1700" dirty="0"/>
          </a:p>
        </p:txBody>
      </p:sp>
      <p:sp>
        <p:nvSpPr>
          <p:cNvPr id="8" name="Text 6"/>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0C08B"/>
                </a:solidFill>
                <a:latin typeface="Calibri" pitchFamily="34" charset="0"/>
                <a:ea typeface="Calibri" pitchFamily="34" charset="-122"/>
                <a:cs typeface="Calibri" pitchFamily="34" charset="-120"/>
              </a:rPr>
              <a:t>→  What could possibly make this difficult?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WE FOUND</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It stopped being a file transfer problem</a:t>
            </a:r>
            <a:endParaRPr lang="en-US" sz="3200" dirty="0"/>
          </a:p>
        </p:txBody>
      </p:sp>
      <p:sp>
        <p:nvSpPr>
          <p:cNvPr id="6" name="Shape 4"/>
          <p:cNvSpPr/>
          <p:nvPr/>
        </p:nvSpPr>
        <p:spPr>
          <a:xfrm>
            <a:off x="685800" y="2331720"/>
            <a:ext cx="2499284" cy="1828800"/>
          </a:xfrm>
          <a:prstGeom prst="roundRect">
            <a:avLst>
              <a:gd name="adj" fmla="val 6000"/>
            </a:avLst>
          </a:prstGeom>
          <a:solidFill>
            <a:srgbClr val="EDF2F8"/>
          </a:solidFill>
          <a:ln/>
        </p:spPr>
      </p:sp>
      <p:sp>
        <p:nvSpPr>
          <p:cNvPr id="7" name="Text 5"/>
          <p:cNvSpPr/>
          <p:nvPr/>
        </p:nvSpPr>
        <p:spPr>
          <a:xfrm>
            <a:off x="868680" y="2606040"/>
            <a:ext cx="2133524" cy="868680"/>
          </a:xfrm>
          <a:prstGeom prst="rect">
            <a:avLst/>
          </a:prstGeom>
          <a:noFill/>
          <a:ln/>
        </p:spPr>
        <p:txBody>
          <a:bodyPr wrap="square" lIns="0" tIns="0" rIns="0" bIns="0" rtlCol="0" anchor="ctr"/>
          <a:lstStyle/>
          <a:p>
            <a:pPr algn="l" indent="0" marL="0">
              <a:buNone/>
            </a:pPr>
            <a:r>
              <a:rPr lang="en-US" sz="4200" b="1" dirty="0">
                <a:solidFill>
                  <a:srgbClr val="16233A"/>
                </a:solidFill>
                <a:latin typeface="Arial" pitchFamily="34" charset="0"/>
                <a:ea typeface="Arial" pitchFamily="34" charset="-122"/>
                <a:cs typeface="Arial" pitchFamily="34" charset="-120"/>
              </a:rPr>
              <a:t>1M+</a:t>
            </a:r>
            <a:endParaRPr lang="en-US" sz="4200" dirty="0"/>
          </a:p>
        </p:txBody>
      </p:sp>
      <p:sp>
        <p:nvSpPr>
          <p:cNvPr id="8" name="Text 6"/>
          <p:cNvSpPr/>
          <p:nvPr/>
        </p:nvSpPr>
        <p:spPr>
          <a:xfrm>
            <a:off x="868680" y="3474720"/>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calls a day</a:t>
            </a:r>
            <a:endParaRPr lang="en-US" sz="1300" dirty="0"/>
          </a:p>
        </p:txBody>
      </p:sp>
      <p:sp>
        <p:nvSpPr>
          <p:cNvPr id="9" name="Shape 7"/>
          <p:cNvSpPr/>
          <p:nvPr/>
        </p:nvSpPr>
        <p:spPr>
          <a:xfrm>
            <a:off x="3459404" y="2331720"/>
            <a:ext cx="2499284" cy="1828800"/>
          </a:xfrm>
          <a:prstGeom prst="roundRect">
            <a:avLst>
              <a:gd name="adj" fmla="val 6000"/>
            </a:avLst>
          </a:prstGeom>
          <a:solidFill>
            <a:srgbClr val="EDF2F8"/>
          </a:solidFill>
          <a:ln/>
        </p:spPr>
      </p:sp>
      <p:sp>
        <p:nvSpPr>
          <p:cNvPr id="10" name="Text 8"/>
          <p:cNvSpPr/>
          <p:nvPr/>
        </p:nvSpPr>
        <p:spPr>
          <a:xfrm>
            <a:off x="3642284" y="2606040"/>
            <a:ext cx="2133524" cy="868680"/>
          </a:xfrm>
          <a:prstGeom prst="rect">
            <a:avLst/>
          </a:prstGeom>
          <a:noFill/>
          <a:ln/>
        </p:spPr>
        <p:txBody>
          <a:bodyPr wrap="square" lIns="0" tIns="0" rIns="0" bIns="0" rtlCol="0" anchor="ctr"/>
          <a:lstStyle/>
          <a:p>
            <a:pPr algn="l" indent="0" marL="0">
              <a:buNone/>
            </a:pPr>
            <a:r>
              <a:rPr lang="en-US" sz="3200" b="1" dirty="0">
                <a:solidFill>
                  <a:srgbClr val="16233A"/>
                </a:solidFill>
                <a:latin typeface="Arial" pitchFamily="34" charset="0"/>
                <a:ea typeface="Arial" pitchFamily="34" charset="-122"/>
                <a:cs typeface="Arial" pitchFamily="34" charset="-120"/>
              </a:rPr>
              <a:t>5–6 MB</a:t>
            </a:r>
            <a:endParaRPr lang="en-US" sz="3200" dirty="0"/>
          </a:p>
        </p:txBody>
      </p:sp>
      <p:sp>
        <p:nvSpPr>
          <p:cNvPr id="11" name="Text 9"/>
          <p:cNvSpPr/>
          <p:nvPr/>
        </p:nvSpPr>
        <p:spPr>
          <a:xfrm>
            <a:off x="3642284" y="3474720"/>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per recording</a:t>
            </a:r>
            <a:endParaRPr lang="en-US" sz="1300" dirty="0"/>
          </a:p>
        </p:txBody>
      </p:sp>
      <p:sp>
        <p:nvSpPr>
          <p:cNvPr id="12" name="Shape 10"/>
          <p:cNvSpPr/>
          <p:nvPr/>
        </p:nvSpPr>
        <p:spPr>
          <a:xfrm>
            <a:off x="6233008" y="2331720"/>
            <a:ext cx="2499284" cy="1828800"/>
          </a:xfrm>
          <a:prstGeom prst="roundRect">
            <a:avLst>
              <a:gd name="adj" fmla="val 6000"/>
            </a:avLst>
          </a:prstGeom>
          <a:solidFill>
            <a:srgbClr val="EDF2F8"/>
          </a:solidFill>
          <a:ln/>
        </p:spPr>
      </p:sp>
      <p:sp>
        <p:nvSpPr>
          <p:cNvPr id="13" name="Text 11"/>
          <p:cNvSpPr/>
          <p:nvPr/>
        </p:nvSpPr>
        <p:spPr>
          <a:xfrm>
            <a:off x="6415888" y="2606040"/>
            <a:ext cx="2133524" cy="868680"/>
          </a:xfrm>
          <a:prstGeom prst="rect">
            <a:avLst/>
          </a:prstGeom>
          <a:noFill/>
          <a:ln/>
        </p:spPr>
        <p:txBody>
          <a:bodyPr wrap="square" lIns="0" tIns="0" rIns="0" bIns="0" rtlCol="0" anchor="ctr"/>
          <a:lstStyle/>
          <a:p>
            <a:pPr algn="l" indent="0" marL="0">
              <a:buNone/>
            </a:pPr>
            <a:r>
              <a:rPr lang="en-US" sz="3200" b="1" dirty="0">
                <a:solidFill>
                  <a:srgbClr val="16233A"/>
                </a:solidFill>
                <a:latin typeface="Arial" pitchFamily="34" charset="0"/>
                <a:ea typeface="Arial" pitchFamily="34" charset="-122"/>
                <a:cs typeface="Arial" pitchFamily="34" charset="-120"/>
              </a:rPr>
              <a:t>≈ 5.5 TB</a:t>
            </a:r>
            <a:endParaRPr lang="en-US" sz="3200" dirty="0"/>
          </a:p>
        </p:txBody>
      </p:sp>
      <p:sp>
        <p:nvSpPr>
          <p:cNvPr id="14" name="Text 12"/>
          <p:cNvSpPr/>
          <p:nvPr/>
        </p:nvSpPr>
        <p:spPr>
          <a:xfrm>
            <a:off x="6415888" y="3474720"/>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a day</a:t>
            </a:r>
            <a:endParaRPr lang="en-US" sz="1300" dirty="0"/>
          </a:p>
        </p:txBody>
      </p:sp>
      <p:sp>
        <p:nvSpPr>
          <p:cNvPr id="15" name="Shape 13"/>
          <p:cNvSpPr/>
          <p:nvPr/>
        </p:nvSpPr>
        <p:spPr>
          <a:xfrm>
            <a:off x="9006611" y="2331720"/>
            <a:ext cx="2499284" cy="1828800"/>
          </a:xfrm>
          <a:prstGeom prst="roundRect">
            <a:avLst>
              <a:gd name="adj" fmla="val 6000"/>
            </a:avLst>
          </a:prstGeom>
          <a:solidFill>
            <a:srgbClr val="EDF2F8"/>
          </a:solidFill>
          <a:ln/>
        </p:spPr>
      </p:sp>
      <p:sp>
        <p:nvSpPr>
          <p:cNvPr id="16" name="Text 14"/>
          <p:cNvSpPr/>
          <p:nvPr/>
        </p:nvSpPr>
        <p:spPr>
          <a:xfrm>
            <a:off x="9189491" y="2606040"/>
            <a:ext cx="2133524" cy="868680"/>
          </a:xfrm>
          <a:prstGeom prst="rect">
            <a:avLst/>
          </a:prstGeom>
          <a:noFill/>
          <a:ln/>
        </p:spPr>
        <p:txBody>
          <a:bodyPr wrap="square" lIns="0" tIns="0" rIns="0" bIns="0" rtlCol="0" anchor="ctr"/>
          <a:lstStyle/>
          <a:p>
            <a:pPr algn="l" indent="0" marL="0">
              <a:buNone/>
            </a:pPr>
            <a:r>
              <a:rPr lang="en-US" sz="4200" b="1" dirty="0">
                <a:solidFill>
                  <a:srgbClr val="AE4718"/>
                </a:solidFill>
                <a:latin typeface="Arial" pitchFamily="34" charset="0"/>
                <a:ea typeface="Arial" pitchFamily="34" charset="-122"/>
                <a:cs typeface="Arial" pitchFamily="34" charset="-120"/>
              </a:rPr>
              <a:t>0</a:t>
            </a:r>
            <a:endParaRPr lang="en-US" sz="4200" dirty="0"/>
          </a:p>
        </p:txBody>
      </p:sp>
      <p:sp>
        <p:nvSpPr>
          <p:cNvPr id="17" name="Text 15"/>
          <p:cNvSpPr/>
          <p:nvPr/>
        </p:nvSpPr>
        <p:spPr>
          <a:xfrm>
            <a:off x="9189491" y="3474720"/>
            <a:ext cx="2133524" cy="548640"/>
          </a:xfrm>
          <a:prstGeom prst="rect">
            <a:avLst/>
          </a:prstGeom>
          <a:noFill/>
          <a:ln/>
        </p:spPr>
        <p:txBody>
          <a:bodyPr wrap="square" lIns="0" tIns="0" rIns="0" bIns="0" rtlCol="0" anchor="t"/>
          <a:lstStyle/>
          <a:p>
            <a:pPr algn="l" indent="0" marL="0">
              <a:buNone/>
            </a:pPr>
            <a:r>
              <a:rPr lang="en-US" sz="1300" dirty="0">
                <a:solidFill>
                  <a:srgbClr val="6B7B93"/>
                </a:solidFill>
                <a:latin typeface="Calibri" pitchFamily="34" charset="0"/>
                <a:ea typeface="Calibri" pitchFamily="34" charset="-122"/>
                <a:cs typeface="Calibri" pitchFamily="34" charset="-120"/>
              </a:rPr>
              <a:t>recordings may be lost</a:t>
            </a:r>
            <a:endParaRPr lang="en-US" sz="1300" dirty="0"/>
          </a:p>
        </p:txBody>
      </p:sp>
      <p:sp>
        <p:nvSpPr>
          <p:cNvPr id="18" name="Text 16"/>
          <p:cNvSpPr/>
          <p:nvPr/>
        </p:nvSpPr>
        <p:spPr>
          <a:xfrm>
            <a:off x="685800" y="4434840"/>
            <a:ext cx="10362895" cy="457200"/>
          </a:xfrm>
          <a:prstGeom prst="rect">
            <a:avLst/>
          </a:prstGeom>
          <a:noFill/>
          <a:ln/>
        </p:spPr>
        <p:txBody>
          <a:bodyPr wrap="square" lIns="0" tIns="0" rIns="0" bIns="0" rtlCol="0" anchor="ctr"/>
          <a:lstStyle/>
          <a:p>
            <a:pPr indent="0" marL="0">
              <a:buNone/>
            </a:pPr>
            <a:r>
              <a:rPr lang="en-US" sz="1600" dirty="0">
                <a:solidFill>
                  <a:srgbClr val="6B7B93"/>
                </a:solidFill>
                <a:latin typeface="Calibri" pitchFamily="34" charset="0"/>
                <a:ea typeface="Calibri" pitchFamily="34" charset="-122"/>
                <a:cs typeface="Calibri" pitchFamily="34" charset="-120"/>
              </a:rPr>
              <a:t>Payments-regulated recordings. That is why the last number is zero, not 99.9%.</a:t>
            </a:r>
            <a:endParaRPr lang="en-US" sz="1600" dirty="0"/>
          </a:p>
        </p:txBody>
      </p:sp>
      <p:sp>
        <p:nvSpPr>
          <p:cNvPr id="19" name="Text 17"/>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what are we actually allowed to build 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EXPERIMENT, AND THE ANSWER</a:t>
            </a:r>
            <a:endParaRPr lang="en-US" sz="1100" dirty="0"/>
          </a:p>
        </p:txBody>
      </p:sp>
      <p:sp>
        <p:nvSpPr>
          <p:cNvPr id="5" name="Text 3"/>
          <p:cNvSpPr/>
          <p:nvPr/>
        </p:nvSpPr>
        <p:spPr>
          <a:xfrm>
            <a:off x="685800" y="2286000"/>
            <a:ext cx="9722815" cy="2926080"/>
          </a:xfrm>
          <a:prstGeom prst="rect">
            <a:avLst/>
          </a:prstGeom>
          <a:noFill/>
          <a:ln/>
        </p:spPr>
        <p:txBody>
          <a:bodyPr wrap="square" lIns="0" tIns="0" rIns="0" bIns="0" rtlCol="0" anchor="t"/>
          <a:lstStyle/>
          <a:p>
            <a:pPr algn="l" indent="0" marL="0">
              <a:lnSpc>
                <a:spcPts val="3840"/>
              </a:lnSpc>
              <a:buNone/>
            </a:pPr>
            <a:r>
              <a:rPr lang="en-US" sz="3000" b="1" dirty="0">
                <a:solidFill>
                  <a:srgbClr val="16233A"/>
                </a:solidFill>
                <a:latin typeface="Arial" pitchFamily="34" charset="0"/>
                <a:ea typeface="Arial" pitchFamily="34" charset="-122"/>
                <a:cs typeface="Arial" pitchFamily="34" charset="-120"/>
              </a:rPr>
              <a:t>We evaluated every approved</a:t>
            </a:r>
            <a:endParaRPr lang="en-US" sz="3000" dirty="0"/>
          </a:p>
          <a:p>
            <a:pPr algn="l" indent="0" marL="0">
              <a:lnSpc>
                <a:spcPts val="3840"/>
              </a:lnSpc>
              <a:buNone/>
            </a:pPr>
            <a:r>
              <a:rPr lang="en-US" sz="3000" b="1" dirty="0">
                <a:solidFill>
                  <a:srgbClr val="16233A"/>
                </a:solidFill>
                <a:latin typeface="Arial" pitchFamily="34" charset="0"/>
                <a:ea typeface="Arial" pitchFamily="34" charset="-122"/>
                <a:cs typeface="Arial" pitchFamily="34" charset="-120"/>
              </a:rPr>
              <a:t>enterprise ingestion mechanism.</a:t>
            </a:r>
            <a:endParaRPr lang="en-US" sz="3000" dirty="0"/>
          </a:p>
          <a:p>
            <a:pPr algn="l" indent="0" marL="0">
              <a:lnSpc>
                <a:spcPts val="3840"/>
              </a:lnSpc>
              <a:buNone/>
            </a:pPr>
            <a:r>
              <a:rPr lang="en-US" sz="3000" dirty="0">
                <a:solidFill>
                  <a:srgbClr val="6B7B93"/>
                </a:solidFill>
                <a:latin typeface="Arial" pitchFamily="34" charset="0"/>
                <a:ea typeface="Arial" pitchFamily="34" charset="-122"/>
                <a:cs typeface="Arial" pitchFamily="34" charset="-120"/>
              </a:rPr>
              <a:t>None were compatible with the vendor.</a:t>
            </a:r>
            <a:endParaRPr lang="en-US" sz="3000" dirty="0"/>
          </a:p>
          <a:p>
            <a:pPr algn="l" indent="0" marL="0">
              <a:lnSpc>
                <a:spcPts val="3840"/>
              </a:lnSpc>
              <a:buNone/>
            </a:pPr>
            <a:r>
              <a:rPr lang="en-US" sz="3000" b="1" dirty="0">
                <a:solidFill>
                  <a:srgbClr val="05795A"/>
                </a:solidFill>
                <a:latin typeface="Arial" pitchFamily="34" charset="0"/>
                <a:ea typeface="Arial" pitchFamily="34" charset="-122"/>
                <a:cs typeface="Arial" pitchFamily="34" charset="-120"/>
              </a:rPr>
              <a:t>One integration point survived: their API.</a:t>
            </a:r>
            <a:endParaRPr lang="en-US" sz="30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what can those APIs actually do?</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WE FOUND</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Two APIs, with opposite personalities</a:t>
            </a:r>
            <a:endParaRPr lang="en-US" sz="3200" dirty="0"/>
          </a:p>
        </p:txBody>
      </p:sp>
      <p:sp>
        <p:nvSpPr>
          <p:cNvPr id="6" name="Shape 4"/>
          <p:cNvSpPr/>
          <p:nvPr/>
        </p:nvSpPr>
        <p:spPr>
          <a:xfrm>
            <a:off x="685800" y="2377440"/>
            <a:ext cx="5181448" cy="2103120"/>
          </a:xfrm>
          <a:prstGeom prst="roundRect">
            <a:avLst>
              <a:gd name="adj" fmla="val 6087"/>
            </a:avLst>
          </a:prstGeom>
          <a:solidFill>
            <a:srgbClr val="EDF2F8"/>
          </a:solidFill>
          <a:ln/>
        </p:spPr>
      </p:sp>
      <p:sp>
        <p:nvSpPr>
          <p:cNvPr id="7" name="Shape 5"/>
          <p:cNvSpPr/>
          <p:nvPr/>
        </p:nvSpPr>
        <p:spPr>
          <a:xfrm>
            <a:off x="6324448" y="2377440"/>
            <a:ext cx="5181448" cy="2103120"/>
          </a:xfrm>
          <a:prstGeom prst="roundRect">
            <a:avLst>
              <a:gd name="adj" fmla="val 6087"/>
            </a:avLst>
          </a:prstGeom>
          <a:solidFill>
            <a:srgbClr val="EDF2F8"/>
          </a:solidFill>
          <a:ln/>
        </p:spPr>
      </p:sp>
      <p:sp>
        <p:nvSpPr>
          <p:cNvPr id="8" name="Text 6"/>
          <p:cNvSpPr/>
          <p:nvPr/>
        </p:nvSpPr>
        <p:spPr>
          <a:xfrm>
            <a:off x="1005840" y="2606040"/>
            <a:ext cx="4541368" cy="411480"/>
          </a:xfrm>
          <a:prstGeom prst="rect">
            <a:avLst/>
          </a:prstGeom>
          <a:noFill/>
          <a:ln/>
        </p:spPr>
        <p:txBody>
          <a:bodyPr wrap="square" lIns="0" tIns="0" rIns="0" bIns="0" rtlCol="0" anchor="ctr"/>
          <a:lstStyle/>
          <a:p>
            <a:pPr indent="0" marL="0">
              <a:buNone/>
            </a:pPr>
            <a:r>
              <a:rPr lang="en-US" sz="2000" b="1" dirty="0">
                <a:solidFill>
                  <a:srgbClr val="16233A"/>
                </a:solidFill>
                <a:latin typeface="Arial" pitchFamily="34" charset="0"/>
                <a:ea typeface="Arial" pitchFamily="34" charset="-122"/>
                <a:cs typeface="Arial" pitchFamily="34" charset="-120"/>
              </a:rPr>
              <a:t>Streaming On Demand</a:t>
            </a:r>
            <a:endParaRPr lang="en-US" sz="2000" dirty="0"/>
          </a:p>
        </p:txBody>
      </p:sp>
      <p:sp>
        <p:nvSpPr>
          <p:cNvPr id="9" name="Text 7"/>
          <p:cNvSpPr/>
          <p:nvPr/>
        </p:nvSpPr>
        <p:spPr>
          <a:xfrm>
            <a:off x="1005840" y="3063240"/>
            <a:ext cx="4541368" cy="548640"/>
          </a:xfrm>
          <a:prstGeom prst="rect">
            <a:avLst/>
          </a:prstGeom>
          <a:noFill/>
          <a:ln/>
        </p:spPr>
        <p:txBody>
          <a:bodyPr wrap="square" lIns="0" tIns="0" rIns="0" bIns="0" rtlCol="0" anchor="ctr"/>
          <a:lstStyle/>
          <a:p>
            <a:pPr indent="0" marL="0">
              <a:buNone/>
            </a:pPr>
            <a:r>
              <a:rPr lang="en-US" sz="1500" dirty="0">
                <a:solidFill>
                  <a:srgbClr val="6B7B93"/>
                </a:solidFill>
                <a:latin typeface="Calibri" pitchFamily="34" charset="0"/>
                <a:ea typeface="Calibri" pitchFamily="34" charset="-122"/>
                <a:cs typeface="Calibri" pitchFamily="34" charset="-120"/>
              </a:rPr>
              <a:t>Pushes the recording the moment the call ends.</a:t>
            </a:r>
            <a:endParaRPr lang="en-US" sz="1500" dirty="0"/>
          </a:p>
        </p:txBody>
      </p:sp>
      <p:sp>
        <p:nvSpPr>
          <p:cNvPr id="10" name="Text 8"/>
          <p:cNvSpPr/>
          <p:nvPr/>
        </p:nvSpPr>
        <p:spPr>
          <a:xfrm>
            <a:off x="1005840" y="3749040"/>
            <a:ext cx="4541368" cy="502920"/>
          </a:xfrm>
          <a:prstGeom prst="rect">
            <a:avLst/>
          </a:prstGeom>
          <a:noFill/>
          <a:ln/>
        </p:spPr>
        <p:txBody>
          <a:bodyPr wrap="square" lIns="0" tIns="0" rIns="0" bIns="0" rtlCol="0" anchor="ctr"/>
          <a:lstStyle/>
          <a:p>
            <a:pPr indent="0" marL="0">
              <a:buNone/>
            </a:pPr>
            <a:r>
              <a:rPr lang="en-US" sz="2200" b="1" dirty="0">
                <a:solidFill>
                  <a:srgbClr val="05795A"/>
                </a:solidFill>
                <a:latin typeface="Arial" pitchFamily="34" charset="0"/>
                <a:ea typeface="Arial" pitchFamily="34" charset="-122"/>
                <a:cs typeface="Arial" pitchFamily="34" charset="-120"/>
              </a:rPr>
              <a:t>Looked promising.</a:t>
            </a:r>
            <a:endParaRPr lang="en-US" sz="2200" dirty="0"/>
          </a:p>
        </p:txBody>
      </p:sp>
      <p:sp>
        <p:nvSpPr>
          <p:cNvPr id="11" name="Text 9"/>
          <p:cNvSpPr/>
          <p:nvPr/>
        </p:nvSpPr>
        <p:spPr>
          <a:xfrm>
            <a:off x="6644488" y="2606040"/>
            <a:ext cx="4541368" cy="411480"/>
          </a:xfrm>
          <a:prstGeom prst="rect">
            <a:avLst/>
          </a:prstGeom>
          <a:noFill/>
          <a:ln/>
        </p:spPr>
        <p:txBody>
          <a:bodyPr wrap="square" lIns="0" tIns="0" rIns="0" bIns="0" rtlCol="0" anchor="ctr"/>
          <a:lstStyle/>
          <a:p>
            <a:pPr indent="0" marL="0">
              <a:buNone/>
            </a:pPr>
            <a:r>
              <a:rPr lang="en-US" sz="2000" b="1" dirty="0">
                <a:solidFill>
                  <a:srgbClr val="16233A"/>
                </a:solidFill>
                <a:latin typeface="Arial" pitchFamily="34" charset="0"/>
                <a:ea typeface="Arial" pitchFamily="34" charset="-122"/>
                <a:cs typeface="Arial" pitchFamily="34" charset="-120"/>
              </a:rPr>
              <a:t>Batch Export</a:t>
            </a:r>
            <a:endParaRPr lang="en-US" sz="2000" dirty="0"/>
          </a:p>
        </p:txBody>
      </p:sp>
      <p:sp>
        <p:nvSpPr>
          <p:cNvPr id="12" name="Text 10"/>
          <p:cNvSpPr/>
          <p:nvPr/>
        </p:nvSpPr>
        <p:spPr>
          <a:xfrm>
            <a:off x="6644488" y="3063240"/>
            <a:ext cx="4541368" cy="640080"/>
          </a:xfrm>
          <a:prstGeom prst="rect">
            <a:avLst/>
          </a:prstGeom>
          <a:noFill/>
          <a:ln/>
        </p:spPr>
        <p:txBody>
          <a:bodyPr wrap="square" lIns="0" tIns="0" rIns="0" bIns="0" rtlCol="0" anchor="ctr"/>
          <a:lstStyle/>
          <a:p>
            <a:pPr indent="0" marL="0">
              <a:buNone/>
            </a:pPr>
            <a:r>
              <a:rPr lang="en-US" sz="1500" dirty="0">
                <a:solidFill>
                  <a:srgbClr val="6B7B93"/>
                </a:solidFill>
                <a:latin typeface="Calibri" pitchFamily="34" charset="0"/>
                <a:ea typeface="Calibri" pitchFamily="34" charset="-122"/>
                <a:cs typeface="Calibri" pitchFamily="34" charset="-120"/>
              </a:rPr>
              <a:t>An async job returning every recording in a requested time window, as ZIPs.</a:t>
            </a:r>
            <a:endParaRPr lang="en-US" sz="1500" dirty="0"/>
          </a:p>
        </p:txBody>
      </p:sp>
      <p:sp>
        <p:nvSpPr>
          <p:cNvPr id="13" name="Text 11"/>
          <p:cNvSpPr/>
          <p:nvPr/>
        </p:nvSpPr>
        <p:spPr>
          <a:xfrm>
            <a:off x="6644488" y="3749040"/>
            <a:ext cx="4541368" cy="502920"/>
          </a:xfrm>
          <a:prstGeom prst="rect">
            <a:avLst/>
          </a:prstGeom>
          <a:noFill/>
          <a:ln/>
        </p:spPr>
        <p:txBody>
          <a:bodyPr wrap="square" lIns="0" tIns="0" rIns="0" bIns="0" rtlCol="0" anchor="ctr"/>
          <a:lstStyle/>
          <a:p>
            <a:pPr indent="0" marL="0">
              <a:buNone/>
            </a:pPr>
            <a:r>
              <a:rPr lang="en-US" sz="2200" b="1" dirty="0">
                <a:solidFill>
                  <a:srgbClr val="AE4718"/>
                </a:solidFill>
                <a:latin typeface="Arial" pitchFamily="34" charset="0"/>
                <a:ea typeface="Arial" pitchFamily="34" charset="-122"/>
                <a:cs typeface="Arial" pitchFamily="34" charset="-120"/>
              </a:rPr>
              <a:t>Looked painful.</a:t>
            </a:r>
            <a:endParaRPr lang="en-US" sz="2200" dirty="0"/>
          </a:p>
        </p:txBody>
      </p:sp>
      <p:sp>
        <p:nvSpPr>
          <p:cNvPr id="14" name="Text 12"/>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But does streaming hold up at a million calls a day?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EXPERIMENT 1</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Does Streaming On Demand scale?</a:t>
            </a:r>
            <a:endParaRPr lang="en-US" sz="3200" dirty="0"/>
          </a:p>
        </p:txBody>
      </p:sp>
      <p:sp>
        <p:nvSpPr>
          <p:cNvPr id="6" name="Shape 4"/>
          <p:cNvSpPr/>
          <p:nvPr/>
        </p:nvSpPr>
        <p:spPr>
          <a:xfrm>
            <a:off x="685800" y="2697480"/>
            <a:ext cx="5181448" cy="2194560"/>
          </a:xfrm>
          <a:prstGeom prst="roundRect">
            <a:avLst>
              <a:gd name="adj" fmla="val 5833"/>
            </a:avLst>
          </a:prstGeom>
          <a:solidFill>
            <a:srgbClr val="EDF2F8"/>
          </a:solidFill>
          <a:ln/>
        </p:spPr>
      </p:sp>
      <p:sp>
        <p:nvSpPr>
          <p:cNvPr id="7" name="Shape 5"/>
          <p:cNvSpPr/>
          <p:nvPr/>
        </p:nvSpPr>
        <p:spPr>
          <a:xfrm>
            <a:off x="6324448" y="2697480"/>
            <a:ext cx="5181448" cy="2194560"/>
          </a:xfrm>
          <a:prstGeom prst="roundRect">
            <a:avLst>
              <a:gd name="adj" fmla="val 5833"/>
            </a:avLst>
          </a:prstGeom>
          <a:solidFill>
            <a:srgbClr val="0E1626"/>
          </a:solidFill>
          <a:ln/>
        </p:spPr>
      </p:sp>
      <p:sp>
        <p:nvSpPr>
          <p:cNvPr id="8" name="Text 6"/>
          <p:cNvSpPr/>
          <p:nvPr/>
        </p:nvSpPr>
        <p:spPr>
          <a:xfrm>
            <a:off x="1051560" y="3017520"/>
            <a:ext cx="3657600" cy="365760"/>
          </a:xfrm>
          <a:prstGeom prst="rect">
            <a:avLst/>
          </a:prstGeom>
          <a:noFill/>
          <a:ln/>
        </p:spPr>
        <p:txBody>
          <a:bodyPr wrap="square" lIns="0" tIns="0" rIns="0" bIns="0" rtlCol="0" anchor="ctr"/>
          <a:lstStyle/>
          <a:p>
            <a:pPr indent="0" marL="0">
              <a:buNone/>
            </a:pPr>
            <a:r>
              <a:rPr lang="en-US" sz="1200" b="1" spc="200" kern="0" dirty="0">
                <a:solidFill>
                  <a:srgbClr val="6B7B93"/>
                </a:solidFill>
                <a:latin typeface="Arial" pitchFamily="34" charset="0"/>
                <a:ea typeface="Arial" pitchFamily="34" charset="-122"/>
                <a:cs typeface="Arial" pitchFamily="34" charset="-120"/>
              </a:rPr>
              <a:t>WE MEASURED</a:t>
            </a:r>
            <a:endParaRPr lang="en-US" sz="1200" dirty="0"/>
          </a:p>
        </p:txBody>
      </p:sp>
      <p:sp>
        <p:nvSpPr>
          <p:cNvPr id="9" name="Text 7"/>
          <p:cNvSpPr/>
          <p:nvPr/>
        </p:nvSpPr>
        <p:spPr>
          <a:xfrm>
            <a:off x="1051560" y="3520440"/>
            <a:ext cx="4114800" cy="1005840"/>
          </a:xfrm>
          <a:prstGeom prst="rect">
            <a:avLst/>
          </a:prstGeom>
          <a:noFill/>
          <a:ln/>
        </p:spPr>
        <p:txBody>
          <a:bodyPr wrap="square" lIns="0" tIns="0" rIns="0" bIns="0" rtlCol="0" anchor="ctr"/>
          <a:lstStyle/>
          <a:p>
            <a:pPr indent="0" marL="0">
              <a:buNone/>
            </a:pPr>
            <a:r>
              <a:rPr lang="en-US" sz="5400" b="1" dirty="0">
                <a:solidFill>
                  <a:srgbClr val="05795A"/>
                </a:solidFill>
                <a:latin typeface="Arial" pitchFamily="34" charset="0"/>
                <a:ea typeface="Arial" pitchFamily="34" charset="-122"/>
                <a:cs typeface="Arial" pitchFamily="34" charset="-120"/>
              </a:rPr>
              <a:t>&gt; 90%</a:t>
            </a:r>
            <a:endParaRPr lang="en-US" sz="5400" dirty="0"/>
          </a:p>
        </p:txBody>
      </p:sp>
      <p:sp>
        <p:nvSpPr>
          <p:cNvPr id="10" name="Text 8"/>
          <p:cNvSpPr/>
          <p:nvPr/>
        </p:nvSpPr>
        <p:spPr>
          <a:xfrm>
            <a:off x="1051560" y="4434840"/>
            <a:ext cx="4114800" cy="365760"/>
          </a:xfrm>
          <a:prstGeom prst="rect">
            <a:avLst/>
          </a:prstGeom>
          <a:noFill/>
          <a:ln/>
        </p:spPr>
        <p:txBody>
          <a:bodyPr wrap="square" lIns="0" tIns="0" rIns="0" bIns="0" rtlCol="0" anchor="ctr"/>
          <a:lstStyle/>
          <a:p>
            <a:pPr indent="0" marL="0">
              <a:buNone/>
            </a:pPr>
            <a:r>
              <a:rPr lang="en-US" sz="1500" dirty="0">
                <a:solidFill>
                  <a:srgbClr val="6B7B93"/>
                </a:solidFill>
                <a:latin typeface="Calibri" pitchFamily="34" charset="0"/>
                <a:ea typeface="Calibri" pitchFamily="34" charset="-122"/>
                <a:cs typeface="Calibri" pitchFamily="34" charset="-120"/>
              </a:rPr>
              <a:t>of recordings delivered</a:t>
            </a:r>
            <a:endParaRPr lang="en-US" sz="1500" dirty="0"/>
          </a:p>
        </p:txBody>
      </p:sp>
      <p:sp>
        <p:nvSpPr>
          <p:cNvPr id="11" name="Text 9"/>
          <p:cNvSpPr/>
          <p:nvPr/>
        </p:nvSpPr>
        <p:spPr>
          <a:xfrm>
            <a:off x="6690208" y="3017520"/>
            <a:ext cx="4114800" cy="365760"/>
          </a:xfrm>
          <a:prstGeom prst="rect">
            <a:avLst/>
          </a:prstGeom>
          <a:noFill/>
          <a:ln/>
        </p:spPr>
        <p:txBody>
          <a:bodyPr wrap="square" lIns="0" tIns="0" rIns="0" bIns="0" rtlCol="0" anchor="ctr"/>
          <a:lstStyle/>
          <a:p>
            <a:pPr indent="0" marL="0">
              <a:buNone/>
            </a:pPr>
            <a:r>
              <a:rPr lang="en-US" sz="1200" b="1" spc="200" kern="0" dirty="0">
                <a:solidFill>
                  <a:srgbClr val="8FA3BF"/>
                </a:solidFill>
                <a:latin typeface="Arial" pitchFamily="34" charset="0"/>
                <a:ea typeface="Arial" pitchFamily="34" charset="-122"/>
                <a:cs typeface="Arial" pitchFamily="34" charset="-120"/>
              </a:rPr>
              <a:t>THE BUSINESS NEEDED</a:t>
            </a:r>
            <a:endParaRPr lang="en-US" sz="1200" dirty="0"/>
          </a:p>
        </p:txBody>
      </p:sp>
      <p:sp>
        <p:nvSpPr>
          <p:cNvPr id="12" name="Text 10"/>
          <p:cNvSpPr/>
          <p:nvPr/>
        </p:nvSpPr>
        <p:spPr>
          <a:xfrm>
            <a:off x="6690208" y="3520440"/>
            <a:ext cx="4114800" cy="1005840"/>
          </a:xfrm>
          <a:prstGeom prst="rect">
            <a:avLst/>
          </a:prstGeom>
          <a:noFill/>
          <a:ln/>
        </p:spPr>
        <p:txBody>
          <a:bodyPr wrap="square" lIns="0" tIns="0" rIns="0" bIns="0" rtlCol="0" anchor="ctr"/>
          <a:lstStyle/>
          <a:p>
            <a:pPr indent="0" marL="0">
              <a:buNone/>
            </a:pPr>
            <a:r>
              <a:rPr lang="en-US" sz="5400" b="1" dirty="0">
                <a:solidFill>
                  <a:srgbClr val="E8743B"/>
                </a:solidFill>
                <a:latin typeface="Arial" pitchFamily="34" charset="0"/>
                <a:ea typeface="Arial" pitchFamily="34" charset="-122"/>
                <a:cs typeface="Arial" pitchFamily="34" charset="-120"/>
              </a:rPr>
              <a:t>100%</a:t>
            </a:r>
            <a:endParaRPr lang="en-US" sz="5400" dirty="0"/>
          </a:p>
        </p:txBody>
      </p:sp>
      <p:sp>
        <p:nvSpPr>
          <p:cNvPr id="13" name="Text 11"/>
          <p:cNvSpPr/>
          <p:nvPr/>
        </p:nvSpPr>
        <p:spPr>
          <a:xfrm>
            <a:off x="6690208" y="4434840"/>
            <a:ext cx="4114800" cy="365760"/>
          </a:xfrm>
          <a:prstGeom prst="rect">
            <a:avLst/>
          </a:prstGeom>
          <a:noFill/>
          <a:ln/>
        </p:spPr>
        <p:txBody>
          <a:bodyPr wrap="square" lIns="0" tIns="0" rIns="0" bIns="0" rtlCol="0" anchor="ctr"/>
          <a:lstStyle/>
          <a:p>
            <a:pPr indent="0" marL="0">
              <a:buNone/>
            </a:pPr>
            <a:r>
              <a:rPr lang="en-US" sz="1500" dirty="0">
                <a:solidFill>
                  <a:srgbClr val="8FA3BF"/>
                </a:solidFill>
                <a:latin typeface="Calibri" pitchFamily="34" charset="0"/>
                <a:ea typeface="Calibri" pitchFamily="34" charset="-122"/>
                <a:cs typeface="Calibri" pitchFamily="34" charset="-120"/>
              </a:rPr>
              <a:t>no recording can ever be lost</a:t>
            </a:r>
            <a:endParaRPr lang="en-US" sz="1500" dirty="0"/>
          </a:p>
        </p:txBody>
      </p:sp>
      <p:sp>
        <p:nvSpPr>
          <p:cNvPr id="14" name="Text 12"/>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how do we recover everything streaming misses?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WE FOUND</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Recovery is not a download. It's a workflow.</a:t>
            </a:r>
            <a:endParaRPr lang="en-US" sz="3200" dirty="0"/>
          </a:p>
        </p:txBody>
      </p:sp>
      <p:sp>
        <p:nvSpPr>
          <p:cNvPr id="6" name="Shape 4"/>
          <p:cNvSpPr/>
          <p:nvPr/>
        </p:nvSpPr>
        <p:spPr>
          <a:xfrm>
            <a:off x="685800" y="2468880"/>
            <a:ext cx="1915302" cy="1188720"/>
          </a:xfrm>
          <a:prstGeom prst="roundRect">
            <a:avLst>
              <a:gd name="adj" fmla="val 9231"/>
            </a:avLst>
          </a:prstGeom>
          <a:solidFill>
            <a:srgbClr val="EDF2F8"/>
          </a:solidFill>
          <a:ln/>
        </p:spPr>
      </p:sp>
      <p:sp>
        <p:nvSpPr>
          <p:cNvPr id="7" name="Text 5"/>
          <p:cNvSpPr/>
          <p:nvPr/>
        </p:nvSpPr>
        <p:spPr>
          <a:xfrm>
            <a:off x="795528" y="2468880"/>
            <a:ext cx="1695846"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Create</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export job</a:t>
            </a:r>
            <a:endParaRPr lang="en-US" sz="1400" dirty="0"/>
          </a:p>
        </p:txBody>
      </p:sp>
      <p:sp>
        <p:nvSpPr>
          <p:cNvPr id="8" name="Text 6"/>
          <p:cNvSpPr/>
          <p:nvPr/>
        </p:nvSpPr>
        <p:spPr>
          <a:xfrm>
            <a:off x="2601102" y="246888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911998" y="2468880"/>
            <a:ext cx="1915302" cy="1188720"/>
          </a:xfrm>
          <a:prstGeom prst="roundRect">
            <a:avLst>
              <a:gd name="adj" fmla="val 9231"/>
            </a:avLst>
          </a:prstGeom>
          <a:solidFill>
            <a:srgbClr val="EDF2F8"/>
          </a:solidFill>
          <a:ln/>
        </p:spPr>
      </p:sp>
      <p:sp>
        <p:nvSpPr>
          <p:cNvPr id="10" name="Text 8"/>
          <p:cNvSpPr/>
          <p:nvPr/>
        </p:nvSpPr>
        <p:spPr>
          <a:xfrm>
            <a:off x="3021726" y="2468880"/>
            <a:ext cx="1695846"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Poll until</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complete</a:t>
            </a:r>
            <a:endParaRPr lang="en-US" sz="1400" dirty="0"/>
          </a:p>
        </p:txBody>
      </p:sp>
      <p:sp>
        <p:nvSpPr>
          <p:cNvPr id="11" name="Text 9"/>
          <p:cNvSpPr/>
          <p:nvPr/>
        </p:nvSpPr>
        <p:spPr>
          <a:xfrm>
            <a:off x="4827300" y="246888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138196" y="2468880"/>
            <a:ext cx="1915302" cy="1188720"/>
          </a:xfrm>
          <a:prstGeom prst="roundRect">
            <a:avLst>
              <a:gd name="adj" fmla="val 9231"/>
            </a:avLst>
          </a:prstGeom>
          <a:solidFill>
            <a:srgbClr val="EDF2F8"/>
          </a:solidFill>
          <a:ln/>
        </p:spPr>
      </p:sp>
      <p:sp>
        <p:nvSpPr>
          <p:cNvPr id="13" name="Text 11"/>
          <p:cNvSpPr/>
          <p:nvPr/>
        </p:nvSpPr>
        <p:spPr>
          <a:xfrm>
            <a:off x="5247924" y="2468880"/>
            <a:ext cx="1695846"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Fetch</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metadata</a:t>
            </a:r>
            <a:endParaRPr lang="en-US" sz="1400" dirty="0"/>
          </a:p>
        </p:txBody>
      </p:sp>
      <p:sp>
        <p:nvSpPr>
          <p:cNvPr id="14" name="Text 12"/>
          <p:cNvSpPr/>
          <p:nvPr/>
        </p:nvSpPr>
        <p:spPr>
          <a:xfrm>
            <a:off x="7053499" y="246888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7364395" y="2468880"/>
            <a:ext cx="1915302" cy="1188720"/>
          </a:xfrm>
          <a:prstGeom prst="roundRect">
            <a:avLst>
              <a:gd name="adj" fmla="val 9231"/>
            </a:avLst>
          </a:prstGeom>
          <a:solidFill>
            <a:srgbClr val="EDF2F8"/>
          </a:solidFill>
          <a:ln/>
        </p:spPr>
      </p:sp>
      <p:sp>
        <p:nvSpPr>
          <p:cNvPr id="16" name="Text 14"/>
          <p:cNvSpPr/>
          <p:nvPr/>
        </p:nvSpPr>
        <p:spPr>
          <a:xfrm>
            <a:off x="7474123" y="2468880"/>
            <a:ext cx="1695846"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Download</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paginated ZIPs</a:t>
            </a:r>
            <a:endParaRPr lang="en-US" sz="1400" dirty="0"/>
          </a:p>
        </p:txBody>
      </p:sp>
      <p:sp>
        <p:nvSpPr>
          <p:cNvPr id="17" name="Text 15"/>
          <p:cNvSpPr/>
          <p:nvPr/>
        </p:nvSpPr>
        <p:spPr>
          <a:xfrm>
            <a:off x="9279697" y="2468880"/>
            <a:ext cx="310896" cy="118872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9590593" y="2468880"/>
            <a:ext cx="1915302" cy="1188720"/>
          </a:xfrm>
          <a:prstGeom prst="roundRect">
            <a:avLst>
              <a:gd name="adj" fmla="val 9231"/>
            </a:avLst>
          </a:prstGeom>
          <a:solidFill>
            <a:srgbClr val="EDF2F8"/>
          </a:solidFill>
          <a:ln/>
        </p:spPr>
      </p:sp>
      <p:sp>
        <p:nvSpPr>
          <p:cNvPr id="19" name="Text 17"/>
          <p:cNvSpPr/>
          <p:nvPr/>
        </p:nvSpPr>
        <p:spPr>
          <a:xfrm>
            <a:off x="9700321" y="2468880"/>
            <a:ext cx="1695846" cy="118872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Extract</a:t>
            </a:r>
            <a:endParaRPr lang="en-US" sz="1400" dirty="0"/>
          </a:p>
        </p:txBody>
      </p:sp>
      <p:sp>
        <p:nvSpPr>
          <p:cNvPr id="20" name="Text 18"/>
          <p:cNvSpPr/>
          <p:nvPr/>
        </p:nvSpPr>
        <p:spPr>
          <a:xfrm>
            <a:off x="685800" y="3977640"/>
            <a:ext cx="10820095" cy="548640"/>
          </a:xfrm>
          <a:prstGeom prst="rect">
            <a:avLst/>
          </a:prstGeom>
          <a:noFill/>
          <a:ln/>
        </p:spPr>
        <p:txBody>
          <a:bodyPr wrap="square" lIns="0" tIns="0" rIns="0" bIns="0" rtlCol="0" anchor="ctr"/>
          <a:lstStyle/>
          <a:p>
            <a:pPr indent="0" marL="0">
              <a:buNone/>
            </a:pPr>
            <a:r>
              <a:rPr lang="en-US" sz="2400" b="1" dirty="0">
                <a:solidFill>
                  <a:srgbClr val="16233A"/>
                </a:solidFill>
                <a:latin typeface="Arial" pitchFamily="34" charset="0"/>
                <a:ea typeface="Arial" pitchFamily="34" charset="-122"/>
                <a:cs typeface="Arial" pitchFamily="34" charset="-120"/>
              </a:rPr>
              <a:t>Long-running.  Asynchronous.  Fails in the middle.</a:t>
            </a:r>
            <a:endParaRPr lang="en-US" sz="2400" dirty="0"/>
          </a:p>
        </p:txBody>
      </p:sp>
      <p:sp>
        <p:nvSpPr>
          <p:cNvPr id="21" name="Text 19"/>
          <p:cNvSpPr/>
          <p:nvPr/>
        </p:nvSpPr>
        <p:spPr>
          <a:xfrm>
            <a:off x="685800" y="4709160"/>
            <a:ext cx="10362895" cy="457200"/>
          </a:xfrm>
          <a:prstGeom prst="rect">
            <a:avLst/>
          </a:prstGeom>
          <a:noFill/>
          <a:ln/>
        </p:spPr>
        <p:txBody>
          <a:bodyPr wrap="square" lIns="0" tIns="0" rIns="0" bIns="0" rtlCol="0" anchor="ctr"/>
          <a:lstStyle/>
          <a:p>
            <a:pPr indent="0" marL="0">
              <a:buNone/>
            </a:pPr>
            <a:r>
              <a:rPr lang="en-US" sz="1600" i="1" dirty="0">
                <a:solidFill>
                  <a:srgbClr val="6B7B93"/>
                </a:solidFill>
                <a:latin typeface="Calibri" pitchFamily="34" charset="0"/>
                <a:ea typeface="Calibri" pitchFamily="34" charset="-122"/>
                <a:cs typeface="Calibri" pitchFamily="34" charset="-120"/>
              </a:rPr>
              <a:t>Simple workflow. Complex orchestration.</a:t>
            </a:r>
            <a:endParaRPr lang="en-US" sz="1600" dirty="0"/>
          </a:p>
        </p:txBody>
      </p:sp>
      <p:sp>
        <p:nvSpPr>
          <p:cNvPr id="22" name="Text 20"/>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How do you orchestrate something that runs for hours?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EXPERIMENT 2</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What orchestrates a job that takes hours?</a:t>
            </a:r>
            <a:endParaRPr lang="en-US" sz="3200" dirty="0"/>
          </a:p>
        </p:txBody>
      </p:sp>
      <p:sp>
        <p:nvSpPr>
          <p:cNvPr id="6" name="Text 4"/>
          <p:cNvSpPr/>
          <p:nvPr/>
        </p:nvSpPr>
        <p:spPr>
          <a:xfrm>
            <a:off x="685800" y="2286000"/>
            <a:ext cx="5486400" cy="365760"/>
          </a:xfrm>
          <a:prstGeom prst="rect">
            <a:avLst/>
          </a:prstGeom>
          <a:noFill/>
          <a:ln/>
        </p:spPr>
        <p:txBody>
          <a:bodyPr wrap="square" lIns="0" tIns="0" rIns="0" bIns="0" rtlCol="0" anchor="ctr"/>
          <a:lstStyle/>
          <a:p>
            <a:pPr indent="0" marL="0">
              <a:buNone/>
            </a:pPr>
            <a:r>
              <a:rPr lang="en-US" sz="1200" b="1" spc="200" kern="0" dirty="0">
                <a:solidFill>
                  <a:srgbClr val="6B7B93"/>
                </a:solidFill>
                <a:latin typeface="Arial" pitchFamily="34" charset="0"/>
                <a:ea typeface="Arial" pitchFamily="34" charset="-122"/>
                <a:cs typeface="Arial" pitchFamily="34" charset="-120"/>
              </a:rPr>
              <a:t>ORCHESTRATION APPROACHES</a:t>
            </a:r>
            <a:endParaRPr lang="en-US" sz="1200" dirty="0"/>
          </a:p>
        </p:txBody>
      </p:sp>
      <p:sp>
        <p:nvSpPr>
          <p:cNvPr id="7" name="Shape 5"/>
          <p:cNvSpPr/>
          <p:nvPr/>
        </p:nvSpPr>
        <p:spPr>
          <a:xfrm>
            <a:off x="685800" y="2697480"/>
            <a:ext cx="2471852" cy="868680"/>
          </a:xfrm>
          <a:prstGeom prst="roundRect">
            <a:avLst>
              <a:gd name="adj" fmla="val 12632"/>
            </a:avLst>
          </a:prstGeom>
          <a:solidFill>
            <a:srgbClr val="EDF2F8"/>
          </a:solidFill>
          <a:ln/>
        </p:spPr>
      </p:sp>
      <p:sp>
        <p:nvSpPr>
          <p:cNvPr id="8" name="Text 6"/>
          <p:cNvSpPr/>
          <p:nvPr/>
        </p:nvSpPr>
        <p:spPr>
          <a:xfrm>
            <a:off x="795528" y="2697480"/>
            <a:ext cx="2252396" cy="86868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Step Functions</a:t>
            </a:r>
            <a:endParaRPr lang="en-US" sz="1400" dirty="0"/>
          </a:p>
        </p:txBody>
      </p:sp>
      <p:sp>
        <p:nvSpPr>
          <p:cNvPr id="9" name="Shape 7"/>
          <p:cNvSpPr/>
          <p:nvPr/>
        </p:nvSpPr>
        <p:spPr>
          <a:xfrm>
            <a:off x="3468548" y="2697480"/>
            <a:ext cx="2471852" cy="868680"/>
          </a:xfrm>
          <a:prstGeom prst="roundRect">
            <a:avLst>
              <a:gd name="adj" fmla="val 12632"/>
            </a:avLst>
          </a:prstGeom>
          <a:solidFill>
            <a:srgbClr val="EDF2F8"/>
          </a:solidFill>
          <a:ln/>
        </p:spPr>
      </p:sp>
      <p:sp>
        <p:nvSpPr>
          <p:cNvPr id="10" name="Text 8"/>
          <p:cNvSpPr/>
          <p:nvPr/>
        </p:nvSpPr>
        <p:spPr>
          <a:xfrm>
            <a:off x="3578276" y="2697480"/>
            <a:ext cx="2252396" cy="86868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Hand-rolled</a:t>
            </a:r>
            <a:endParaRPr lang="en-US" sz="1400" dirty="0"/>
          </a:p>
          <a:p>
            <a:pPr algn="ctr" indent="0" marL="0">
              <a:buNone/>
            </a:pPr>
            <a:r>
              <a:rPr lang="en-US" sz="1400" b="1" dirty="0">
                <a:solidFill>
                  <a:srgbClr val="16233A"/>
                </a:solidFill>
                <a:latin typeface="Calibri" pitchFamily="34" charset="0"/>
                <a:ea typeface="Calibri" pitchFamily="34" charset="-122"/>
                <a:cs typeface="Calibri" pitchFamily="34" charset="-120"/>
              </a:rPr>
              <a:t>state machine</a:t>
            </a:r>
            <a:endParaRPr lang="en-US" sz="1400" dirty="0"/>
          </a:p>
        </p:txBody>
      </p:sp>
      <p:sp>
        <p:nvSpPr>
          <p:cNvPr id="11" name="Shape 9"/>
          <p:cNvSpPr/>
          <p:nvPr/>
        </p:nvSpPr>
        <p:spPr>
          <a:xfrm>
            <a:off x="6251296" y="2697480"/>
            <a:ext cx="2471852" cy="868680"/>
          </a:xfrm>
          <a:prstGeom prst="roundRect">
            <a:avLst>
              <a:gd name="adj" fmla="val 12632"/>
            </a:avLst>
          </a:prstGeom>
          <a:solidFill>
            <a:srgbClr val="EDF2F8"/>
          </a:solidFill>
          <a:ln/>
        </p:spPr>
      </p:sp>
      <p:sp>
        <p:nvSpPr>
          <p:cNvPr id="12" name="Text 10"/>
          <p:cNvSpPr/>
          <p:nvPr/>
        </p:nvSpPr>
        <p:spPr>
          <a:xfrm>
            <a:off x="6361024" y="2697480"/>
            <a:ext cx="2252396" cy="86868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Saga</a:t>
            </a:r>
            <a:endParaRPr lang="en-US" sz="1400" dirty="0"/>
          </a:p>
        </p:txBody>
      </p:sp>
      <p:sp>
        <p:nvSpPr>
          <p:cNvPr id="13" name="Shape 11"/>
          <p:cNvSpPr/>
          <p:nvPr/>
        </p:nvSpPr>
        <p:spPr>
          <a:xfrm>
            <a:off x="9034043" y="2697480"/>
            <a:ext cx="2471852" cy="868680"/>
          </a:xfrm>
          <a:prstGeom prst="roundRect">
            <a:avLst>
              <a:gd name="adj" fmla="val 12632"/>
            </a:avLst>
          </a:prstGeom>
          <a:solidFill>
            <a:srgbClr val="EDF2F8"/>
          </a:solidFill>
          <a:ln/>
        </p:spPr>
      </p:sp>
      <p:sp>
        <p:nvSpPr>
          <p:cNvPr id="14" name="Text 12"/>
          <p:cNvSpPr/>
          <p:nvPr/>
        </p:nvSpPr>
        <p:spPr>
          <a:xfrm>
            <a:off x="9143771" y="2697480"/>
            <a:ext cx="2252396" cy="868680"/>
          </a:xfrm>
          <a:prstGeom prst="rect">
            <a:avLst/>
          </a:prstGeom>
          <a:noFill/>
          <a:ln/>
        </p:spPr>
        <p:txBody>
          <a:bodyPr wrap="square" lIns="0" tIns="0" rIns="0" bIns="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Event-driven</a:t>
            </a:r>
            <a:endParaRPr lang="en-US" sz="1400" dirty="0"/>
          </a:p>
        </p:txBody>
      </p:sp>
      <p:sp>
        <p:nvSpPr>
          <p:cNvPr id="15" name="Text 13"/>
          <p:cNvSpPr/>
          <p:nvPr/>
        </p:nvSpPr>
        <p:spPr>
          <a:xfrm>
            <a:off x="685800" y="3749040"/>
            <a:ext cx="5486400" cy="365760"/>
          </a:xfrm>
          <a:prstGeom prst="rect">
            <a:avLst/>
          </a:prstGeom>
          <a:noFill/>
          <a:ln/>
        </p:spPr>
        <p:txBody>
          <a:bodyPr wrap="square" lIns="0" tIns="0" rIns="0" bIns="0" rtlCol="0" anchor="ctr"/>
          <a:lstStyle/>
          <a:p>
            <a:pPr indent="0" marL="0">
              <a:buNone/>
            </a:pPr>
            <a:r>
              <a:rPr lang="en-US" sz="1200" b="1" spc="200" kern="0" dirty="0">
                <a:solidFill>
                  <a:srgbClr val="6B7B93"/>
                </a:solidFill>
                <a:latin typeface="Arial" pitchFamily="34" charset="0"/>
                <a:ea typeface="Arial" pitchFamily="34" charset="-122"/>
                <a:cs typeface="Arial" pitchFamily="34" charset="-120"/>
              </a:rPr>
              <a:t>IMPLEMENTED IN</a:t>
            </a:r>
            <a:endParaRPr lang="en-US" sz="1200" dirty="0"/>
          </a:p>
        </p:txBody>
      </p:sp>
      <p:sp>
        <p:nvSpPr>
          <p:cNvPr id="16" name="Text 14"/>
          <p:cNvSpPr/>
          <p:nvPr/>
        </p:nvSpPr>
        <p:spPr>
          <a:xfrm>
            <a:off x="685800" y="4160520"/>
            <a:ext cx="10362895" cy="457200"/>
          </a:xfrm>
          <a:prstGeom prst="rect">
            <a:avLst/>
          </a:prstGeom>
          <a:noFill/>
          <a:ln/>
        </p:spPr>
        <p:txBody>
          <a:bodyPr wrap="square" lIns="0" tIns="0" rIns="0" bIns="0" rtlCol="0" anchor="ctr"/>
          <a:lstStyle/>
          <a:p>
            <a:pPr indent="0" marL="0">
              <a:buNone/>
            </a:pPr>
            <a:r>
              <a:rPr lang="en-US" sz="2000" b="1" dirty="0">
                <a:solidFill>
                  <a:srgbClr val="16233A"/>
                </a:solidFill>
                <a:latin typeface="Calibri" pitchFamily="34" charset="0"/>
                <a:ea typeface="Calibri" pitchFamily="34" charset="-122"/>
                <a:cs typeface="Calibri" pitchFamily="34" charset="-120"/>
              </a:rPr>
              <a:t>Java Spring   ·   TypeScript</a:t>
            </a:r>
            <a:endParaRPr lang="en-US" sz="2000" dirty="0"/>
          </a:p>
        </p:txBody>
      </p:sp>
      <p:sp>
        <p:nvSpPr>
          <p:cNvPr id="17" name="Shape 15"/>
          <p:cNvSpPr/>
          <p:nvPr/>
        </p:nvSpPr>
        <p:spPr>
          <a:xfrm>
            <a:off x="685800" y="4800600"/>
            <a:ext cx="10820095" cy="868680"/>
          </a:xfrm>
          <a:prstGeom prst="roundRect">
            <a:avLst>
              <a:gd name="adj" fmla="val 14737"/>
            </a:avLst>
          </a:prstGeom>
          <a:solidFill>
            <a:srgbClr val="0E1626"/>
          </a:solidFill>
          <a:ln/>
        </p:spPr>
      </p:sp>
      <p:sp>
        <p:nvSpPr>
          <p:cNvPr id="18" name="Text 16"/>
          <p:cNvSpPr/>
          <p:nvPr/>
        </p:nvSpPr>
        <p:spPr>
          <a:xfrm>
            <a:off x="1051560" y="4800600"/>
            <a:ext cx="10088575" cy="868680"/>
          </a:xfrm>
          <a:prstGeom prst="rect">
            <a:avLst/>
          </a:prstGeom>
          <a:noFill/>
          <a:ln/>
        </p:spPr>
        <p:txBody>
          <a:bodyPr wrap="square" lIns="0" tIns="0" rIns="0" bIns="0" rtlCol="0" anchor="ctr"/>
          <a:lstStyle/>
          <a:p>
            <a:pPr indent="0" marL="0">
              <a:buNone/>
            </a:pPr>
            <a:r>
              <a:rPr lang="en-US" sz="2300" b="1" dirty="0">
                <a:solidFill>
                  <a:srgbClr val="00C08B"/>
                </a:solidFill>
                <a:latin typeface="Arial" pitchFamily="34" charset="0"/>
                <a:ea typeface="Arial" pitchFamily="34" charset="-122"/>
                <a:cs typeface="Arial" pitchFamily="34" charset="-120"/>
              </a:rPr>
              <a:t>Winner: AWS Step Functions + TypeScript</a:t>
            </a:r>
            <a:endParaRPr lang="en-US" sz="2300" dirty="0"/>
          </a:p>
        </p:txBody>
      </p:sp>
      <p:sp>
        <p:nvSpPr>
          <p:cNvPr id="19" name="Text 17"/>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we had the answer. Why was it so hard to build?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OBSTACLE</a:t>
            </a:r>
            <a:endParaRPr lang="en-US" sz="1100" dirty="0"/>
          </a:p>
        </p:txBody>
      </p:sp>
      <p:sp>
        <p:nvSpPr>
          <p:cNvPr id="6" name="Text 4"/>
          <p:cNvSpPr/>
          <p:nvPr/>
        </p:nvSpPr>
        <p:spPr>
          <a:xfrm>
            <a:off x="685800" y="2194560"/>
            <a:ext cx="9722815" cy="2926080"/>
          </a:xfrm>
          <a:prstGeom prst="rect">
            <a:avLst/>
          </a:prstGeom>
          <a:noFill/>
          <a:ln/>
        </p:spPr>
        <p:txBody>
          <a:bodyPr wrap="square" lIns="0" tIns="0" rIns="0" bIns="0" rtlCol="0" anchor="t"/>
          <a:lstStyle/>
          <a:p>
            <a:pPr algn="l" indent="0" marL="0">
              <a:lnSpc>
                <a:spcPts val="4096"/>
              </a:lnSpc>
              <a:buNone/>
            </a:pPr>
            <a:r>
              <a:rPr lang="en-US" sz="3200" b="1" dirty="0">
                <a:solidFill>
                  <a:srgbClr val="FFFFFF"/>
                </a:solidFill>
                <a:latin typeface="Arial" pitchFamily="34" charset="0"/>
                <a:ea typeface="Arial" pitchFamily="34" charset="-122"/>
                <a:cs typeface="Arial" pitchFamily="34" charset="-120"/>
              </a:rPr>
              <a:t>At the time, AWS SAM had no practical</a:t>
            </a:r>
            <a:endParaRPr lang="en-US" sz="3200" dirty="0"/>
          </a:p>
          <a:p>
            <a:pPr algn="l" indent="0" marL="0">
              <a:lnSpc>
                <a:spcPts val="4096"/>
              </a:lnSpc>
              <a:buNone/>
            </a:pPr>
            <a:r>
              <a:rPr lang="en-US" sz="3200" b="1" dirty="0">
                <a:solidFill>
                  <a:srgbClr val="FFFFFF"/>
                </a:solidFill>
                <a:latin typeface="Arial" pitchFamily="34" charset="0"/>
                <a:ea typeface="Arial" pitchFamily="34" charset="-122"/>
                <a:cs typeface="Arial" pitchFamily="34" charset="-120"/>
              </a:rPr>
              <a:t>support for developing and debugging</a:t>
            </a:r>
            <a:endParaRPr lang="en-US" sz="3200" dirty="0"/>
          </a:p>
          <a:p>
            <a:pPr algn="l" indent="0" marL="0">
              <a:lnSpc>
                <a:spcPts val="4096"/>
              </a:lnSpc>
              <a:buNone/>
            </a:pPr>
            <a:r>
              <a:rPr lang="en-US" sz="3200" b="1" dirty="0">
                <a:solidFill>
                  <a:srgbClr val="00C08B"/>
                </a:solidFill>
                <a:latin typeface="Arial" pitchFamily="34" charset="0"/>
                <a:ea typeface="Arial" pitchFamily="34" charset="-122"/>
                <a:cs typeface="Arial" pitchFamily="34" charset="-120"/>
              </a:rPr>
              <a:t>Step Functions locally.</a:t>
            </a:r>
            <a:endParaRPr lang="en-US" sz="3200" dirty="0"/>
          </a:p>
        </p:txBody>
      </p:sp>
      <p:sp>
        <p:nvSpPr>
          <p:cNvPr id="7" name="Text 5"/>
          <p:cNvSpPr/>
          <p:nvPr/>
        </p:nvSpPr>
        <p:spPr>
          <a:xfrm>
            <a:off x="685800" y="4892040"/>
            <a:ext cx="9905695" cy="640080"/>
          </a:xfrm>
          <a:prstGeom prst="rect">
            <a:avLst/>
          </a:prstGeom>
          <a:noFill/>
          <a:ln/>
        </p:spPr>
        <p:txBody>
          <a:bodyPr wrap="square" lIns="0" tIns="0" rIns="0" bIns="0" rtlCol="0" anchor="ctr"/>
          <a:lstStyle/>
          <a:p>
            <a:pPr indent="0" marL="0">
              <a:buNone/>
            </a:pPr>
            <a:r>
              <a:rPr lang="en-US" sz="1600" dirty="0">
                <a:solidFill>
                  <a:srgbClr val="8FA3BF"/>
                </a:solidFill>
                <a:latin typeface="Calibri" pitchFamily="34" charset="0"/>
                <a:ea typeface="Calibri" pitchFamily="34" charset="-122"/>
                <a:cs typeface="Calibri" pitchFamily="34" charset="-120"/>
              </a:rPr>
              <a:t>Fine for one Lambda. Not for an orchestration with multiple Lambdas, async callbacks, retries, waits and polling loops.</a:t>
            </a:r>
            <a:endParaRPr lang="en-US" sz="1600" dirty="0"/>
          </a:p>
        </p:txBody>
      </p:sp>
      <p:sp>
        <p:nvSpPr>
          <p:cNvPr id="8" name="Text 6"/>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0C08B"/>
                </a:solidFill>
                <a:latin typeface="Calibri" pitchFamily="34" charset="0"/>
                <a:ea typeface="Calibri" pitchFamily="34" charset="-122"/>
                <a:cs typeface="Calibri" pitchFamily="34" charset="-120"/>
              </a:rPr>
              <a:t>→  What did that actually cost us, per change?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WE MEASURED</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Six steps to test one change</a:t>
            </a:r>
            <a:endParaRPr lang="en-US" sz="3200" dirty="0"/>
          </a:p>
        </p:txBody>
      </p:sp>
      <p:sp>
        <p:nvSpPr>
          <p:cNvPr id="6" name="Shape 4"/>
          <p:cNvSpPr/>
          <p:nvPr/>
        </p:nvSpPr>
        <p:spPr>
          <a:xfrm>
            <a:off x="685800" y="2286000"/>
            <a:ext cx="402336" cy="402336"/>
          </a:xfrm>
          <a:prstGeom prst="roundRect">
            <a:avLst>
              <a:gd name="adj" fmla="val 25000"/>
            </a:avLst>
          </a:prstGeom>
          <a:solidFill>
            <a:srgbClr val="EDF2F8"/>
          </a:solidFill>
          <a:ln/>
        </p:spPr>
      </p:sp>
      <p:sp>
        <p:nvSpPr>
          <p:cNvPr id="7" name="Text 5"/>
          <p:cNvSpPr/>
          <p:nvPr/>
        </p:nvSpPr>
        <p:spPr>
          <a:xfrm>
            <a:off x="685800" y="228600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344168" y="2286000"/>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Deploy infrastructure</a:t>
            </a:r>
            <a:endParaRPr lang="en-US" sz="1700" dirty="0"/>
          </a:p>
        </p:txBody>
      </p:sp>
      <p:sp>
        <p:nvSpPr>
          <p:cNvPr id="9" name="Shape 7"/>
          <p:cNvSpPr/>
          <p:nvPr/>
        </p:nvSpPr>
        <p:spPr>
          <a:xfrm>
            <a:off x="685800" y="2852928"/>
            <a:ext cx="402336" cy="402336"/>
          </a:xfrm>
          <a:prstGeom prst="roundRect">
            <a:avLst>
              <a:gd name="adj" fmla="val 25000"/>
            </a:avLst>
          </a:prstGeom>
          <a:solidFill>
            <a:srgbClr val="EDF2F8"/>
          </a:solidFill>
          <a:ln/>
        </p:spPr>
      </p:sp>
      <p:sp>
        <p:nvSpPr>
          <p:cNvPr id="10" name="Text 8"/>
          <p:cNvSpPr/>
          <p:nvPr/>
        </p:nvSpPr>
        <p:spPr>
          <a:xfrm>
            <a:off x="685800" y="2852928"/>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344168" y="2852928"/>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Wait for the pipeline</a:t>
            </a:r>
            <a:endParaRPr lang="en-US" sz="1700" dirty="0"/>
          </a:p>
        </p:txBody>
      </p:sp>
      <p:sp>
        <p:nvSpPr>
          <p:cNvPr id="12" name="Shape 10"/>
          <p:cNvSpPr/>
          <p:nvPr/>
        </p:nvSpPr>
        <p:spPr>
          <a:xfrm>
            <a:off x="685800" y="3419856"/>
            <a:ext cx="402336" cy="402336"/>
          </a:xfrm>
          <a:prstGeom prst="roundRect">
            <a:avLst>
              <a:gd name="adj" fmla="val 25000"/>
            </a:avLst>
          </a:prstGeom>
          <a:solidFill>
            <a:srgbClr val="EDF2F8"/>
          </a:solidFill>
          <a:ln/>
        </p:spPr>
      </p:sp>
      <p:sp>
        <p:nvSpPr>
          <p:cNvPr id="13" name="Text 11"/>
          <p:cNvSpPr/>
          <p:nvPr/>
        </p:nvSpPr>
        <p:spPr>
          <a:xfrm>
            <a:off x="685800" y="3419856"/>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344168" y="3419856"/>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Execute the workflow remotely</a:t>
            </a:r>
            <a:endParaRPr lang="en-US" sz="1700" dirty="0"/>
          </a:p>
        </p:txBody>
      </p:sp>
      <p:sp>
        <p:nvSpPr>
          <p:cNvPr id="15" name="Shape 13"/>
          <p:cNvSpPr/>
          <p:nvPr/>
        </p:nvSpPr>
        <p:spPr>
          <a:xfrm>
            <a:off x="685800" y="3986784"/>
            <a:ext cx="402336" cy="402336"/>
          </a:xfrm>
          <a:prstGeom prst="roundRect">
            <a:avLst>
              <a:gd name="adj" fmla="val 25000"/>
            </a:avLst>
          </a:prstGeom>
          <a:solidFill>
            <a:srgbClr val="EDF2F8"/>
          </a:solidFill>
          <a:ln/>
        </p:spPr>
      </p:sp>
      <p:sp>
        <p:nvSpPr>
          <p:cNvPr id="16" name="Text 14"/>
          <p:cNvSpPr/>
          <p:nvPr/>
        </p:nvSpPr>
        <p:spPr>
          <a:xfrm>
            <a:off x="685800" y="3986784"/>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4</a:t>
            </a:r>
            <a:endParaRPr lang="en-US" sz="1300" dirty="0"/>
          </a:p>
        </p:txBody>
      </p:sp>
      <p:sp>
        <p:nvSpPr>
          <p:cNvPr id="17" name="Text 15"/>
          <p:cNvSpPr/>
          <p:nvPr/>
        </p:nvSpPr>
        <p:spPr>
          <a:xfrm>
            <a:off x="1344168" y="3986784"/>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Collect logs from several services</a:t>
            </a:r>
            <a:endParaRPr lang="en-US" sz="1700" dirty="0"/>
          </a:p>
        </p:txBody>
      </p:sp>
      <p:sp>
        <p:nvSpPr>
          <p:cNvPr id="18" name="Shape 16"/>
          <p:cNvSpPr/>
          <p:nvPr/>
        </p:nvSpPr>
        <p:spPr>
          <a:xfrm>
            <a:off x="685800" y="4553712"/>
            <a:ext cx="402336" cy="402336"/>
          </a:xfrm>
          <a:prstGeom prst="roundRect">
            <a:avLst>
              <a:gd name="adj" fmla="val 25000"/>
            </a:avLst>
          </a:prstGeom>
          <a:solidFill>
            <a:srgbClr val="EDF2F8"/>
          </a:solidFill>
          <a:ln/>
        </p:spPr>
      </p:sp>
      <p:sp>
        <p:nvSpPr>
          <p:cNvPr id="19" name="Text 17"/>
          <p:cNvSpPr/>
          <p:nvPr/>
        </p:nvSpPr>
        <p:spPr>
          <a:xfrm>
            <a:off x="685800" y="4553712"/>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5</a:t>
            </a:r>
            <a:endParaRPr lang="en-US" sz="1300" dirty="0"/>
          </a:p>
        </p:txBody>
      </p:sp>
      <p:sp>
        <p:nvSpPr>
          <p:cNvPr id="20" name="Text 18"/>
          <p:cNvSpPr/>
          <p:nvPr/>
        </p:nvSpPr>
        <p:spPr>
          <a:xfrm>
            <a:off x="1344168" y="4553712"/>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Diagnose</a:t>
            </a:r>
            <a:endParaRPr lang="en-US" sz="1700" dirty="0"/>
          </a:p>
        </p:txBody>
      </p:sp>
      <p:sp>
        <p:nvSpPr>
          <p:cNvPr id="21" name="Shape 19"/>
          <p:cNvSpPr/>
          <p:nvPr/>
        </p:nvSpPr>
        <p:spPr>
          <a:xfrm>
            <a:off x="685800" y="5120640"/>
            <a:ext cx="402336" cy="402336"/>
          </a:xfrm>
          <a:prstGeom prst="roundRect">
            <a:avLst>
              <a:gd name="adj" fmla="val 25000"/>
            </a:avLst>
          </a:prstGeom>
          <a:solidFill>
            <a:srgbClr val="EDF2F8"/>
          </a:solidFill>
          <a:ln/>
        </p:spPr>
      </p:sp>
      <p:sp>
        <p:nvSpPr>
          <p:cNvPr id="22" name="Text 20"/>
          <p:cNvSpPr/>
          <p:nvPr/>
        </p:nvSpPr>
        <p:spPr>
          <a:xfrm>
            <a:off x="685800" y="512064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6</a:t>
            </a:r>
            <a:endParaRPr lang="en-US" sz="1300" dirty="0"/>
          </a:p>
        </p:txBody>
      </p:sp>
      <p:sp>
        <p:nvSpPr>
          <p:cNvPr id="23" name="Text 21"/>
          <p:cNvSpPr/>
          <p:nvPr/>
        </p:nvSpPr>
        <p:spPr>
          <a:xfrm>
            <a:off x="1344168" y="5120640"/>
            <a:ext cx="10161727" cy="402336"/>
          </a:xfrm>
          <a:prstGeom prst="rect">
            <a:avLst/>
          </a:prstGeom>
          <a:noFill/>
          <a:ln/>
        </p:spPr>
        <p:txBody>
          <a:bodyPr wrap="square" lIns="0" tIns="0" rIns="0" bIns="0" rtlCol="0" anchor="ctr"/>
          <a:lstStyle/>
          <a:p>
            <a:pPr indent="0" marL="0">
              <a:buNone/>
            </a:pPr>
            <a:r>
              <a:rPr lang="en-US" sz="1700" dirty="0">
                <a:solidFill>
                  <a:srgbClr val="16233A"/>
                </a:solidFill>
                <a:latin typeface="Calibri" pitchFamily="34" charset="0"/>
                <a:ea typeface="Calibri" pitchFamily="34" charset="-122"/>
                <a:cs typeface="Calibri" pitchFamily="34" charset="-120"/>
              </a:rPr>
              <a:t>Repeat</a:t>
            </a:r>
            <a:endParaRPr lang="en-US" sz="1700" dirty="0"/>
          </a:p>
        </p:txBody>
      </p:sp>
      <p:sp>
        <p:nvSpPr>
          <p:cNvPr id="24" name="Shape 22"/>
          <p:cNvSpPr/>
          <p:nvPr/>
        </p:nvSpPr>
        <p:spPr>
          <a:xfrm>
            <a:off x="8138160" y="2286000"/>
            <a:ext cx="3383280" cy="2944368"/>
          </a:xfrm>
          <a:prstGeom prst="roundRect">
            <a:avLst>
              <a:gd name="adj" fmla="val 4348"/>
            </a:avLst>
          </a:prstGeom>
          <a:solidFill>
            <a:srgbClr val="0E1626"/>
          </a:solidFill>
          <a:ln/>
        </p:spPr>
      </p:sp>
      <p:sp>
        <p:nvSpPr>
          <p:cNvPr id="25" name="Text 23"/>
          <p:cNvSpPr/>
          <p:nvPr/>
        </p:nvSpPr>
        <p:spPr>
          <a:xfrm>
            <a:off x="8458200" y="3063240"/>
            <a:ext cx="2834640" cy="914400"/>
          </a:xfrm>
          <a:prstGeom prst="rect">
            <a:avLst/>
          </a:prstGeom>
          <a:noFill/>
          <a:ln/>
        </p:spPr>
        <p:txBody>
          <a:bodyPr wrap="square" lIns="0" tIns="0" rIns="0" bIns="0" rtlCol="0" anchor="ctr"/>
          <a:lstStyle/>
          <a:p>
            <a:pPr indent="0" marL="0">
              <a:buNone/>
            </a:pPr>
            <a:r>
              <a:rPr lang="en-US" sz="4600" b="1" dirty="0">
                <a:solidFill>
                  <a:srgbClr val="E8743B"/>
                </a:solidFill>
                <a:latin typeface="Arial" pitchFamily="34" charset="0"/>
                <a:ea typeface="Arial" pitchFamily="34" charset="-122"/>
                <a:cs typeface="Arial" pitchFamily="34" charset="-120"/>
              </a:rPr>
              <a:t>[N] min</a:t>
            </a:r>
            <a:endParaRPr lang="en-US" sz="4600" dirty="0"/>
          </a:p>
        </p:txBody>
      </p:sp>
      <p:sp>
        <p:nvSpPr>
          <p:cNvPr id="26" name="Text 24"/>
          <p:cNvSpPr/>
          <p:nvPr/>
        </p:nvSpPr>
        <p:spPr>
          <a:xfrm>
            <a:off x="8458200" y="4023360"/>
            <a:ext cx="2834640" cy="457200"/>
          </a:xfrm>
          <a:prstGeom prst="rect">
            <a:avLst/>
          </a:prstGeom>
          <a:noFill/>
          <a:ln/>
        </p:spPr>
        <p:txBody>
          <a:bodyPr wrap="square" lIns="0" tIns="0" rIns="0" bIns="0" rtlCol="0" anchor="ctr"/>
          <a:lstStyle/>
          <a:p>
            <a:pPr indent="0" marL="0">
              <a:buNone/>
            </a:pPr>
            <a:r>
              <a:rPr lang="en-US" sz="1500" dirty="0">
                <a:solidFill>
                  <a:srgbClr val="8FA3BF"/>
                </a:solidFill>
                <a:latin typeface="Calibri" pitchFamily="34" charset="0"/>
                <a:ea typeface="Calibri" pitchFamily="34" charset="-122"/>
                <a:cs typeface="Calibri" pitchFamily="34" charset="-120"/>
              </a:rPr>
              <a:t>one iteration</a:t>
            </a:r>
            <a:endParaRPr lang="en-US" sz="1500" dirty="0"/>
          </a:p>
        </p:txBody>
      </p:sp>
      <p:sp>
        <p:nvSpPr>
          <p:cNvPr id="27" name="Text 25"/>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And when it failed — where do you even look?</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5" name="Text 3"/>
          <p:cNvSpPr/>
          <p:nvPr/>
        </p:nvSpPr>
        <p:spPr>
          <a:xfrm>
            <a:off x="685800" y="2926080"/>
            <a:ext cx="914400" cy="548640"/>
          </a:xfrm>
          <a:prstGeom prst="rect">
            <a:avLst/>
          </a:prstGeom>
          <a:noFill/>
          <a:ln/>
        </p:spPr>
        <p:txBody>
          <a:bodyPr wrap="square" lIns="0" tIns="0" rIns="0" bIns="0" rtlCol="0" anchor="ctr"/>
          <a:lstStyle/>
          <a:p>
            <a:pPr indent="0" marL="0">
              <a:buNone/>
            </a:pPr>
            <a:r>
              <a:rPr lang="en-US" sz="4000" dirty="0">
                <a:solidFill>
                  <a:srgbClr val="1A2A45"/>
                </a:solidFill>
                <a:latin typeface="Arial" pitchFamily="34" charset="0"/>
                <a:ea typeface="Arial" pitchFamily="34" charset="-122"/>
                <a:cs typeface="Arial" pitchFamily="34" charset="-120"/>
              </a:rPr>
              <a:t>—</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IT TOLD US</a:t>
            </a:r>
            <a:endParaRPr lang="en-US" sz="1100" dirty="0"/>
          </a:p>
        </p:txBody>
      </p:sp>
      <p:sp>
        <p:nvSpPr>
          <p:cNvPr id="6" name="Text 4"/>
          <p:cNvSpPr/>
          <p:nvPr/>
        </p:nvSpPr>
        <p:spPr>
          <a:xfrm>
            <a:off x="685800" y="2286000"/>
            <a:ext cx="9722815" cy="2926080"/>
          </a:xfrm>
          <a:prstGeom prst="rect">
            <a:avLst/>
          </a:prstGeom>
          <a:noFill/>
          <a:ln/>
        </p:spPr>
        <p:txBody>
          <a:bodyPr wrap="square" lIns="0" tIns="0" rIns="0" bIns="0" rtlCol="0" anchor="t"/>
          <a:lstStyle/>
          <a:p>
            <a:pPr algn="l" indent="0" marL="0">
              <a:lnSpc>
                <a:spcPts val="4224"/>
              </a:lnSpc>
              <a:buNone/>
            </a:pPr>
            <a:r>
              <a:rPr lang="en-US" sz="3300" dirty="0">
                <a:solidFill>
                  <a:srgbClr val="8FA3BF"/>
                </a:solidFill>
                <a:latin typeface="Arial" pitchFamily="34" charset="0"/>
                <a:ea typeface="Arial" pitchFamily="34" charset="-122"/>
                <a:cs typeface="Arial" pitchFamily="34" charset="-120"/>
              </a:rPr>
              <a:t>The real cost wasn't slowness.</a:t>
            </a:r>
            <a:endParaRPr lang="en-US" sz="3300" dirty="0"/>
          </a:p>
          <a:p>
            <a:pPr algn="l" indent="0" marL="0">
              <a:lnSpc>
                <a:spcPts val="4224"/>
              </a:lnSpc>
              <a:buNone/>
            </a:pPr>
            <a:r>
              <a:rPr lang="en-US" sz="3300" b="1" dirty="0">
                <a:solidFill>
                  <a:srgbClr val="FFFFFF"/>
                </a:solidFill>
                <a:latin typeface="Arial" pitchFamily="34" charset="0"/>
                <a:ea typeface="Arial" pitchFamily="34" charset="-122"/>
                <a:cs typeface="Arial" pitchFamily="34" charset="-120"/>
              </a:rPr>
              <a:t>At that price, you stop testing alternatives.</a:t>
            </a:r>
            <a:endParaRPr lang="en-US" sz="3300" dirty="0"/>
          </a:p>
          <a:p>
            <a:pPr algn="l" indent="0" marL="0">
              <a:lnSpc>
                <a:spcPts val="4224"/>
              </a:lnSpc>
              <a:buNone/>
            </a:pPr>
            <a:r>
              <a:rPr lang="en-US" sz="3300" b="1" dirty="0">
                <a:solidFill>
                  <a:srgbClr val="00C08B"/>
                </a:solidFill>
                <a:latin typeface="Arial" pitchFamily="34" charset="0"/>
                <a:ea typeface="Arial" pitchFamily="34" charset="-122"/>
                <a:cs typeface="Arial" pitchFamily="34" charset="-120"/>
              </a:rPr>
              <a:t>You start deciding by opinion.</a:t>
            </a:r>
            <a:endParaRPr lang="en-US" sz="3300" dirty="0"/>
          </a:p>
        </p:txBody>
      </p:sp>
      <p:sp>
        <p:nvSpPr>
          <p:cNvPr id="7" name="Text 5"/>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0C08B"/>
                </a:solidFill>
                <a:latin typeface="Calibri" pitchFamily="34" charset="0"/>
                <a:ea typeface="Calibri" pitchFamily="34" charset="-122"/>
                <a:cs typeface="Calibri" pitchFamily="34" charset="-120"/>
              </a:rPr>
              <a:t>→  So what do you build first?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DECISION</a:t>
            </a:r>
            <a:endParaRPr lang="en-US" sz="1100" dirty="0"/>
          </a:p>
        </p:txBody>
      </p:sp>
      <p:sp>
        <p:nvSpPr>
          <p:cNvPr id="5" name="Text 3"/>
          <p:cNvSpPr/>
          <p:nvPr/>
        </p:nvSpPr>
        <p:spPr>
          <a:xfrm>
            <a:off x="685800" y="2286000"/>
            <a:ext cx="9722815" cy="2926080"/>
          </a:xfrm>
          <a:prstGeom prst="rect">
            <a:avLst/>
          </a:prstGeom>
          <a:noFill/>
          <a:ln/>
        </p:spPr>
        <p:txBody>
          <a:bodyPr wrap="square" lIns="0" tIns="0" rIns="0" bIns="0" rtlCol="0" anchor="t"/>
          <a:lstStyle/>
          <a:p>
            <a:pPr algn="l" indent="0" marL="0">
              <a:lnSpc>
                <a:spcPts val="4864"/>
              </a:lnSpc>
              <a:buNone/>
            </a:pPr>
            <a:r>
              <a:rPr lang="en-US" sz="3800" b="1" dirty="0">
                <a:solidFill>
                  <a:srgbClr val="16233A"/>
                </a:solidFill>
                <a:latin typeface="Arial" pitchFamily="34" charset="0"/>
                <a:ea typeface="Arial" pitchFamily="34" charset="-122"/>
                <a:cs typeface="Arial" pitchFamily="34" charset="-120"/>
              </a:rPr>
              <a:t>Build the environment that runs</a:t>
            </a:r>
            <a:endParaRPr lang="en-US" sz="3800" dirty="0"/>
          </a:p>
          <a:p>
            <a:pPr algn="l" indent="0" marL="0">
              <a:lnSpc>
                <a:spcPts val="4864"/>
              </a:lnSpc>
              <a:buNone/>
            </a:pPr>
            <a:r>
              <a:rPr lang="en-US" sz="3800" b="1" dirty="0">
                <a:solidFill>
                  <a:srgbClr val="16233A"/>
                </a:solidFill>
                <a:latin typeface="Arial" pitchFamily="34" charset="0"/>
                <a:ea typeface="Arial" pitchFamily="34" charset="-122"/>
                <a:cs typeface="Arial" pitchFamily="34" charset="-120"/>
              </a:rPr>
              <a:t>the whole platform on a laptop.</a:t>
            </a:r>
            <a:endParaRPr lang="en-US" sz="3800" dirty="0"/>
          </a:p>
          <a:p>
            <a:pPr algn="l" indent="0" marL="0">
              <a:lnSpc>
                <a:spcPts val="4864"/>
              </a:lnSpc>
              <a:buNone/>
            </a:pPr>
            <a:r>
              <a:rPr lang="en-US" sz="3800" b="1" dirty="0">
                <a:solidFill>
                  <a:srgbClr val="05795A"/>
                </a:solidFill>
                <a:latin typeface="Arial" pitchFamily="34" charset="0"/>
                <a:ea typeface="Arial" pitchFamily="34" charset="-122"/>
                <a:cs typeface="Arial" pitchFamily="34" charset="-120"/>
              </a:rPr>
              <a:t>First.</a:t>
            </a:r>
            <a:endParaRPr lang="en-US" sz="38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Can you actually run Step Functions on a laptop?</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EXPERIMENT</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Yes — all of it, from the production CDK</a:t>
            </a:r>
            <a:endParaRPr lang="en-US" sz="3200" dirty="0"/>
          </a:p>
        </p:txBody>
      </p:sp>
      <p:sp>
        <p:nvSpPr>
          <p:cNvPr id="6" name="Shape 4"/>
          <p:cNvSpPr/>
          <p:nvPr/>
        </p:nvSpPr>
        <p:spPr>
          <a:xfrm>
            <a:off x="685800" y="2468880"/>
            <a:ext cx="1915302" cy="914400"/>
          </a:xfrm>
          <a:prstGeom prst="roundRect">
            <a:avLst>
              <a:gd name="adj" fmla="val 12000"/>
            </a:avLst>
          </a:prstGeom>
          <a:solidFill>
            <a:srgbClr val="EDF2F8"/>
          </a:solidFill>
          <a:ln/>
        </p:spPr>
      </p:sp>
      <p:sp>
        <p:nvSpPr>
          <p:cNvPr id="7" name="Text 5"/>
          <p:cNvSpPr/>
          <p:nvPr/>
        </p:nvSpPr>
        <p:spPr>
          <a:xfrm>
            <a:off x="795528" y="2468880"/>
            <a:ext cx="1695846"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Step Functions</a:t>
            </a:r>
            <a:endParaRPr lang="en-US" sz="1500" dirty="0"/>
          </a:p>
        </p:txBody>
      </p:sp>
      <p:sp>
        <p:nvSpPr>
          <p:cNvPr id="8" name="Text 6"/>
          <p:cNvSpPr/>
          <p:nvPr/>
        </p:nvSpPr>
        <p:spPr>
          <a:xfrm>
            <a:off x="2601102" y="246888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911998" y="2468880"/>
            <a:ext cx="1915302" cy="914400"/>
          </a:xfrm>
          <a:prstGeom prst="roundRect">
            <a:avLst>
              <a:gd name="adj" fmla="val 12000"/>
            </a:avLst>
          </a:prstGeom>
          <a:solidFill>
            <a:srgbClr val="EDF2F8"/>
          </a:solidFill>
          <a:ln/>
        </p:spPr>
      </p:sp>
      <p:sp>
        <p:nvSpPr>
          <p:cNvPr id="10" name="Text 8"/>
          <p:cNvSpPr/>
          <p:nvPr/>
        </p:nvSpPr>
        <p:spPr>
          <a:xfrm>
            <a:off x="3021726" y="2468880"/>
            <a:ext cx="1695846"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Lambda</a:t>
            </a:r>
            <a:endParaRPr lang="en-US" sz="1500" dirty="0"/>
          </a:p>
        </p:txBody>
      </p:sp>
      <p:sp>
        <p:nvSpPr>
          <p:cNvPr id="11" name="Text 9"/>
          <p:cNvSpPr/>
          <p:nvPr/>
        </p:nvSpPr>
        <p:spPr>
          <a:xfrm>
            <a:off x="4827300" y="246888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138196" y="2468880"/>
            <a:ext cx="1915302" cy="914400"/>
          </a:xfrm>
          <a:prstGeom prst="roundRect">
            <a:avLst>
              <a:gd name="adj" fmla="val 12000"/>
            </a:avLst>
          </a:prstGeom>
          <a:solidFill>
            <a:srgbClr val="EDF2F8"/>
          </a:solidFill>
          <a:ln/>
        </p:spPr>
      </p:sp>
      <p:sp>
        <p:nvSpPr>
          <p:cNvPr id="13" name="Text 11"/>
          <p:cNvSpPr/>
          <p:nvPr/>
        </p:nvSpPr>
        <p:spPr>
          <a:xfrm>
            <a:off x="5247924" y="2468880"/>
            <a:ext cx="1695846"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DynamoDB</a:t>
            </a:r>
            <a:endParaRPr lang="en-US" sz="1500" dirty="0"/>
          </a:p>
        </p:txBody>
      </p:sp>
      <p:sp>
        <p:nvSpPr>
          <p:cNvPr id="14" name="Text 12"/>
          <p:cNvSpPr/>
          <p:nvPr/>
        </p:nvSpPr>
        <p:spPr>
          <a:xfrm>
            <a:off x="7053499" y="246888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7364395" y="2468880"/>
            <a:ext cx="1915302" cy="914400"/>
          </a:xfrm>
          <a:prstGeom prst="roundRect">
            <a:avLst>
              <a:gd name="adj" fmla="val 12000"/>
            </a:avLst>
          </a:prstGeom>
          <a:solidFill>
            <a:srgbClr val="EDF2F8"/>
          </a:solidFill>
          <a:ln/>
        </p:spPr>
      </p:sp>
      <p:sp>
        <p:nvSpPr>
          <p:cNvPr id="16" name="Text 14"/>
          <p:cNvSpPr/>
          <p:nvPr/>
        </p:nvSpPr>
        <p:spPr>
          <a:xfrm>
            <a:off x="7474123" y="2468880"/>
            <a:ext cx="1695846"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SQS</a:t>
            </a:r>
            <a:endParaRPr lang="en-US" sz="1500" dirty="0"/>
          </a:p>
        </p:txBody>
      </p:sp>
      <p:sp>
        <p:nvSpPr>
          <p:cNvPr id="17" name="Text 15"/>
          <p:cNvSpPr/>
          <p:nvPr/>
        </p:nvSpPr>
        <p:spPr>
          <a:xfrm>
            <a:off x="9279697" y="2468880"/>
            <a:ext cx="310896" cy="9144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9590593" y="2468880"/>
            <a:ext cx="1915302" cy="914400"/>
          </a:xfrm>
          <a:prstGeom prst="roundRect">
            <a:avLst>
              <a:gd name="adj" fmla="val 12000"/>
            </a:avLst>
          </a:prstGeom>
          <a:solidFill>
            <a:srgbClr val="EDF2F8"/>
          </a:solidFill>
          <a:ln/>
        </p:spPr>
      </p:sp>
      <p:sp>
        <p:nvSpPr>
          <p:cNvPr id="19" name="Text 17"/>
          <p:cNvSpPr/>
          <p:nvPr/>
        </p:nvSpPr>
        <p:spPr>
          <a:xfrm>
            <a:off x="9700321" y="2468880"/>
            <a:ext cx="1695846" cy="9144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S3</a:t>
            </a:r>
            <a:endParaRPr lang="en-US" sz="1500" dirty="0"/>
          </a:p>
        </p:txBody>
      </p:sp>
      <p:sp>
        <p:nvSpPr>
          <p:cNvPr id="20" name="Shape 18"/>
          <p:cNvSpPr/>
          <p:nvPr/>
        </p:nvSpPr>
        <p:spPr>
          <a:xfrm>
            <a:off x="685800" y="3794760"/>
            <a:ext cx="10820095" cy="1188720"/>
          </a:xfrm>
          <a:prstGeom prst="roundRect">
            <a:avLst>
              <a:gd name="adj" fmla="val 10769"/>
            </a:avLst>
          </a:prstGeom>
          <a:solidFill>
            <a:srgbClr val="0E1626"/>
          </a:solidFill>
          <a:ln/>
        </p:spPr>
      </p:sp>
      <p:sp>
        <p:nvSpPr>
          <p:cNvPr id="21" name="Text 19"/>
          <p:cNvSpPr/>
          <p:nvPr/>
        </p:nvSpPr>
        <p:spPr>
          <a:xfrm>
            <a:off x="1051560" y="3794760"/>
            <a:ext cx="10088575" cy="1188720"/>
          </a:xfrm>
          <a:prstGeom prst="rect">
            <a:avLst/>
          </a:prstGeom>
          <a:noFill/>
          <a:ln/>
        </p:spPr>
        <p:txBody>
          <a:bodyPr wrap="square" lIns="0" tIns="0" rIns="0" bIns="0" rtlCol="0" anchor="ctr"/>
          <a:lstStyle/>
          <a:p>
            <a:pPr indent="0" marL="0">
              <a:buNone/>
            </a:pPr>
            <a:r>
              <a:rPr lang="en-US" sz="2300" b="1" dirty="0">
                <a:solidFill>
                  <a:srgbClr val="00C08B"/>
                </a:solidFill>
                <a:latin typeface="Arial" pitchFamily="34" charset="0"/>
                <a:ea typeface="Arial" pitchFamily="34" charset="-122"/>
                <a:cs typeface="Arial" pitchFamily="34" charset="-120"/>
              </a:rPr>
              <a:t>The same CDK definitions as production — pointed somewhere else.</a:t>
            </a:r>
            <a:endParaRPr lang="en-US" sz="2300" dirty="0"/>
          </a:p>
        </p:txBody>
      </p:sp>
      <p:sp>
        <p:nvSpPr>
          <p:cNvPr id="22" name="Text 20"/>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Is that enough?</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IT TOLD US</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000" b="1" dirty="0">
                <a:solidFill>
                  <a:srgbClr val="16233A"/>
                </a:solidFill>
                <a:latin typeface="Arial" pitchFamily="34" charset="0"/>
                <a:ea typeface="Arial" pitchFamily="34" charset="-122"/>
                <a:cs typeface="Arial" pitchFamily="34" charset="-120"/>
              </a:rPr>
              <a:t>No. Running it and using it are different problems.</a:t>
            </a:r>
            <a:endParaRPr lang="en-US" sz="3000" dirty="0"/>
          </a:p>
        </p:txBody>
      </p:sp>
      <p:sp>
        <p:nvSpPr>
          <p:cNvPr id="6" name="Shape 4"/>
          <p:cNvSpPr/>
          <p:nvPr/>
        </p:nvSpPr>
        <p:spPr>
          <a:xfrm>
            <a:off x="685800" y="2286000"/>
            <a:ext cx="3411626" cy="1097280"/>
          </a:xfrm>
          <a:prstGeom prst="roundRect">
            <a:avLst>
              <a:gd name="adj" fmla="val 10000"/>
            </a:avLst>
          </a:prstGeom>
          <a:solidFill>
            <a:srgbClr val="EDF2F8"/>
          </a:solidFill>
          <a:ln/>
        </p:spPr>
      </p:sp>
      <p:sp>
        <p:nvSpPr>
          <p:cNvPr id="7" name="Text 5"/>
          <p:cNvSpPr/>
          <p:nvPr/>
        </p:nvSpPr>
        <p:spPr>
          <a:xfrm>
            <a:off x="914400" y="24505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Prepare local infrastructure</a:t>
            </a:r>
            <a:endParaRPr lang="en-US" sz="1600" dirty="0"/>
          </a:p>
        </p:txBody>
      </p:sp>
      <p:sp>
        <p:nvSpPr>
          <p:cNvPr id="8" name="Text 6"/>
          <p:cNvSpPr/>
          <p:nvPr/>
        </p:nvSpPr>
        <p:spPr>
          <a:xfrm>
            <a:off x="914400" y="29443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cold laptop to running stack</a:t>
            </a:r>
            <a:endParaRPr lang="en-US" sz="1300" dirty="0"/>
          </a:p>
        </p:txBody>
      </p:sp>
      <p:sp>
        <p:nvSpPr>
          <p:cNvPr id="9" name="Shape 7"/>
          <p:cNvSpPr/>
          <p:nvPr/>
        </p:nvSpPr>
        <p:spPr>
          <a:xfrm>
            <a:off x="4390034" y="2286000"/>
            <a:ext cx="3411626" cy="1097280"/>
          </a:xfrm>
          <a:prstGeom prst="roundRect">
            <a:avLst>
              <a:gd name="adj" fmla="val 10000"/>
            </a:avLst>
          </a:prstGeom>
          <a:solidFill>
            <a:srgbClr val="EDF2F8"/>
          </a:solidFill>
          <a:ln/>
        </p:spPr>
      </p:sp>
      <p:sp>
        <p:nvSpPr>
          <p:cNvPr id="10" name="Text 8"/>
          <p:cNvSpPr/>
          <p:nvPr/>
        </p:nvSpPr>
        <p:spPr>
          <a:xfrm>
            <a:off x="4618634" y="24505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Deploy the CDK stack locally</a:t>
            </a:r>
            <a:endParaRPr lang="en-US" sz="1600" dirty="0"/>
          </a:p>
        </p:txBody>
      </p:sp>
      <p:sp>
        <p:nvSpPr>
          <p:cNvPr id="11" name="Text 9"/>
          <p:cNvSpPr/>
          <p:nvPr/>
        </p:nvSpPr>
        <p:spPr>
          <a:xfrm>
            <a:off x="4618634" y="29443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same definitions, no AWS account</a:t>
            </a:r>
            <a:endParaRPr lang="en-US" sz="1300" dirty="0"/>
          </a:p>
        </p:txBody>
      </p:sp>
      <p:sp>
        <p:nvSpPr>
          <p:cNvPr id="12" name="Shape 10"/>
          <p:cNvSpPr/>
          <p:nvPr/>
        </p:nvSpPr>
        <p:spPr>
          <a:xfrm>
            <a:off x="8094269" y="2286000"/>
            <a:ext cx="3411626" cy="1097280"/>
          </a:xfrm>
          <a:prstGeom prst="roundRect">
            <a:avLst>
              <a:gd name="adj" fmla="val 10000"/>
            </a:avLst>
          </a:prstGeom>
          <a:solidFill>
            <a:srgbClr val="EDF2F8"/>
          </a:solidFill>
          <a:ln/>
        </p:spPr>
      </p:sp>
      <p:sp>
        <p:nvSpPr>
          <p:cNvPr id="13" name="Text 11"/>
          <p:cNvSpPr/>
          <p:nvPr/>
        </p:nvSpPr>
        <p:spPr>
          <a:xfrm>
            <a:off x="8322869" y="24505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Generate test data</a:t>
            </a:r>
            <a:endParaRPr lang="en-US" sz="1600" dirty="0"/>
          </a:p>
        </p:txBody>
      </p:sp>
      <p:sp>
        <p:nvSpPr>
          <p:cNvPr id="14" name="Text 12"/>
          <p:cNvSpPr/>
          <p:nvPr/>
        </p:nvSpPr>
        <p:spPr>
          <a:xfrm>
            <a:off x="8322869" y="29443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realistic calls and export jobs</a:t>
            </a:r>
            <a:endParaRPr lang="en-US" sz="1300" dirty="0"/>
          </a:p>
        </p:txBody>
      </p:sp>
      <p:sp>
        <p:nvSpPr>
          <p:cNvPr id="15" name="Shape 13"/>
          <p:cNvSpPr/>
          <p:nvPr/>
        </p:nvSpPr>
        <p:spPr>
          <a:xfrm>
            <a:off x="685800" y="3657600"/>
            <a:ext cx="3411626" cy="1097280"/>
          </a:xfrm>
          <a:prstGeom prst="roundRect">
            <a:avLst>
              <a:gd name="adj" fmla="val 10000"/>
            </a:avLst>
          </a:prstGeom>
          <a:solidFill>
            <a:srgbClr val="EDF2F8"/>
          </a:solidFill>
          <a:ln/>
        </p:spPr>
      </p:sp>
      <p:sp>
        <p:nvSpPr>
          <p:cNvPr id="16" name="Text 14"/>
          <p:cNvSpPr/>
          <p:nvPr/>
        </p:nvSpPr>
        <p:spPr>
          <a:xfrm>
            <a:off x="914400" y="38221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Execute the state machine</a:t>
            </a:r>
            <a:endParaRPr lang="en-US" sz="1600" dirty="0"/>
          </a:p>
        </p:txBody>
      </p:sp>
      <p:sp>
        <p:nvSpPr>
          <p:cNvPr id="17" name="Text 15"/>
          <p:cNvSpPr/>
          <p:nvPr/>
        </p:nvSpPr>
        <p:spPr>
          <a:xfrm>
            <a:off x="914400" y="43159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one command, one execution</a:t>
            </a:r>
            <a:endParaRPr lang="en-US" sz="1300" dirty="0"/>
          </a:p>
        </p:txBody>
      </p:sp>
      <p:sp>
        <p:nvSpPr>
          <p:cNvPr id="18" name="Shape 16"/>
          <p:cNvSpPr/>
          <p:nvPr/>
        </p:nvSpPr>
        <p:spPr>
          <a:xfrm>
            <a:off x="4390034" y="3657600"/>
            <a:ext cx="3411626" cy="1097280"/>
          </a:xfrm>
          <a:prstGeom prst="roundRect">
            <a:avLst>
              <a:gd name="adj" fmla="val 10000"/>
            </a:avLst>
          </a:prstGeom>
          <a:solidFill>
            <a:srgbClr val="EDF2F8"/>
          </a:solidFill>
          <a:ln/>
        </p:spPr>
      </p:sp>
      <p:sp>
        <p:nvSpPr>
          <p:cNvPr id="19" name="Text 17"/>
          <p:cNvSpPr/>
          <p:nvPr/>
        </p:nvSpPr>
        <p:spPr>
          <a:xfrm>
            <a:off x="4618634" y="38221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Reset the environment</a:t>
            </a:r>
            <a:endParaRPr lang="en-US" sz="1600" dirty="0"/>
          </a:p>
        </p:txBody>
      </p:sp>
      <p:sp>
        <p:nvSpPr>
          <p:cNvPr id="20" name="Text 18"/>
          <p:cNvSpPr/>
          <p:nvPr/>
        </p:nvSpPr>
        <p:spPr>
          <a:xfrm>
            <a:off x="4618634" y="43159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back to clean in seconds</a:t>
            </a:r>
            <a:endParaRPr lang="en-US" sz="1300" dirty="0"/>
          </a:p>
        </p:txBody>
      </p:sp>
      <p:sp>
        <p:nvSpPr>
          <p:cNvPr id="21" name="Shape 19"/>
          <p:cNvSpPr/>
          <p:nvPr/>
        </p:nvSpPr>
        <p:spPr>
          <a:xfrm>
            <a:off x="8094269" y="3657600"/>
            <a:ext cx="3411626" cy="1097280"/>
          </a:xfrm>
          <a:prstGeom prst="roundRect">
            <a:avLst>
              <a:gd name="adj" fmla="val 10000"/>
            </a:avLst>
          </a:prstGeom>
          <a:solidFill>
            <a:srgbClr val="EDF2F8"/>
          </a:solidFill>
          <a:ln/>
        </p:spPr>
      </p:sp>
      <p:sp>
        <p:nvSpPr>
          <p:cNvPr id="22" name="Text 20"/>
          <p:cNvSpPr/>
          <p:nvPr/>
        </p:nvSpPr>
        <p:spPr>
          <a:xfrm>
            <a:off x="8322869" y="3822192"/>
            <a:ext cx="2954426" cy="50292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Automate the repetitive parts</a:t>
            </a:r>
            <a:endParaRPr lang="en-US" sz="1600" dirty="0"/>
          </a:p>
        </p:txBody>
      </p:sp>
      <p:sp>
        <p:nvSpPr>
          <p:cNvPr id="23" name="Text 21"/>
          <p:cNvSpPr/>
          <p:nvPr/>
        </p:nvSpPr>
        <p:spPr>
          <a:xfrm>
            <a:off x="8322869" y="4315968"/>
            <a:ext cx="2954426" cy="384048"/>
          </a:xfrm>
          <a:prstGeom prst="rect">
            <a:avLst/>
          </a:prstGeom>
          <a:noFill/>
          <a:ln/>
        </p:spPr>
        <p:txBody>
          <a:bodyPr wrap="square" lIns="0" tIns="0" rIns="0" bIns="0" rtlCol="0" anchor="ctr"/>
          <a:lstStyle/>
          <a:p>
            <a:pPr indent="0" marL="0">
              <a:buNone/>
            </a:pPr>
            <a:r>
              <a:rPr lang="en-US" sz="1300" dirty="0">
                <a:solidFill>
                  <a:srgbClr val="6B7B93"/>
                </a:solidFill>
                <a:latin typeface="Calibri" pitchFamily="34" charset="0"/>
                <a:ea typeface="Calibri" pitchFamily="34" charset="-122"/>
                <a:cs typeface="Calibri" pitchFamily="34" charset="-120"/>
              </a:rPr>
              <a:t>the same few commands, every day</a:t>
            </a:r>
            <a:endParaRPr lang="en-US" sz="1300" dirty="0"/>
          </a:p>
        </p:txBody>
      </p:sp>
      <p:sp>
        <p:nvSpPr>
          <p:cNvPr id="24" name="Text 22"/>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And when an execution fails across nine Lambdas?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EXPERIMENT</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000" b="1" dirty="0">
                <a:solidFill>
                  <a:srgbClr val="16233A"/>
                </a:solidFill>
                <a:latin typeface="Arial" pitchFamily="34" charset="0"/>
                <a:ea typeface="Arial" pitchFamily="34" charset="-122"/>
                <a:cs typeface="Arial" pitchFamily="34" charset="-120"/>
              </a:rPr>
              <a:t>You stop reading logs and read one timeline</a:t>
            </a:r>
            <a:endParaRPr lang="en-US" sz="3000" dirty="0"/>
          </a:p>
        </p:txBody>
      </p:sp>
      <p:sp>
        <p:nvSpPr>
          <p:cNvPr id="6" name="Shape 4"/>
          <p:cNvSpPr/>
          <p:nvPr/>
        </p:nvSpPr>
        <p:spPr>
          <a:xfrm>
            <a:off x="685800" y="2468880"/>
            <a:ext cx="2471852" cy="1143000"/>
          </a:xfrm>
          <a:prstGeom prst="roundRect">
            <a:avLst>
              <a:gd name="adj" fmla="val 9600"/>
            </a:avLst>
          </a:prstGeom>
          <a:solidFill>
            <a:srgbClr val="EDF2F8"/>
          </a:solidFill>
          <a:ln/>
        </p:spPr>
      </p:sp>
      <p:sp>
        <p:nvSpPr>
          <p:cNvPr id="7" name="Text 5"/>
          <p:cNvSpPr/>
          <p:nvPr/>
        </p:nvSpPr>
        <p:spPr>
          <a:xfrm>
            <a:off x="795528" y="2468880"/>
            <a:ext cx="2252396"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Collect logs from</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every Lambda</a:t>
            </a:r>
            <a:endParaRPr lang="en-US" sz="1500" dirty="0"/>
          </a:p>
        </p:txBody>
      </p:sp>
      <p:sp>
        <p:nvSpPr>
          <p:cNvPr id="8" name="Text 6"/>
          <p:cNvSpPr/>
          <p:nvPr/>
        </p:nvSpPr>
        <p:spPr>
          <a:xfrm>
            <a:off x="3157652" y="2468880"/>
            <a:ext cx="310896" cy="11430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3468548" y="2468880"/>
            <a:ext cx="2471852" cy="1143000"/>
          </a:xfrm>
          <a:prstGeom prst="roundRect">
            <a:avLst>
              <a:gd name="adj" fmla="val 9600"/>
            </a:avLst>
          </a:prstGeom>
          <a:solidFill>
            <a:srgbClr val="EDF2F8"/>
          </a:solidFill>
          <a:ln/>
        </p:spPr>
      </p:sp>
      <p:sp>
        <p:nvSpPr>
          <p:cNvPr id="10" name="Text 8"/>
          <p:cNvSpPr/>
          <p:nvPr/>
        </p:nvSpPr>
        <p:spPr>
          <a:xfrm>
            <a:off x="3578276" y="2468880"/>
            <a:ext cx="2252396"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Correlate into</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one timeline</a:t>
            </a:r>
            <a:endParaRPr lang="en-US" sz="1500" dirty="0"/>
          </a:p>
        </p:txBody>
      </p:sp>
      <p:sp>
        <p:nvSpPr>
          <p:cNvPr id="11" name="Text 9"/>
          <p:cNvSpPr/>
          <p:nvPr/>
        </p:nvSpPr>
        <p:spPr>
          <a:xfrm>
            <a:off x="5940400" y="2468880"/>
            <a:ext cx="310896" cy="11430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6251296" y="2468880"/>
            <a:ext cx="2471852" cy="1143000"/>
          </a:xfrm>
          <a:prstGeom prst="roundRect">
            <a:avLst>
              <a:gd name="adj" fmla="val 9600"/>
            </a:avLst>
          </a:prstGeom>
          <a:solidFill>
            <a:srgbClr val="EDF2F8"/>
          </a:solidFill>
          <a:ln/>
        </p:spPr>
      </p:sp>
      <p:sp>
        <p:nvSpPr>
          <p:cNvPr id="13" name="Text 11"/>
          <p:cNvSpPr/>
          <p:nvPr/>
        </p:nvSpPr>
        <p:spPr>
          <a:xfrm>
            <a:off x="6361024" y="2468880"/>
            <a:ext cx="2252396"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Follow the state</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transitions</a:t>
            </a:r>
            <a:endParaRPr lang="en-US" sz="1500" dirty="0"/>
          </a:p>
        </p:txBody>
      </p:sp>
      <p:sp>
        <p:nvSpPr>
          <p:cNvPr id="14" name="Text 12"/>
          <p:cNvSpPr/>
          <p:nvPr/>
        </p:nvSpPr>
        <p:spPr>
          <a:xfrm>
            <a:off x="8723147" y="2468880"/>
            <a:ext cx="310896" cy="11430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9034043" y="2468880"/>
            <a:ext cx="2471852" cy="1143000"/>
          </a:xfrm>
          <a:prstGeom prst="roundRect">
            <a:avLst>
              <a:gd name="adj" fmla="val 9600"/>
            </a:avLst>
          </a:prstGeom>
          <a:solidFill>
            <a:srgbClr val="EDF2F8"/>
          </a:solidFill>
          <a:ln/>
        </p:spPr>
      </p:sp>
      <p:sp>
        <p:nvSpPr>
          <p:cNvPr id="16" name="Text 14"/>
          <p:cNvSpPr/>
          <p:nvPr/>
        </p:nvSpPr>
        <p:spPr>
          <a:xfrm>
            <a:off x="9143771" y="2468880"/>
            <a:ext cx="2252396" cy="114300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Reconstruct</a:t>
            </a:r>
            <a:endParaRPr lang="en-US" sz="1500" dirty="0"/>
          </a:p>
          <a:p>
            <a:pPr algn="ctr" indent="0" marL="0">
              <a:buNone/>
            </a:pPr>
            <a:r>
              <a:rPr lang="en-US" sz="1500" b="1" dirty="0">
                <a:solidFill>
                  <a:srgbClr val="16233A"/>
                </a:solidFill>
                <a:latin typeface="Calibri" pitchFamily="34" charset="0"/>
                <a:ea typeface="Calibri" pitchFamily="34" charset="-122"/>
                <a:cs typeface="Calibri" pitchFamily="34" charset="-120"/>
              </a:rPr>
              <a:t>the flow</a:t>
            </a:r>
            <a:endParaRPr lang="en-US" sz="1500" dirty="0"/>
          </a:p>
        </p:txBody>
      </p:sp>
      <p:sp>
        <p:nvSpPr>
          <p:cNvPr id="17" name="Shape 15"/>
          <p:cNvSpPr/>
          <p:nvPr/>
        </p:nvSpPr>
        <p:spPr>
          <a:xfrm>
            <a:off x="685800" y="3977640"/>
            <a:ext cx="10820095" cy="1051560"/>
          </a:xfrm>
          <a:prstGeom prst="roundRect">
            <a:avLst>
              <a:gd name="adj" fmla="val 12174"/>
            </a:avLst>
          </a:prstGeom>
          <a:solidFill>
            <a:srgbClr val="0E1626"/>
          </a:solidFill>
          <a:ln/>
        </p:spPr>
      </p:sp>
      <p:sp>
        <p:nvSpPr>
          <p:cNvPr id="18" name="Text 16"/>
          <p:cNvSpPr/>
          <p:nvPr/>
        </p:nvSpPr>
        <p:spPr>
          <a:xfrm>
            <a:off x="1051560" y="3977640"/>
            <a:ext cx="10088575" cy="1051560"/>
          </a:xfrm>
          <a:prstGeom prst="rect">
            <a:avLst/>
          </a:prstGeom>
          <a:noFill/>
          <a:ln/>
        </p:spPr>
        <p:txBody>
          <a:bodyPr wrap="square" lIns="0" tIns="0" rIns="0" bIns="0" rtlCol="0" anchor="ctr"/>
          <a:lstStyle/>
          <a:p>
            <a:pPr indent="0" marL="0">
              <a:buNone/>
            </a:pPr>
            <a:r>
              <a:rPr lang="en-US" sz="2200" b="1" dirty="0">
                <a:solidFill>
                  <a:srgbClr val="00C08B"/>
                </a:solidFill>
                <a:latin typeface="Arial" pitchFamily="34" charset="0"/>
                <a:ea typeface="Arial" pitchFamily="34" charset="-122"/>
                <a:cs typeface="Arial" pitchFamily="34" charset="-120"/>
              </a:rPr>
              <a:t>Works against local, Dev and QA.</a:t>
            </a:r>
            <a:endParaRPr lang="en-US" sz="2200" dirty="0"/>
          </a:p>
        </p:txBody>
      </p:sp>
      <p:sp>
        <p:nvSpPr>
          <p:cNvPr id="19" name="Text 17"/>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Could we just look at it instead of reading it?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IT TOLD US</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Debugging became reading a workflow</a:t>
            </a:r>
            <a:endParaRPr lang="en-US" sz="3200" dirty="0"/>
          </a:p>
        </p:txBody>
      </p:sp>
      <p:sp>
        <p:nvSpPr>
          <p:cNvPr id="6" name="Shape 4"/>
          <p:cNvSpPr/>
          <p:nvPr/>
        </p:nvSpPr>
        <p:spPr>
          <a:xfrm>
            <a:off x="685800" y="2331720"/>
            <a:ext cx="6766560" cy="3063240"/>
          </a:xfrm>
          <a:prstGeom prst="roundRect">
            <a:avLst>
              <a:gd name="adj" fmla="val 4179"/>
            </a:avLst>
          </a:prstGeom>
          <a:solidFill>
            <a:srgbClr val="EDF2F8"/>
          </a:solidFill>
          <a:ln/>
        </p:spPr>
      </p:sp>
      <p:sp>
        <p:nvSpPr>
          <p:cNvPr id="7" name="Text 5"/>
          <p:cNvSpPr/>
          <p:nvPr/>
        </p:nvSpPr>
        <p:spPr>
          <a:xfrm>
            <a:off x="960120" y="2331720"/>
            <a:ext cx="6217920" cy="3063240"/>
          </a:xfrm>
          <a:prstGeom prst="rect">
            <a:avLst/>
          </a:prstGeom>
          <a:noFill/>
          <a:ln/>
        </p:spPr>
        <p:txBody>
          <a:bodyPr wrap="square" lIns="0" tIns="0" rIns="0" bIns="0" rtlCol="0" anchor="ctr"/>
          <a:lstStyle/>
          <a:p>
            <a:pPr algn="ctr" indent="0" marL="0">
              <a:buNone/>
            </a:pPr>
            <a:r>
              <a:rPr lang="en-US" sz="1500" dirty="0">
                <a:solidFill>
                  <a:srgbClr val="6B7B93"/>
                </a:solidFill>
                <a:latin typeface="Calibri" pitchFamily="34" charset="0"/>
                <a:ea typeface="Calibri" pitchFamily="34" charset="-122"/>
                <a:cs typeface="Calibri" pitchFamily="34" charset="-120"/>
              </a:rPr>
              <a:t>[ screenshot of the workflow UI goes here ]</a:t>
            </a:r>
            <a:endParaRPr lang="en-US" sz="1500" dirty="0"/>
          </a:p>
        </p:txBody>
      </p:sp>
      <p:sp>
        <p:nvSpPr>
          <p:cNvPr id="8" name="Shape 6"/>
          <p:cNvSpPr/>
          <p:nvPr/>
        </p:nvSpPr>
        <p:spPr>
          <a:xfrm>
            <a:off x="7818120" y="2514600"/>
            <a:ext cx="146304" cy="146304"/>
          </a:xfrm>
          <a:prstGeom prst="roundRect">
            <a:avLst>
              <a:gd name="adj" fmla="val 31250"/>
            </a:avLst>
          </a:prstGeom>
          <a:solidFill>
            <a:srgbClr val="00C08B"/>
          </a:solidFill>
          <a:ln/>
        </p:spPr>
      </p:sp>
      <p:sp>
        <p:nvSpPr>
          <p:cNvPr id="9" name="Text 7"/>
          <p:cNvSpPr/>
          <p:nvPr/>
        </p:nvSpPr>
        <p:spPr>
          <a:xfrm>
            <a:off x="8138160" y="239572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State machine progress</a:t>
            </a:r>
            <a:endParaRPr lang="en-US" sz="1500" dirty="0"/>
          </a:p>
        </p:txBody>
      </p:sp>
      <p:sp>
        <p:nvSpPr>
          <p:cNvPr id="10" name="Shape 8"/>
          <p:cNvSpPr/>
          <p:nvPr/>
        </p:nvSpPr>
        <p:spPr>
          <a:xfrm>
            <a:off x="7818120" y="3017520"/>
            <a:ext cx="146304" cy="146304"/>
          </a:xfrm>
          <a:prstGeom prst="roundRect">
            <a:avLst>
              <a:gd name="adj" fmla="val 31250"/>
            </a:avLst>
          </a:prstGeom>
          <a:solidFill>
            <a:srgbClr val="00C08B"/>
          </a:solidFill>
          <a:ln/>
        </p:spPr>
      </p:sp>
      <p:sp>
        <p:nvSpPr>
          <p:cNvPr id="11" name="Text 9"/>
          <p:cNvSpPr/>
          <p:nvPr/>
        </p:nvSpPr>
        <p:spPr>
          <a:xfrm>
            <a:off x="8138160" y="289864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Current and previous state</a:t>
            </a:r>
            <a:endParaRPr lang="en-US" sz="1500" dirty="0"/>
          </a:p>
        </p:txBody>
      </p:sp>
      <p:sp>
        <p:nvSpPr>
          <p:cNvPr id="12" name="Shape 10"/>
          <p:cNvSpPr/>
          <p:nvPr/>
        </p:nvSpPr>
        <p:spPr>
          <a:xfrm>
            <a:off x="7818120" y="3520440"/>
            <a:ext cx="146304" cy="146304"/>
          </a:xfrm>
          <a:prstGeom prst="roundRect">
            <a:avLst>
              <a:gd name="adj" fmla="val 31250"/>
            </a:avLst>
          </a:prstGeom>
          <a:solidFill>
            <a:srgbClr val="00C08B"/>
          </a:solidFill>
          <a:ln/>
        </p:spPr>
      </p:sp>
      <p:sp>
        <p:nvSpPr>
          <p:cNvPr id="13" name="Text 11"/>
          <p:cNvSpPr/>
          <p:nvPr/>
        </p:nvSpPr>
        <p:spPr>
          <a:xfrm>
            <a:off x="8138160" y="340156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Lambda invocations</a:t>
            </a:r>
            <a:endParaRPr lang="en-US" sz="1500" dirty="0"/>
          </a:p>
        </p:txBody>
      </p:sp>
      <p:sp>
        <p:nvSpPr>
          <p:cNvPr id="14" name="Shape 12"/>
          <p:cNvSpPr/>
          <p:nvPr/>
        </p:nvSpPr>
        <p:spPr>
          <a:xfrm>
            <a:off x="7818120" y="4023360"/>
            <a:ext cx="146304" cy="146304"/>
          </a:xfrm>
          <a:prstGeom prst="roundRect">
            <a:avLst>
              <a:gd name="adj" fmla="val 31250"/>
            </a:avLst>
          </a:prstGeom>
          <a:solidFill>
            <a:srgbClr val="00C08B"/>
          </a:solidFill>
          <a:ln/>
        </p:spPr>
      </p:sp>
      <p:sp>
        <p:nvSpPr>
          <p:cNvPr id="15" name="Text 13"/>
          <p:cNvSpPr/>
          <p:nvPr/>
        </p:nvSpPr>
        <p:spPr>
          <a:xfrm>
            <a:off x="8138160" y="390448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Execution history</a:t>
            </a:r>
            <a:endParaRPr lang="en-US" sz="1500" dirty="0"/>
          </a:p>
        </p:txBody>
      </p:sp>
      <p:sp>
        <p:nvSpPr>
          <p:cNvPr id="16" name="Shape 14"/>
          <p:cNvSpPr/>
          <p:nvPr/>
        </p:nvSpPr>
        <p:spPr>
          <a:xfrm>
            <a:off x="7818120" y="4526280"/>
            <a:ext cx="146304" cy="146304"/>
          </a:xfrm>
          <a:prstGeom prst="roundRect">
            <a:avLst>
              <a:gd name="adj" fmla="val 31250"/>
            </a:avLst>
          </a:prstGeom>
          <a:solidFill>
            <a:srgbClr val="00C08B"/>
          </a:solidFill>
          <a:ln/>
        </p:spPr>
      </p:sp>
      <p:sp>
        <p:nvSpPr>
          <p:cNvPr id="17" name="Text 15"/>
          <p:cNvSpPr/>
          <p:nvPr/>
        </p:nvSpPr>
        <p:spPr>
          <a:xfrm>
            <a:off x="8138160" y="440740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Correlated logs</a:t>
            </a:r>
            <a:endParaRPr lang="en-US" sz="1500" dirty="0"/>
          </a:p>
        </p:txBody>
      </p:sp>
      <p:sp>
        <p:nvSpPr>
          <p:cNvPr id="18" name="Shape 16"/>
          <p:cNvSpPr/>
          <p:nvPr/>
        </p:nvSpPr>
        <p:spPr>
          <a:xfrm>
            <a:off x="7818120" y="5029200"/>
            <a:ext cx="146304" cy="146304"/>
          </a:xfrm>
          <a:prstGeom prst="roundRect">
            <a:avLst>
              <a:gd name="adj" fmla="val 31250"/>
            </a:avLst>
          </a:prstGeom>
          <a:solidFill>
            <a:srgbClr val="00C08B"/>
          </a:solidFill>
          <a:ln/>
        </p:spPr>
      </p:sp>
      <p:sp>
        <p:nvSpPr>
          <p:cNvPr id="19" name="Text 17"/>
          <p:cNvSpPr/>
          <p:nvPr/>
        </p:nvSpPr>
        <p:spPr>
          <a:xfrm>
            <a:off x="8138160" y="4910328"/>
            <a:ext cx="3383280" cy="384048"/>
          </a:xfrm>
          <a:prstGeom prst="rect">
            <a:avLst/>
          </a:prstGeom>
          <a:noFill/>
          <a:ln/>
        </p:spPr>
        <p:txBody>
          <a:bodyPr wrap="square" lIns="0" tIns="0" rIns="0" bIns="0" rtlCol="0" anchor="ctr"/>
          <a:lstStyle/>
          <a:p>
            <a:pPr indent="0" marL="0">
              <a:buNone/>
            </a:pPr>
            <a:r>
              <a:rPr lang="en-US" sz="1500" dirty="0">
                <a:solidFill>
                  <a:srgbClr val="16233A"/>
                </a:solidFill>
                <a:latin typeface="Calibri" pitchFamily="34" charset="0"/>
                <a:ea typeface="Calibri" pitchFamily="34" charset="-122"/>
                <a:cs typeface="Calibri" pitchFamily="34" charset="-120"/>
              </a:rPr>
              <a:t>Execution timing</a:t>
            </a:r>
            <a:endParaRPr lang="en-US" sz="1500" dirty="0"/>
          </a:p>
        </p:txBody>
      </p:sp>
      <p:sp>
        <p:nvSpPr>
          <p:cNvPr id="20" name="Text 18"/>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what does one iteration cost now?</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WE MEASURED</a:t>
            </a:r>
            <a:endParaRPr lang="en-US" sz="1100" dirty="0"/>
          </a:p>
        </p:txBody>
      </p:sp>
      <p:sp>
        <p:nvSpPr>
          <p:cNvPr id="6" name="Shape 4"/>
          <p:cNvSpPr/>
          <p:nvPr/>
        </p:nvSpPr>
        <p:spPr>
          <a:xfrm>
            <a:off x="685800" y="2103120"/>
            <a:ext cx="5135728" cy="2743200"/>
          </a:xfrm>
          <a:prstGeom prst="roundRect">
            <a:avLst>
              <a:gd name="adj" fmla="val 5333"/>
            </a:avLst>
          </a:prstGeom>
          <a:solidFill>
            <a:srgbClr val="1A2A45"/>
          </a:solidFill>
          <a:ln/>
        </p:spPr>
      </p:sp>
      <p:sp>
        <p:nvSpPr>
          <p:cNvPr id="7" name="Shape 5"/>
          <p:cNvSpPr/>
          <p:nvPr/>
        </p:nvSpPr>
        <p:spPr>
          <a:xfrm>
            <a:off x="6370168" y="2103120"/>
            <a:ext cx="5135728" cy="2743200"/>
          </a:xfrm>
          <a:prstGeom prst="roundRect">
            <a:avLst>
              <a:gd name="adj" fmla="val 5333"/>
            </a:avLst>
          </a:prstGeom>
          <a:solidFill>
            <a:srgbClr val="00C08B"/>
          </a:solidFill>
          <a:ln/>
        </p:spPr>
      </p:sp>
      <p:sp>
        <p:nvSpPr>
          <p:cNvPr id="8" name="Text 6"/>
          <p:cNvSpPr/>
          <p:nvPr/>
        </p:nvSpPr>
        <p:spPr>
          <a:xfrm>
            <a:off x="1097280" y="2423160"/>
            <a:ext cx="2743200" cy="365760"/>
          </a:xfrm>
          <a:prstGeom prst="rect">
            <a:avLst/>
          </a:prstGeom>
          <a:noFill/>
          <a:ln/>
        </p:spPr>
        <p:txBody>
          <a:bodyPr wrap="square" lIns="0" tIns="0" rIns="0" bIns="0" rtlCol="0" anchor="ctr"/>
          <a:lstStyle/>
          <a:p>
            <a:pPr indent="0" marL="0">
              <a:buNone/>
            </a:pPr>
            <a:r>
              <a:rPr lang="en-US" sz="1200" b="1" spc="200" kern="0" dirty="0">
                <a:solidFill>
                  <a:srgbClr val="8FA3BF"/>
                </a:solidFill>
                <a:latin typeface="Arial" pitchFamily="34" charset="0"/>
                <a:ea typeface="Arial" pitchFamily="34" charset="-122"/>
                <a:cs typeface="Arial" pitchFamily="34" charset="-120"/>
              </a:rPr>
              <a:t>BEFORE</a:t>
            </a:r>
            <a:endParaRPr lang="en-US" sz="1200" dirty="0"/>
          </a:p>
        </p:txBody>
      </p:sp>
      <p:sp>
        <p:nvSpPr>
          <p:cNvPr id="9" name="Text 7"/>
          <p:cNvSpPr/>
          <p:nvPr/>
        </p:nvSpPr>
        <p:spPr>
          <a:xfrm>
            <a:off x="1097280" y="2971800"/>
            <a:ext cx="4114800" cy="1005840"/>
          </a:xfrm>
          <a:prstGeom prst="rect">
            <a:avLst/>
          </a:prstGeom>
          <a:noFill/>
          <a:ln/>
        </p:spPr>
        <p:txBody>
          <a:bodyPr wrap="square" lIns="0" tIns="0" rIns="0" bIns="0" rtlCol="0" anchor="ctr"/>
          <a:lstStyle/>
          <a:p>
            <a:pPr indent="0" marL="0">
              <a:buNone/>
            </a:pPr>
            <a:r>
              <a:rPr lang="en-US" sz="5200" b="1" dirty="0">
                <a:solidFill>
                  <a:srgbClr val="E8743B"/>
                </a:solidFill>
                <a:latin typeface="Arial" pitchFamily="34" charset="0"/>
                <a:ea typeface="Arial" pitchFamily="34" charset="-122"/>
                <a:cs typeface="Arial" pitchFamily="34" charset="-120"/>
              </a:rPr>
              <a:t>[N] min</a:t>
            </a:r>
            <a:endParaRPr lang="en-US" sz="5200" dirty="0"/>
          </a:p>
        </p:txBody>
      </p:sp>
      <p:sp>
        <p:nvSpPr>
          <p:cNvPr id="10" name="Text 8"/>
          <p:cNvSpPr/>
          <p:nvPr/>
        </p:nvSpPr>
        <p:spPr>
          <a:xfrm>
            <a:off x="1097280" y="4114800"/>
            <a:ext cx="4114800" cy="457200"/>
          </a:xfrm>
          <a:prstGeom prst="rect">
            <a:avLst/>
          </a:prstGeom>
          <a:noFill/>
          <a:ln/>
        </p:spPr>
        <p:txBody>
          <a:bodyPr wrap="square" lIns="0" tIns="0" rIns="0" bIns="0" rtlCol="0" anchor="ctr"/>
          <a:lstStyle/>
          <a:p>
            <a:pPr indent="0" marL="0">
              <a:buNone/>
            </a:pPr>
            <a:r>
              <a:rPr lang="en-US" sz="1500" dirty="0">
                <a:solidFill>
                  <a:srgbClr val="8FA3BF"/>
                </a:solidFill>
                <a:latin typeface="Calibri" pitchFamily="34" charset="0"/>
                <a:ea typeface="Calibri" pitchFamily="34" charset="-122"/>
                <a:cs typeface="Calibri" pitchFamily="34" charset="-120"/>
              </a:rPr>
              <a:t>a deploy and a pipeline</a:t>
            </a:r>
            <a:endParaRPr lang="en-US" sz="1500" dirty="0"/>
          </a:p>
        </p:txBody>
      </p:sp>
      <p:sp>
        <p:nvSpPr>
          <p:cNvPr id="11" name="Text 9"/>
          <p:cNvSpPr/>
          <p:nvPr/>
        </p:nvSpPr>
        <p:spPr>
          <a:xfrm>
            <a:off x="6781648" y="2423160"/>
            <a:ext cx="2743200" cy="365760"/>
          </a:xfrm>
          <a:prstGeom prst="rect">
            <a:avLst/>
          </a:prstGeom>
          <a:noFill/>
          <a:ln/>
        </p:spPr>
        <p:txBody>
          <a:bodyPr wrap="square" lIns="0" tIns="0" rIns="0" bIns="0" rtlCol="0" anchor="ctr"/>
          <a:lstStyle/>
          <a:p>
            <a:pPr indent="0" marL="0">
              <a:buNone/>
            </a:pPr>
            <a:r>
              <a:rPr lang="en-US" sz="1200" b="1" spc="200" kern="0" dirty="0">
                <a:solidFill>
                  <a:srgbClr val="0E1626"/>
                </a:solidFill>
                <a:latin typeface="Arial" pitchFamily="34" charset="0"/>
                <a:ea typeface="Arial" pitchFamily="34" charset="-122"/>
                <a:cs typeface="Arial" pitchFamily="34" charset="-120"/>
              </a:rPr>
              <a:t>AFTER</a:t>
            </a:r>
            <a:endParaRPr lang="en-US" sz="1200" dirty="0"/>
          </a:p>
        </p:txBody>
      </p:sp>
      <p:sp>
        <p:nvSpPr>
          <p:cNvPr id="12" name="Text 10"/>
          <p:cNvSpPr/>
          <p:nvPr/>
        </p:nvSpPr>
        <p:spPr>
          <a:xfrm>
            <a:off x="6781648" y="2971800"/>
            <a:ext cx="4114800" cy="1005840"/>
          </a:xfrm>
          <a:prstGeom prst="rect">
            <a:avLst/>
          </a:prstGeom>
          <a:noFill/>
          <a:ln/>
        </p:spPr>
        <p:txBody>
          <a:bodyPr wrap="square" lIns="0" tIns="0" rIns="0" bIns="0" rtlCol="0" anchor="ctr"/>
          <a:lstStyle/>
          <a:p>
            <a:pPr indent="0" marL="0">
              <a:buNone/>
            </a:pPr>
            <a:r>
              <a:rPr lang="en-US" sz="5200" b="1" dirty="0">
                <a:solidFill>
                  <a:srgbClr val="0E1626"/>
                </a:solidFill>
                <a:latin typeface="Arial" pitchFamily="34" charset="0"/>
                <a:ea typeface="Arial" pitchFamily="34" charset="-122"/>
                <a:cs typeface="Arial" pitchFamily="34" charset="-120"/>
              </a:rPr>
              <a:t>[N] sec</a:t>
            </a:r>
            <a:endParaRPr lang="en-US" sz="5200" dirty="0"/>
          </a:p>
        </p:txBody>
      </p:sp>
      <p:sp>
        <p:nvSpPr>
          <p:cNvPr id="13" name="Text 11"/>
          <p:cNvSpPr/>
          <p:nvPr/>
        </p:nvSpPr>
        <p:spPr>
          <a:xfrm>
            <a:off x="6781648" y="4114800"/>
            <a:ext cx="4114800" cy="457200"/>
          </a:xfrm>
          <a:prstGeom prst="rect">
            <a:avLst/>
          </a:prstGeom>
          <a:noFill/>
          <a:ln/>
        </p:spPr>
        <p:txBody>
          <a:bodyPr wrap="square" lIns="0" tIns="0" rIns="0" bIns="0" rtlCol="0" anchor="ctr"/>
          <a:lstStyle/>
          <a:p>
            <a:pPr indent="0" marL="0">
              <a:buNone/>
            </a:pPr>
            <a:r>
              <a:rPr lang="en-US" sz="1500" dirty="0">
                <a:solidFill>
                  <a:srgbClr val="0E1626"/>
                </a:solidFill>
                <a:latin typeface="Calibri" pitchFamily="34" charset="0"/>
                <a:ea typeface="Calibri" pitchFamily="34" charset="-122"/>
                <a:cs typeface="Calibri" pitchFamily="34" charset="-120"/>
              </a:rPr>
              <a:t>on a laptop, offline</a:t>
            </a:r>
            <a:endParaRPr lang="en-US" sz="1500" dirty="0"/>
          </a:p>
        </p:txBody>
      </p:sp>
      <p:sp>
        <p:nvSpPr>
          <p:cNvPr id="14" name="Text 12"/>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0C08B"/>
                </a:solidFill>
                <a:latin typeface="Calibri" pitchFamily="34" charset="0"/>
                <a:ea typeface="Calibri" pitchFamily="34" charset="-122"/>
                <a:cs typeface="Calibri" pitchFamily="34" charset="-120"/>
              </a:rPr>
              <a:t>→  How did one engineer build all of this?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HONEST ANSWER</a:t>
            </a:r>
            <a:endParaRPr lang="en-US" sz="1100" dirty="0"/>
          </a:p>
        </p:txBody>
      </p:sp>
      <p:sp>
        <p:nvSpPr>
          <p:cNvPr id="5" name="Text 3"/>
          <p:cNvSpPr/>
          <p:nvPr/>
        </p:nvSpPr>
        <p:spPr>
          <a:xfrm>
            <a:off x="685800" y="2286000"/>
            <a:ext cx="9722815" cy="2926080"/>
          </a:xfrm>
          <a:prstGeom prst="rect">
            <a:avLst/>
          </a:prstGeom>
          <a:noFill/>
          <a:ln/>
        </p:spPr>
        <p:txBody>
          <a:bodyPr wrap="square" lIns="0" tIns="0" rIns="0" bIns="0" rtlCol="0" anchor="t"/>
          <a:lstStyle/>
          <a:p>
            <a:pPr algn="l" indent="0" marL="0">
              <a:lnSpc>
                <a:spcPts val="4352"/>
              </a:lnSpc>
              <a:buNone/>
            </a:pPr>
            <a:r>
              <a:rPr lang="en-US" sz="3400" b="1" dirty="0">
                <a:solidFill>
                  <a:srgbClr val="16233A"/>
                </a:solidFill>
                <a:latin typeface="Arial" pitchFamily="34" charset="0"/>
                <a:ea typeface="Arial" pitchFamily="34" charset="-122"/>
                <a:cs typeface="Arial" pitchFamily="34" charset="-120"/>
              </a:rPr>
              <a:t>[Claude Code] did the reasoning.</a:t>
            </a:r>
            <a:endParaRPr lang="en-US" sz="3400" dirty="0"/>
          </a:p>
          <a:p>
            <a:pPr algn="l" indent="0" marL="0">
              <a:lnSpc>
                <a:spcPts val="4352"/>
              </a:lnSpc>
              <a:buNone/>
            </a:pPr>
            <a:r>
              <a:rPr lang="en-US" sz="3400" b="1" dirty="0">
                <a:solidFill>
                  <a:srgbClr val="16233A"/>
                </a:solidFill>
                <a:latin typeface="Arial" pitchFamily="34" charset="0"/>
                <a:ea typeface="Arial" pitchFamily="34" charset="-122"/>
                <a:cs typeface="Arial" pitchFamily="34" charset="-120"/>
              </a:rPr>
              <a:t>[Uncle Dev] was the harness.</a:t>
            </a:r>
            <a:endParaRPr lang="en-US" sz="3400" dirty="0"/>
          </a:p>
          <a:p>
            <a:pPr algn="l" indent="0" marL="0">
              <a:lnSpc>
                <a:spcPts val="4352"/>
              </a:lnSpc>
              <a:buNone/>
            </a:pPr>
            <a:r>
              <a:rPr lang="en-US" sz="3400" b="1" dirty="0">
                <a:solidFill>
                  <a:srgbClr val="05795A"/>
                </a:solidFill>
                <a:latin typeface="Arial" pitchFamily="34" charset="0"/>
                <a:ea typeface="Arial" pitchFamily="34" charset="-122"/>
                <a:cs typeface="Arial" pitchFamily="34" charset="-120"/>
              </a:rPr>
              <a:t>Neither made a decision.</a:t>
            </a:r>
            <a:endParaRPr lang="en-US" sz="34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Fine. But did the loop change any actual architecture?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EXPERIMENT 3 — THE QUESTION</a:t>
            </a:r>
            <a:endParaRPr lang="en-US" sz="1100" dirty="0"/>
          </a:p>
        </p:txBody>
      </p:sp>
      <p:sp>
        <p:nvSpPr>
          <p:cNvPr id="5" name="Text 3"/>
          <p:cNvSpPr/>
          <p:nvPr/>
        </p:nvSpPr>
        <p:spPr>
          <a:xfrm>
            <a:off x="685800" y="2468880"/>
            <a:ext cx="9722815" cy="2926080"/>
          </a:xfrm>
          <a:prstGeom prst="rect">
            <a:avLst/>
          </a:prstGeom>
          <a:noFill/>
          <a:ln/>
        </p:spPr>
        <p:txBody>
          <a:bodyPr wrap="square" lIns="0" tIns="0" rIns="0" bIns="0" rtlCol="0" anchor="t"/>
          <a:lstStyle/>
          <a:p>
            <a:pPr algn="l" indent="0" marL="0">
              <a:lnSpc>
                <a:spcPts val="4480"/>
              </a:lnSpc>
              <a:buNone/>
            </a:pPr>
            <a:r>
              <a:rPr lang="en-US" sz="3500" b="1" dirty="0">
                <a:solidFill>
                  <a:srgbClr val="16233A"/>
                </a:solidFill>
                <a:latin typeface="Arial" pitchFamily="34" charset="0"/>
                <a:ea typeface="Arial" pitchFamily="34" charset="-122"/>
                <a:cs typeface="Arial" pitchFamily="34" charset="-120"/>
              </a:rPr>
              <a:t>Step Functions bill per state transition.</a:t>
            </a:r>
            <a:endParaRPr lang="en-US" sz="3500" dirty="0"/>
          </a:p>
          <a:p>
            <a:pPr algn="l" indent="0" marL="0">
              <a:lnSpc>
                <a:spcPts val="4480"/>
              </a:lnSpc>
              <a:buNone/>
            </a:pPr>
            <a:r>
              <a:rPr lang="en-US" sz="3500" b="1" dirty="0">
                <a:solidFill>
                  <a:srgbClr val="05795A"/>
                </a:solidFill>
                <a:latin typeface="Arial" pitchFamily="34" charset="0"/>
                <a:ea typeface="Arial" pitchFamily="34" charset="-122"/>
                <a:cs typeface="Arial" pitchFamily="34" charset="-120"/>
              </a:rPr>
              <a:t>Polling is state transitions.</a:t>
            </a:r>
            <a:endParaRPr lang="en-US" sz="35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Should we optimize the polling loop away?</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EXPERIMENT</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000" b="1" dirty="0">
                <a:solidFill>
                  <a:srgbClr val="16233A"/>
                </a:solidFill>
                <a:latin typeface="Arial" pitchFamily="34" charset="0"/>
                <a:ea typeface="Arial" pitchFamily="34" charset="-122"/>
                <a:cs typeface="Arial" pitchFamily="34" charset="-120"/>
              </a:rPr>
              <a:t>EventBridge, instead of waiting inside the workflow</a:t>
            </a:r>
            <a:endParaRPr lang="en-US" sz="3000" dirty="0"/>
          </a:p>
        </p:txBody>
      </p:sp>
      <p:sp>
        <p:nvSpPr>
          <p:cNvPr id="6" name="Shape 4"/>
          <p:cNvSpPr/>
          <p:nvPr/>
        </p:nvSpPr>
        <p:spPr>
          <a:xfrm>
            <a:off x="685800" y="2514600"/>
            <a:ext cx="1915302" cy="1005840"/>
          </a:xfrm>
          <a:prstGeom prst="roundRect">
            <a:avLst>
              <a:gd name="adj" fmla="val 10909"/>
            </a:avLst>
          </a:prstGeom>
          <a:solidFill>
            <a:srgbClr val="EDF2F8"/>
          </a:solidFill>
          <a:ln/>
        </p:spPr>
      </p:sp>
      <p:sp>
        <p:nvSpPr>
          <p:cNvPr id="7" name="Text 5"/>
          <p:cNvSpPr/>
          <p:nvPr/>
        </p:nvSpPr>
        <p:spPr>
          <a:xfrm>
            <a:off x="795528" y="2514600"/>
            <a:ext cx="1695846"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Schedule</a:t>
            </a:r>
            <a:endParaRPr lang="en-US" sz="1500" dirty="0"/>
          </a:p>
        </p:txBody>
      </p:sp>
      <p:sp>
        <p:nvSpPr>
          <p:cNvPr id="8" name="Text 6"/>
          <p:cNvSpPr/>
          <p:nvPr/>
        </p:nvSpPr>
        <p:spPr>
          <a:xfrm>
            <a:off x="2601102" y="251460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911998" y="2514600"/>
            <a:ext cx="1915302" cy="1005840"/>
          </a:xfrm>
          <a:prstGeom prst="roundRect">
            <a:avLst>
              <a:gd name="adj" fmla="val 10909"/>
            </a:avLst>
          </a:prstGeom>
          <a:solidFill>
            <a:srgbClr val="EDF2F8"/>
          </a:solidFill>
          <a:ln/>
        </p:spPr>
      </p:sp>
      <p:sp>
        <p:nvSpPr>
          <p:cNvPr id="10" name="Text 8"/>
          <p:cNvSpPr/>
          <p:nvPr/>
        </p:nvSpPr>
        <p:spPr>
          <a:xfrm>
            <a:off x="3021726" y="2514600"/>
            <a:ext cx="1695846"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Terminate</a:t>
            </a:r>
            <a:endParaRPr lang="en-US" sz="1500" dirty="0"/>
          </a:p>
        </p:txBody>
      </p:sp>
      <p:sp>
        <p:nvSpPr>
          <p:cNvPr id="11" name="Text 9"/>
          <p:cNvSpPr/>
          <p:nvPr/>
        </p:nvSpPr>
        <p:spPr>
          <a:xfrm>
            <a:off x="4827300" y="251460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138196" y="2514600"/>
            <a:ext cx="1915302" cy="1005840"/>
          </a:xfrm>
          <a:prstGeom prst="roundRect">
            <a:avLst>
              <a:gd name="adj" fmla="val 10909"/>
            </a:avLst>
          </a:prstGeom>
          <a:solidFill>
            <a:srgbClr val="EDF2F8"/>
          </a:solidFill>
          <a:ln/>
        </p:spPr>
      </p:sp>
      <p:sp>
        <p:nvSpPr>
          <p:cNvPr id="13" name="Text 11"/>
          <p:cNvSpPr/>
          <p:nvPr/>
        </p:nvSpPr>
        <p:spPr>
          <a:xfrm>
            <a:off x="5247924" y="2514600"/>
            <a:ext cx="1695846"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Wake up later</a:t>
            </a:r>
            <a:endParaRPr lang="en-US" sz="1500" dirty="0"/>
          </a:p>
        </p:txBody>
      </p:sp>
      <p:sp>
        <p:nvSpPr>
          <p:cNvPr id="14" name="Text 12"/>
          <p:cNvSpPr/>
          <p:nvPr/>
        </p:nvSpPr>
        <p:spPr>
          <a:xfrm>
            <a:off x="7053499" y="251460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7364395" y="2514600"/>
            <a:ext cx="1915302" cy="1005840"/>
          </a:xfrm>
          <a:prstGeom prst="roundRect">
            <a:avLst>
              <a:gd name="adj" fmla="val 10909"/>
            </a:avLst>
          </a:prstGeom>
          <a:solidFill>
            <a:srgbClr val="EDF2F8"/>
          </a:solidFill>
          <a:ln/>
        </p:spPr>
      </p:sp>
      <p:sp>
        <p:nvSpPr>
          <p:cNvPr id="16" name="Text 14"/>
          <p:cNvSpPr/>
          <p:nvPr/>
        </p:nvSpPr>
        <p:spPr>
          <a:xfrm>
            <a:off x="7474123" y="2514600"/>
            <a:ext cx="1695846"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Check status</a:t>
            </a:r>
            <a:endParaRPr lang="en-US" sz="1500" dirty="0"/>
          </a:p>
        </p:txBody>
      </p:sp>
      <p:sp>
        <p:nvSpPr>
          <p:cNvPr id="17" name="Text 15"/>
          <p:cNvSpPr/>
          <p:nvPr/>
        </p:nvSpPr>
        <p:spPr>
          <a:xfrm>
            <a:off x="9279697" y="2514600"/>
            <a:ext cx="310896" cy="100584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9590593" y="2514600"/>
            <a:ext cx="1915302" cy="1005840"/>
          </a:xfrm>
          <a:prstGeom prst="roundRect">
            <a:avLst>
              <a:gd name="adj" fmla="val 10909"/>
            </a:avLst>
          </a:prstGeom>
          <a:solidFill>
            <a:srgbClr val="EDF2F8"/>
          </a:solidFill>
          <a:ln/>
        </p:spPr>
      </p:sp>
      <p:sp>
        <p:nvSpPr>
          <p:cNvPr id="19" name="Text 17"/>
          <p:cNvSpPr/>
          <p:nvPr/>
        </p:nvSpPr>
        <p:spPr>
          <a:xfrm>
            <a:off x="9700321" y="2514600"/>
            <a:ext cx="1695846" cy="1005840"/>
          </a:xfrm>
          <a:prstGeom prst="rect">
            <a:avLst/>
          </a:prstGeom>
          <a:noFill/>
          <a:ln/>
        </p:spPr>
        <p:txBody>
          <a:bodyPr wrap="square" lIns="0" tIns="0" rIns="0" bIns="0" rtlCol="0" anchor="ctr"/>
          <a:lstStyle/>
          <a:p>
            <a:pPr algn="ctr" indent="0" marL="0">
              <a:buNone/>
            </a:pPr>
            <a:r>
              <a:rPr lang="en-US" sz="1500" b="1" dirty="0">
                <a:solidFill>
                  <a:srgbClr val="16233A"/>
                </a:solidFill>
                <a:latin typeface="Calibri" pitchFamily="34" charset="0"/>
                <a:ea typeface="Calibri" pitchFamily="34" charset="-122"/>
                <a:cs typeface="Calibri" pitchFamily="34" charset="-120"/>
              </a:rPr>
              <a:t>Repeat</a:t>
            </a:r>
            <a:endParaRPr lang="en-US" sz="1500" dirty="0"/>
          </a:p>
        </p:txBody>
      </p:sp>
      <p:sp>
        <p:nvSpPr>
          <p:cNvPr id="20" name="Text 18"/>
          <p:cNvSpPr/>
          <p:nvPr/>
        </p:nvSpPr>
        <p:spPr>
          <a:xfrm>
            <a:off x="685800" y="3977640"/>
            <a:ext cx="10362895" cy="640080"/>
          </a:xfrm>
          <a:prstGeom prst="rect">
            <a:avLst/>
          </a:prstGeom>
          <a:noFill/>
          <a:ln/>
        </p:spPr>
        <p:txBody>
          <a:bodyPr wrap="square" lIns="0" tIns="0" rIns="0" bIns="0" rtlCol="0" anchor="ctr"/>
          <a:lstStyle/>
          <a:p>
            <a:pPr indent="0" marL="0">
              <a:buNone/>
            </a:pPr>
            <a:r>
              <a:rPr lang="en-US" sz="2700" b="1" dirty="0">
                <a:solidFill>
                  <a:srgbClr val="16233A"/>
                </a:solidFill>
                <a:latin typeface="Arial" pitchFamily="34" charset="0"/>
                <a:ea typeface="Arial" pitchFamily="34" charset="-122"/>
                <a:cs typeface="Arial" pitchFamily="34" charset="-120"/>
              </a:rPr>
              <a:t>It worked. It was genuinely cheaper per job.</a:t>
            </a:r>
            <a:endParaRPr lang="en-US" sz="2700" dirty="0"/>
          </a:p>
        </p:txBody>
      </p:sp>
      <p:sp>
        <p:nvSpPr>
          <p:cNvPr id="21" name="Text 19"/>
          <p:cNvSpPr/>
          <p:nvPr/>
        </p:nvSpPr>
        <p:spPr>
          <a:xfrm>
            <a:off x="685800" y="4754880"/>
            <a:ext cx="10362895" cy="457200"/>
          </a:xfrm>
          <a:prstGeom prst="rect">
            <a:avLst/>
          </a:prstGeom>
          <a:noFill/>
          <a:ln/>
        </p:spPr>
        <p:txBody>
          <a:bodyPr wrap="square" lIns="0" tIns="0" rIns="0" bIns="0" rtlCol="0" anchor="ctr"/>
          <a:lstStyle/>
          <a:p>
            <a:pPr indent="0" marL="0">
              <a:buNone/>
            </a:pPr>
            <a:r>
              <a:rPr lang="en-US" sz="1700" i="1" dirty="0">
                <a:solidFill>
                  <a:srgbClr val="6B7B93"/>
                </a:solidFill>
                <a:latin typeface="Calibri" pitchFamily="34" charset="0"/>
                <a:ea typeface="Calibri" pitchFamily="34" charset="-122"/>
                <a:cs typeface="Calibri" pitchFamily="34" charset="-120"/>
              </a:rPr>
              <a:t>We were pleased with ourselves.</a:t>
            </a:r>
            <a:endParaRPr lang="en-US" sz="1700" dirty="0"/>
          </a:p>
        </p:txBody>
      </p:sp>
      <p:sp>
        <p:nvSpPr>
          <p:cNvPr id="22" name="Text 20"/>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But how many export jobs are there, really?</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457200"/>
            <a:ext cx="402336" cy="402336"/>
          </a:xfrm>
          <a:prstGeom prst="roundRect">
            <a:avLst>
              <a:gd name="adj" fmla="val 25000"/>
            </a:avLst>
          </a:prstGeom>
          <a:solidFill>
            <a:srgbClr val="00C08B"/>
          </a:solidFill>
          <a:ln/>
        </p:spPr>
      </p:sp>
      <p:sp>
        <p:nvSpPr>
          <p:cNvPr id="4" name="Text 2"/>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5" name="Text 3"/>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PRODUCTION TOLD US</a:t>
            </a:r>
            <a:endParaRPr lang="en-US" sz="1100" dirty="0"/>
          </a:p>
        </p:txBody>
      </p:sp>
      <p:sp>
        <p:nvSpPr>
          <p:cNvPr id="6" name="Text 4"/>
          <p:cNvSpPr/>
          <p:nvPr/>
        </p:nvSpPr>
        <p:spPr>
          <a:xfrm>
            <a:off x="685800" y="2011680"/>
            <a:ext cx="9905695" cy="1737360"/>
          </a:xfrm>
          <a:prstGeom prst="rect">
            <a:avLst/>
          </a:prstGeom>
          <a:noFill/>
          <a:ln/>
        </p:spPr>
        <p:txBody>
          <a:bodyPr wrap="square" lIns="0" tIns="0" rIns="0" bIns="0" rtlCol="0" anchor="ctr"/>
          <a:lstStyle/>
          <a:p>
            <a:pPr indent="0" marL="0">
              <a:buNone/>
            </a:pPr>
            <a:r>
              <a:rPr lang="en-US" sz="10800" b="1" dirty="0">
                <a:solidFill>
                  <a:srgbClr val="00C08B"/>
                </a:solidFill>
                <a:latin typeface="Arial" pitchFamily="34" charset="0"/>
                <a:ea typeface="Arial" pitchFamily="34" charset="-122"/>
                <a:cs typeface="Arial" pitchFamily="34" charset="-120"/>
              </a:rPr>
              <a:t>[N]</a:t>
            </a:r>
            <a:endParaRPr lang="en-US" sz="10800" dirty="0"/>
          </a:p>
        </p:txBody>
      </p:sp>
      <p:sp>
        <p:nvSpPr>
          <p:cNvPr id="7" name="Text 5"/>
          <p:cNvSpPr/>
          <p:nvPr/>
        </p:nvSpPr>
        <p:spPr>
          <a:xfrm>
            <a:off x="685800" y="3840480"/>
            <a:ext cx="9905695" cy="548640"/>
          </a:xfrm>
          <a:prstGeom prst="rect">
            <a:avLst/>
          </a:prstGeom>
          <a:noFill/>
          <a:ln/>
        </p:spPr>
        <p:txBody>
          <a:bodyPr wrap="square" lIns="0" tIns="0" rIns="0" bIns="0" rtlCol="0" anchor="ctr"/>
          <a:lstStyle/>
          <a:p>
            <a:pPr indent="0" marL="0">
              <a:buNone/>
            </a:pPr>
            <a:r>
              <a:rPr lang="en-US" sz="2600" dirty="0">
                <a:solidFill>
                  <a:srgbClr val="FFFFFF"/>
                </a:solidFill>
                <a:latin typeface="Arial" pitchFamily="34" charset="0"/>
                <a:ea typeface="Arial" pitchFamily="34" charset="-122"/>
                <a:cs typeface="Arial" pitchFamily="34" charset="-120"/>
              </a:rPr>
              <a:t>export jobs a day</a:t>
            </a:r>
            <a:endParaRPr lang="en-US" sz="2600" dirty="0"/>
          </a:p>
        </p:txBody>
      </p:sp>
      <p:sp>
        <p:nvSpPr>
          <p:cNvPr id="8" name="Text 6"/>
          <p:cNvSpPr/>
          <p:nvPr/>
        </p:nvSpPr>
        <p:spPr>
          <a:xfrm>
            <a:off x="685800" y="4846320"/>
            <a:ext cx="10362895" cy="457200"/>
          </a:xfrm>
          <a:prstGeom prst="rect">
            <a:avLst/>
          </a:prstGeom>
          <a:noFill/>
          <a:ln/>
        </p:spPr>
        <p:txBody>
          <a:bodyPr wrap="square" lIns="0" tIns="0" rIns="0" bIns="0" rtlCol="0" anchor="ctr"/>
          <a:lstStyle/>
          <a:p>
            <a:pPr indent="0" marL="0">
              <a:buNone/>
            </a:pPr>
            <a:r>
              <a:rPr lang="en-US" sz="1700" dirty="0">
                <a:solidFill>
                  <a:srgbClr val="8FA3BF"/>
                </a:solidFill>
                <a:latin typeface="Calibri" pitchFamily="34" charset="0"/>
                <a:ea typeface="Calibri" pitchFamily="34" charset="-122"/>
                <a:cs typeface="Calibri" pitchFamily="34" charset="-120"/>
              </a:rPr>
              <a:t>Savings: about [$X] a month.   Complexity: permanent.</a:t>
            </a:r>
            <a:endParaRPr lang="en-US" sz="1700" dirty="0"/>
          </a:p>
        </p:txBody>
      </p:sp>
      <p:sp>
        <p:nvSpPr>
          <p:cNvPr id="9" name="Text 7"/>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0C08B"/>
                </a:solidFill>
                <a:latin typeface="Calibri" pitchFamily="34" charset="0"/>
                <a:ea typeface="Calibri" pitchFamily="34" charset="-122"/>
                <a:cs typeface="Calibri" pitchFamily="34" charset="-120"/>
              </a:rPr>
              <a:t>→  So was a whole local platform worth building?</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WHAT IT TOLD US</a:t>
            </a:r>
            <a:endParaRPr lang="en-US" sz="1100" dirty="0"/>
          </a:p>
        </p:txBody>
      </p:sp>
      <p:sp>
        <p:nvSpPr>
          <p:cNvPr id="5" name="Text 3"/>
          <p:cNvSpPr/>
          <p:nvPr/>
        </p:nvSpPr>
        <p:spPr>
          <a:xfrm>
            <a:off x="685800" y="2286000"/>
            <a:ext cx="9722815" cy="2926080"/>
          </a:xfrm>
          <a:prstGeom prst="rect">
            <a:avLst/>
          </a:prstGeom>
          <a:noFill/>
          <a:ln/>
        </p:spPr>
        <p:txBody>
          <a:bodyPr wrap="square" lIns="0" tIns="0" rIns="0" bIns="0" rtlCol="0" anchor="t"/>
          <a:lstStyle/>
          <a:p>
            <a:pPr algn="l" indent="0" marL="0">
              <a:lnSpc>
                <a:spcPts val="3712"/>
              </a:lnSpc>
              <a:buNone/>
            </a:pPr>
            <a:r>
              <a:rPr lang="en-US" sz="2900" b="1" dirty="0">
                <a:solidFill>
                  <a:srgbClr val="16233A"/>
                </a:solidFill>
                <a:latin typeface="Arial" pitchFamily="34" charset="0"/>
                <a:ea typeface="Arial" pitchFamily="34" charset="-122"/>
                <a:cs typeface="Arial" pitchFamily="34" charset="-120"/>
              </a:rPr>
              <a:t>That comparison cost days, not months,</a:t>
            </a:r>
            <a:endParaRPr lang="en-US" sz="2900" dirty="0"/>
          </a:p>
          <a:p>
            <a:pPr algn="l" indent="0" marL="0">
              <a:lnSpc>
                <a:spcPts val="3712"/>
              </a:lnSpc>
              <a:buNone/>
            </a:pPr>
            <a:r>
              <a:rPr lang="en-US" sz="2900" b="1" dirty="0">
                <a:solidFill>
                  <a:srgbClr val="16233A"/>
                </a:solidFill>
                <a:latin typeface="Arial" pitchFamily="34" charset="0"/>
                <a:ea typeface="Arial" pitchFamily="34" charset="-122"/>
                <a:cs typeface="Arial" pitchFamily="34" charset="-120"/>
              </a:rPr>
              <a:t>because the loop was cheap.</a:t>
            </a:r>
            <a:endParaRPr lang="en-US" sz="2900" dirty="0"/>
          </a:p>
          <a:p>
            <a:pPr algn="l" indent="0" marL="0">
              <a:lnSpc>
                <a:spcPts val="3712"/>
              </a:lnSpc>
              <a:buNone/>
            </a:pPr>
            <a:r>
              <a:rPr lang="en-US" sz="2900" dirty="0">
                <a:solidFill>
                  <a:srgbClr val="6B7B93"/>
                </a:solidFill>
                <a:latin typeface="Arial" pitchFamily="34" charset="0"/>
                <a:ea typeface="Arial" pitchFamily="34" charset="-122"/>
                <a:cs typeface="Arial" pitchFamily="34" charset="-120"/>
              </a:rPr>
              <a:t>At pipeline prices we'd have argued instead —</a:t>
            </a:r>
            <a:endParaRPr lang="en-US" sz="2900" dirty="0"/>
          </a:p>
          <a:p>
            <a:pPr algn="l" indent="0" marL="0">
              <a:lnSpc>
                <a:spcPts val="3712"/>
              </a:lnSpc>
              <a:buNone/>
            </a:pPr>
            <a:r>
              <a:rPr lang="en-US" sz="2900" b="1" dirty="0">
                <a:solidFill>
                  <a:srgbClr val="05795A"/>
                </a:solidFill>
                <a:latin typeface="Arial" pitchFamily="34" charset="0"/>
                <a:ea typeface="Arial" pitchFamily="34" charset="-122"/>
                <a:cs typeface="Arial" pitchFamily="34" charset="-120"/>
              </a:rPr>
              <a:t>and shipped the wrong one.</a:t>
            </a:r>
            <a:endParaRPr lang="en-US" sz="29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So what would you push back on?</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6</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OBJECTION</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400" b="1" dirty="0">
                <a:solidFill>
                  <a:srgbClr val="16233A"/>
                </a:solidFill>
                <a:latin typeface="Arial" pitchFamily="34" charset="0"/>
                <a:ea typeface="Arial" pitchFamily="34" charset="-122"/>
                <a:cs typeface="Arial" pitchFamily="34" charset="-120"/>
              </a:rPr>
              <a:t>“LocalStack isn't AWS.”</a:t>
            </a:r>
            <a:endParaRPr lang="en-US" sz="3400" dirty="0"/>
          </a:p>
        </p:txBody>
      </p:sp>
      <p:sp>
        <p:nvSpPr>
          <p:cNvPr id="6" name="Text 4"/>
          <p:cNvSpPr/>
          <p:nvPr/>
        </p:nvSpPr>
        <p:spPr>
          <a:xfrm>
            <a:off x="685800" y="2148840"/>
            <a:ext cx="10820095" cy="457200"/>
          </a:xfrm>
          <a:prstGeom prst="rect">
            <a:avLst/>
          </a:prstGeom>
          <a:noFill/>
          <a:ln/>
        </p:spPr>
        <p:txBody>
          <a:bodyPr wrap="square" lIns="0" tIns="0" rIns="0" bIns="0" rtlCol="0" anchor="ctr"/>
          <a:lstStyle/>
          <a:p>
            <a:pPr indent="0" marL="0">
              <a:buNone/>
            </a:pPr>
            <a:r>
              <a:rPr lang="en-US" sz="2200" b="1" dirty="0">
                <a:solidFill>
                  <a:srgbClr val="E8743B"/>
                </a:solidFill>
                <a:latin typeface="Arial" pitchFamily="34" charset="0"/>
                <a:ea typeface="Arial" pitchFamily="34" charset="-122"/>
                <a:cs typeface="Arial" pitchFamily="34" charset="-120"/>
              </a:rPr>
              <a:t>Correct.</a:t>
            </a:r>
            <a:endParaRPr lang="en-US" sz="2200" dirty="0"/>
          </a:p>
        </p:txBody>
      </p:sp>
      <p:sp>
        <p:nvSpPr>
          <p:cNvPr id="7" name="Shape 5"/>
          <p:cNvSpPr/>
          <p:nvPr/>
        </p:nvSpPr>
        <p:spPr>
          <a:xfrm>
            <a:off x="685800" y="2834640"/>
            <a:ext cx="5181448" cy="2011680"/>
          </a:xfrm>
          <a:prstGeom prst="roundRect">
            <a:avLst>
              <a:gd name="adj" fmla="val 6364"/>
            </a:avLst>
          </a:prstGeom>
          <a:solidFill>
            <a:srgbClr val="EDF2F8"/>
          </a:solidFill>
          <a:ln/>
        </p:spPr>
      </p:sp>
      <p:sp>
        <p:nvSpPr>
          <p:cNvPr id="8" name="Shape 6"/>
          <p:cNvSpPr/>
          <p:nvPr/>
        </p:nvSpPr>
        <p:spPr>
          <a:xfrm>
            <a:off x="6324448" y="2834640"/>
            <a:ext cx="5181448" cy="2011680"/>
          </a:xfrm>
          <a:prstGeom prst="roundRect">
            <a:avLst>
              <a:gd name="adj" fmla="val 6364"/>
            </a:avLst>
          </a:prstGeom>
          <a:solidFill>
            <a:srgbClr val="EDF2F8"/>
          </a:solidFill>
          <a:ln/>
        </p:spPr>
      </p:sp>
      <p:sp>
        <p:nvSpPr>
          <p:cNvPr id="9" name="Text 7"/>
          <p:cNvSpPr/>
          <p:nvPr/>
        </p:nvSpPr>
        <p:spPr>
          <a:xfrm>
            <a:off x="1005840" y="3108960"/>
            <a:ext cx="4541368"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Local catches</a:t>
            </a:r>
            <a:endParaRPr lang="en-US" sz="1400" dirty="0"/>
          </a:p>
        </p:txBody>
      </p:sp>
      <p:sp>
        <p:nvSpPr>
          <p:cNvPr id="10" name="Text 8"/>
          <p:cNvSpPr/>
          <p:nvPr/>
        </p:nvSpPr>
        <p:spPr>
          <a:xfrm>
            <a:off x="1005840" y="3611880"/>
            <a:ext cx="4541368" cy="100584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Workflow logic, state transitions,</a:t>
            </a:r>
            <a:endParaRPr lang="en-US" sz="1800" dirty="0"/>
          </a:p>
          <a:p>
            <a:pPr indent="0" marL="0">
              <a:buNone/>
            </a:pPr>
            <a:r>
              <a:rPr lang="en-US" sz="1800" b="1" dirty="0">
                <a:solidFill>
                  <a:srgbClr val="16233A"/>
                </a:solidFill>
                <a:latin typeface="Calibri" pitchFamily="34" charset="0"/>
                <a:ea typeface="Calibri" pitchFamily="34" charset="-122"/>
                <a:cs typeface="Calibri" pitchFamily="34" charset="-120"/>
              </a:rPr>
              <a:t>callbacks, retries</a:t>
            </a:r>
            <a:endParaRPr lang="en-US" sz="1800" dirty="0"/>
          </a:p>
        </p:txBody>
      </p:sp>
      <p:sp>
        <p:nvSpPr>
          <p:cNvPr id="11" name="Text 9"/>
          <p:cNvSpPr/>
          <p:nvPr/>
        </p:nvSpPr>
        <p:spPr>
          <a:xfrm>
            <a:off x="6644488" y="3108960"/>
            <a:ext cx="4541368"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Dev and QA catch</a:t>
            </a:r>
            <a:endParaRPr lang="en-US" sz="1400" dirty="0"/>
          </a:p>
        </p:txBody>
      </p:sp>
      <p:sp>
        <p:nvSpPr>
          <p:cNvPr id="12" name="Text 10"/>
          <p:cNvSpPr/>
          <p:nvPr/>
        </p:nvSpPr>
        <p:spPr>
          <a:xfrm>
            <a:off x="6644488" y="3611880"/>
            <a:ext cx="4541368" cy="100584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IAM, throughput,</a:t>
            </a:r>
            <a:endParaRPr lang="en-US" sz="1800" dirty="0"/>
          </a:p>
          <a:p>
            <a:pPr indent="0" marL="0">
              <a:buNone/>
            </a:pPr>
            <a:r>
              <a:rPr lang="en-US" sz="1800" b="1" dirty="0">
                <a:solidFill>
                  <a:srgbClr val="16233A"/>
                </a:solidFill>
                <a:latin typeface="Calibri" pitchFamily="34" charset="0"/>
                <a:ea typeface="Calibri" pitchFamily="34" charset="-122"/>
                <a:cs typeface="Calibri" pitchFamily="34" charset="-120"/>
              </a:rPr>
              <a:t>production behaviour</a:t>
            </a:r>
            <a:endParaRPr lang="en-US" sz="1800" dirty="0"/>
          </a:p>
        </p:txBody>
      </p:sp>
      <p:sp>
        <p:nvSpPr>
          <p:cNvPr id="13" name="Text 11"/>
          <p:cNvSpPr/>
          <p:nvPr/>
        </p:nvSpPr>
        <p:spPr>
          <a:xfrm>
            <a:off x="685800" y="5029200"/>
            <a:ext cx="10362895" cy="457200"/>
          </a:xfrm>
          <a:prstGeom prst="rect">
            <a:avLst/>
          </a:prstGeom>
          <a:noFill/>
          <a:ln/>
        </p:spPr>
        <p:txBody>
          <a:bodyPr wrap="square" lIns="0" tIns="0" rIns="0" bIns="0" rtlCol="0" anchor="ctr"/>
          <a:lstStyle/>
          <a:p>
            <a:pPr indent="0" marL="0">
              <a:buNone/>
            </a:pPr>
            <a:r>
              <a:rPr lang="en-US" sz="1700" b="1" dirty="0">
                <a:solidFill>
                  <a:srgbClr val="05795A"/>
                </a:solidFill>
                <a:latin typeface="Arial" pitchFamily="34" charset="0"/>
                <a:ea typeface="Arial" pitchFamily="34" charset="-122"/>
                <a:cs typeface="Arial" pitchFamily="34" charset="-120"/>
              </a:rPr>
              <a:t>Which is exactly why the tracing tool works against all three.</a:t>
            </a:r>
            <a:endParaRPr lang="en-US" sz="1700" dirty="0"/>
          </a:p>
        </p:txBody>
      </p:sp>
      <p:sp>
        <p:nvSpPr>
          <p:cNvPr id="14" name="Text 12"/>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“We don't have time to build tooling.”</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6</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OBJECTION</a:t>
            </a:r>
            <a:endParaRPr lang="en-US" sz="1100" dirty="0"/>
          </a:p>
        </p:txBody>
      </p:sp>
      <p:sp>
        <p:nvSpPr>
          <p:cNvPr id="5" name="Text 3"/>
          <p:cNvSpPr/>
          <p:nvPr/>
        </p:nvSpPr>
        <p:spPr>
          <a:xfrm>
            <a:off x="685800" y="2377440"/>
            <a:ext cx="9722815" cy="2926080"/>
          </a:xfrm>
          <a:prstGeom prst="rect">
            <a:avLst/>
          </a:prstGeom>
          <a:noFill/>
          <a:ln/>
        </p:spPr>
        <p:txBody>
          <a:bodyPr wrap="square" lIns="0" tIns="0" rIns="0" bIns="0" rtlCol="0" anchor="t"/>
          <a:lstStyle/>
          <a:p>
            <a:pPr algn="l" indent="0" marL="0">
              <a:lnSpc>
                <a:spcPts val="3968"/>
              </a:lnSpc>
              <a:buNone/>
            </a:pPr>
            <a:r>
              <a:rPr lang="en-US" sz="3100" b="1" dirty="0">
                <a:solidFill>
                  <a:srgbClr val="16233A"/>
                </a:solidFill>
                <a:latin typeface="Arial" pitchFamily="34" charset="0"/>
                <a:ea typeface="Arial" pitchFamily="34" charset="-122"/>
                <a:cs typeface="Arial" pitchFamily="34" charset="-120"/>
              </a:rPr>
              <a:t>It took [N].</a:t>
            </a:r>
            <a:endParaRPr lang="en-US" sz="3100" dirty="0"/>
          </a:p>
          <a:p>
            <a:pPr algn="l" indent="0" marL="0">
              <a:lnSpc>
                <a:spcPts val="3968"/>
              </a:lnSpc>
              <a:buNone/>
            </a:pPr>
            <a:r>
              <a:rPr lang="en-US" sz="3100" b="1" dirty="0">
                <a:solidFill>
                  <a:srgbClr val="16233A"/>
                </a:solidFill>
                <a:latin typeface="Arial" pitchFamily="34" charset="0"/>
                <a:ea typeface="Arial" pitchFamily="34" charset="-122"/>
                <a:cs typeface="Arial" pitchFamily="34" charset="-120"/>
              </a:rPr>
              <a:t>We spent longer than that waiting</a:t>
            </a:r>
            <a:endParaRPr lang="en-US" sz="3100" dirty="0"/>
          </a:p>
          <a:p>
            <a:pPr algn="l" indent="0" marL="0">
              <a:lnSpc>
                <a:spcPts val="3968"/>
              </a:lnSpc>
              <a:buNone/>
            </a:pPr>
            <a:r>
              <a:rPr lang="en-US" sz="3100" b="1" dirty="0">
                <a:solidFill>
                  <a:srgbClr val="05795A"/>
                </a:solidFill>
                <a:latin typeface="Arial" pitchFamily="34" charset="0"/>
                <a:ea typeface="Arial" pitchFamily="34" charset="-122"/>
                <a:cs typeface="Arial" pitchFamily="34" charset="-120"/>
              </a:rPr>
              <a:t>on pipelines in the first two weeks.</a:t>
            </a:r>
            <a:endParaRPr lang="en-US" sz="3100" dirty="0"/>
          </a:p>
        </p:txBody>
      </p:sp>
      <p:sp>
        <p:nvSpPr>
          <p:cNvPr id="6" name="Text 4"/>
          <p:cNvSpPr/>
          <p:nvPr/>
        </p:nvSpPr>
        <p:spPr>
          <a:xfrm>
            <a:off x="685800" y="5669280"/>
            <a:ext cx="10454335" cy="502920"/>
          </a:xfrm>
          <a:prstGeom prst="rect">
            <a:avLst/>
          </a:prstGeom>
          <a:noFill/>
          <a:ln/>
        </p:spPr>
        <p:txBody>
          <a:bodyPr wrap="square" lIns="0" tIns="0" rIns="0" bIns="0" rtlCol="0" anchor="ctr"/>
          <a:lstStyle/>
          <a:p>
            <a:pPr indent="0" marL="0">
              <a:buNone/>
            </a:pPr>
            <a:r>
              <a:rPr lang="en-US" sz="1800" b="1" i="1" dirty="0">
                <a:solidFill>
                  <a:srgbClr val="05795A"/>
                </a:solidFill>
                <a:latin typeface="Calibri" pitchFamily="34" charset="0"/>
                <a:ea typeface="Calibri" pitchFamily="34" charset="-122"/>
                <a:cs typeface="Calibri" pitchFamily="34" charset="-120"/>
              </a:rPr>
              <a:t>→  When would you not do any of this?</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6</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SCOPE</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Where this doesn't apply</a:t>
            </a:r>
            <a:endParaRPr lang="en-US" sz="3200" dirty="0"/>
          </a:p>
        </p:txBody>
      </p:sp>
      <p:sp>
        <p:nvSpPr>
          <p:cNvPr id="6" name="Shape 4"/>
          <p:cNvSpPr/>
          <p:nvPr/>
        </p:nvSpPr>
        <p:spPr>
          <a:xfrm>
            <a:off x="685800" y="2377440"/>
            <a:ext cx="10820095" cy="822960"/>
          </a:xfrm>
          <a:prstGeom prst="roundRect">
            <a:avLst>
              <a:gd name="adj" fmla="val 13333"/>
            </a:avLst>
          </a:prstGeom>
          <a:solidFill>
            <a:srgbClr val="EDF2F8"/>
          </a:solidFill>
          <a:ln/>
        </p:spPr>
      </p:sp>
      <p:sp>
        <p:nvSpPr>
          <p:cNvPr id="7" name="Text 5"/>
          <p:cNvSpPr/>
          <p:nvPr/>
        </p:nvSpPr>
        <p:spPr>
          <a:xfrm>
            <a:off x="1005840" y="2377440"/>
            <a:ext cx="3657600" cy="822960"/>
          </a:xfrm>
          <a:prstGeom prst="rect">
            <a:avLst/>
          </a:prstGeom>
          <a:noFill/>
          <a:ln/>
        </p:spPr>
        <p:txBody>
          <a:bodyPr wrap="square" lIns="0" tIns="0" rIns="0" bIns="0" rtlCol="0" anchor="ctr"/>
          <a:lstStyle/>
          <a:p>
            <a:pPr indent="0" marL="0">
              <a:buNone/>
            </a:pPr>
            <a:r>
              <a:rPr lang="en-US" sz="1900" b="1" dirty="0">
                <a:solidFill>
                  <a:srgbClr val="16233A"/>
                </a:solidFill>
                <a:latin typeface="Arial" pitchFamily="34" charset="0"/>
                <a:ea typeface="Arial" pitchFamily="34" charset="-122"/>
                <a:cs typeface="Arial" pitchFamily="34" charset="-120"/>
              </a:rPr>
              <a:t>Single Lambda?</a:t>
            </a:r>
            <a:endParaRPr lang="en-US" sz="1900" dirty="0"/>
          </a:p>
        </p:txBody>
      </p:sp>
      <p:sp>
        <p:nvSpPr>
          <p:cNvPr id="8" name="Text 6"/>
          <p:cNvSpPr/>
          <p:nvPr/>
        </p:nvSpPr>
        <p:spPr>
          <a:xfrm>
            <a:off x="4800600" y="2377440"/>
            <a:ext cx="6339535" cy="82296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Use SAM. This is overkill.</a:t>
            </a:r>
            <a:endParaRPr lang="en-US" sz="1700" dirty="0"/>
          </a:p>
        </p:txBody>
      </p:sp>
      <p:sp>
        <p:nvSpPr>
          <p:cNvPr id="9" name="Shape 7"/>
          <p:cNvSpPr/>
          <p:nvPr/>
        </p:nvSpPr>
        <p:spPr>
          <a:xfrm>
            <a:off x="685800" y="3429000"/>
            <a:ext cx="10820095" cy="822960"/>
          </a:xfrm>
          <a:prstGeom prst="roundRect">
            <a:avLst>
              <a:gd name="adj" fmla="val 13333"/>
            </a:avLst>
          </a:prstGeom>
          <a:solidFill>
            <a:srgbClr val="EDF2F8"/>
          </a:solidFill>
          <a:ln/>
        </p:spPr>
      </p:sp>
      <p:sp>
        <p:nvSpPr>
          <p:cNvPr id="10" name="Text 8"/>
          <p:cNvSpPr/>
          <p:nvPr/>
        </p:nvSpPr>
        <p:spPr>
          <a:xfrm>
            <a:off x="1005840" y="3429000"/>
            <a:ext cx="3657600" cy="822960"/>
          </a:xfrm>
          <a:prstGeom prst="rect">
            <a:avLst/>
          </a:prstGeom>
          <a:noFill/>
          <a:ln/>
        </p:spPr>
        <p:txBody>
          <a:bodyPr wrap="square" lIns="0" tIns="0" rIns="0" bIns="0" rtlCol="0" anchor="ctr"/>
          <a:lstStyle/>
          <a:p>
            <a:pPr indent="0" marL="0">
              <a:buNone/>
            </a:pPr>
            <a:r>
              <a:rPr lang="en-US" sz="1900" b="1" dirty="0">
                <a:solidFill>
                  <a:srgbClr val="16233A"/>
                </a:solidFill>
                <a:latin typeface="Arial" pitchFamily="34" charset="0"/>
                <a:ea typeface="Arial" pitchFamily="34" charset="-122"/>
                <a:cs typeface="Arial" pitchFamily="34" charset="-120"/>
              </a:rPr>
              <a:t>Not long-running?</a:t>
            </a:r>
            <a:endParaRPr lang="en-US" sz="1900" dirty="0"/>
          </a:p>
        </p:txBody>
      </p:sp>
      <p:sp>
        <p:nvSpPr>
          <p:cNvPr id="11" name="Text 9"/>
          <p:cNvSpPr/>
          <p:nvPr/>
        </p:nvSpPr>
        <p:spPr>
          <a:xfrm>
            <a:off x="4800600" y="3429000"/>
            <a:ext cx="6339535" cy="82296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Don't build any of it.</a:t>
            </a:r>
            <a:endParaRPr lang="en-US" sz="1700" dirty="0"/>
          </a:p>
        </p:txBody>
      </p:sp>
      <p:sp>
        <p:nvSpPr>
          <p:cNvPr id="12" name="Shape 10"/>
          <p:cNvSpPr/>
          <p:nvPr/>
        </p:nvSpPr>
        <p:spPr>
          <a:xfrm>
            <a:off x="685800" y="4480560"/>
            <a:ext cx="10820095" cy="822960"/>
          </a:xfrm>
          <a:prstGeom prst="roundRect">
            <a:avLst>
              <a:gd name="adj" fmla="val 13333"/>
            </a:avLst>
          </a:prstGeom>
          <a:solidFill>
            <a:srgbClr val="EDF2F8"/>
          </a:solidFill>
          <a:ln/>
        </p:spPr>
      </p:sp>
      <p:sp>
        <p:nvSpPr>
          <p:cNvPr id="13" name="Text 11"/>
          <p:cNvSpPr/>
          <p:nvPr/>
        </p:nvSpPr>
        <p:spPr>
          <a:xfrm>
            <a:off x="1005840" y="4480560"/>
            <a:ext cx="3657600" cy="822960"/>
          </a:xfrm>
          <a:prstGeom prst="rect">
            <a:avLst/>
          </a:prstGeom>
          <a:noFill/>
          <a:ln/>
        </p:spPr>
        <p:txBody>
          <a:bodyPr wrap="square" lIns="0" tIns="0" rIns="0" bIns="0" rtlCol="0" anchor="ctr"/>
          <a:lstStyle/>
          <a:p>
            <a:pPr indent="0" marL="0">
              <a:buNone/>
            </a:pPr>
            <a:r>
              <a:rPr lang="en-US" sz="1900" b="1" dirty="0">
                <a:solidFill>
                  <a:srgbClr val="16233A"/>
                </a:solidFill>
                <a:latin typeface="Arial" pitchFamily="34" charset="0"/>
                <a:ea typeface="Arial" pitchFamily="34" charset="-122"/>
                <a:cs typeface="Arial" pitchFamily="34" charset="-120"/>
              </a:rPr>
              <a:t>Not multi-service?</a:t>
            </a:r>
            <a:endParaRPr lang="en-US" sz="1900" dirty="0"/>
          </a:p>
        </p:txBody>
      </p:sp>
      <p:sp>
        <p:nvSpPr>
          <p:cNvPr id="14" name="Text 12"/>
          <p:cNvSpPr/>
          <p:nvPr/>
        </p:nvSpPr>
        <p:spPr>
          <a:xfrm>
            <a:off x="4800600" y="4480560"/>
            <a:ext cx="6339535" cy="82296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You can already see what happened.</a:t>
            </a:r>
            <a:endParaRPr lang="en-US" sz="1700" dirty="0"/>
          </a:p>
        </p:txBody>
      </p:sp>
      <p:sp>
        <p:nvSpPr>
          <p:cNvPr id="15" name="Text 13"/>
          <p:cNvSpPr/>
          <p:nvPr/>
        </p:nvSpPr>
        <p:spPr>
          <a:xfrm>
            <a:off x="685800" y="5623560"/>
            <a:ext cx="10362895" cy="457200"/>
          </a:xfrm>
          <a:prstGeom prst="rect">
            <a:avLst/>
          </a:prstGeom>
          <a:noFill/>
          <a:ln/>
        </p:spPr>
        <p:txBody>
          <a:bodyPr wrap="square" lIns="0" tIns="0" rIns="0" bIns="0" rtlCol="0" anchor="ctr"/>
          <a:lstStyle/>
          <a:p>
            <a:pPr indent="0" marL="0">
              <a:buNone/>
            </a:pPr>
            <a:r>
              <a:rPr lang="en-US" sz="1600" b="1" dirty="0">
                <a:solidFill>
                  <a:srgbClr val="16233A"/>
                </a:solidFill>
                <a:latin typeface="Arial" pitchFamily="34" charset="0"/>
                <a:ea typeface="Arial" pitchFamily="34" charset="-122"/>
                <a:cs typeface="Arial" pitchFamily="34" charset="-120"/>
              </a:rPr>
              <a:t>What justifies it: long-running, asynchronous, multi-service, hard to observe. All four.</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402336" cy="402336"/>
          </a:xfrm>
          <a:prstGeom prst="roundRect">
            <a:avLst>
              <a:gd name="adj" fmla="val 25000"/>
            </a:avLst>
          </a:prstGeom>
          <a:solidFill>
            <a:srgbClr val="00C08B"/>
          </a:solidFill>
          <a:ln/>
        </p:spPr>
      </p:sp>
      <p:sp>
        <p:nvSpPr>
          <p:cNvPr id="3" name="Text 1"/>
          <p:cNvSpPr/>
          <p:nvPr/>
        </p:nvSpPr>
        <p:spPr>
          <a:xfrm>
            <a:off x="685800" y="45720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7</a:t>
            </a:r>
            <a:endParaRPr lang="en-US" sz="1300" dirty="0"/>
          </a:p>
        </p:txBody>
      </p:sp>
      <p:sp>
        <p:nvSpPr>
          <p:cNvPr id="4" name="Text 2"/>
          <p:cNvSpPr/>
          <p:nvPr/>
        </p:nvSpPr>
        <p:spPr>
          <a:xfrm>
            <a:off x="1252728"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THE PATTERN BEHIND EVERY QUESTION IN THIS TALK</a:t>
            </a:r>
            <a:endParaRPr lang="en-US" sz="1100" dirty="0"/>
          </a:p>
        </p:txBody>
      </p:sp>
      <p:sp>
        <p:nvSpPr>
          <p:cNvPr id="5" name="Text 3"/>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Five steps, run over and over</a:t>
            </a:r>
            <a:endParaRPr lang="en-US" sz="3200" dirty="0"/>
          </a:p>
        </p:txBody>
      </p:sp>
      <p:sp>
        <p:nvSpPr>
          <p:cNvPr id="6" name="Shape 4"/>
          <p:cNvSpPr/>
          <p:nvPr/>
        </p:nvSpPr>
        <p:spPr>
          <a:xfrm>
            <a:off x="685800" y="2377440"/>
            <a:ext cx="402336" cy="402336"/>
          </a:xfrm>
          <a:prstGeom prst="roundRect">
            <a:avLst>
              <a:gd name="adj" fmla="val 25000"/>
            </a:avLst>
          </a:prstGeom>
          <a:solidFill>
            <a:srgbClr val="00C08B"/>
          </a:solidFill>
          <a:ln/>
        </p:spPr>
      </p:sp>
      <p:sp>
        <p:nvSpPr>
          <p:cNvPr id="7" name="Text 5"/>
          <p:cNvSpPr/>
          <p:nvPr/>
        </p:nvSpPr>
        <p:spPr>
          <a:xfrm>
            <a:off x="685800" y="2377440"/>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344168" y="237744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Form a hypothesis</a:t>
            </a:r>
            <a:endParaRPr lang="en-US" sz="1800" dirty="0"/>
          </a:p>
        </p:txBody>
      </p:sp>
      <p:sp>
        <p:nvSpPr>
          <p:cNvPr id="9" name="Shape 7"/>
          <p:cNvSpPr/>
          <p:nvPr/>
        </p:nvSpPr>
        <p:spPr>
          <a:xfrm>
            <a:off x="685800" y="3054096"/>
            <a:ext cx="402336" cy="402336"/>
          </a:xfrm>
          <a:prstGeom prst="roundRect">
            <a:avLst>
              <a:gd name="adj" fmla="val 25000"/>
            </a:avLst>
          </a:prstGeom>
          <a:solidFill>
            <a:srgbClr val="00C08B"/>
          </a:solidFill>
          <a:ln/>
        </p:spPr>
      </p:sp>
      <p:sp>
        <p:nvSpPr>
          <p:cNvPr id="10" name="Text 8"/>
          <p:cNvSpPr/>
          <p:nvPr/>
        </p:nvSpPr>
        <p:spPr>
          <a:xfrm>
            <a:off x="685800" y="3054096"/>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344168" y="3054096"/>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Build a small experiment</a:t>
            </a:r>
            <a:endParaRPr lang="en-US" sz="1800" dirty="0"/>
          </a:p>
        </p:txBody>
      </p:sp>
      <p:sp>
        <p:nvSpPr>
          <p:cNvPr id="12" name="Shape 10"/>
          <p:cNvSpPr/>
          <p:nvPr/>
        </p:nvSpPr>
        <p:spPr>
          <a:xfrm>
            <a:off x="685800" y="3730752"/>
            <a:ext cx="402336" cy="402336"/>
          </a:xfrm>
          <a:prstGeom prst="roundRect">
            <a:avLst>
              <a:gd name="adj" fmla="val 25000"/>
            </a:avLst>
          </a:prstGeom>
          <a:solidFill>
            <a:srgbClr val="00C08B"/>
          </a:solidFill>
          <a:ln/>
        </p:spPr>
      </p:sp>
      <p:sp>
        <p:nvSpPr>
          <p:cNvPr id="13" name="Text 11"/>
          <p:cNvSpPr/>
          <p:nvPr/>
        </p:nvSpPr>
        <p:spPr>
          <a:xfrm>
            <a:off x="685800" y="3730752"/>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344168" y="3730752"/>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Measure</a:t>
            </a:r>
            <a:endParaRPr lang="en-US" sz="1800" dirty="0"/>
          </a:p>
        </p:txBody>
      </p:sp>
      <p:sp>
        <p:nvSpPr>
          <p:cNvPr id="15" name="Shape 13"/>
          <p:cNvSpPr/>
          <p:nvPr/>
        </p:nvSpPr>
        <p:spPr>
          <a:xfrm>
            <a:off x="685800" y="4407408"/>
            <a:ext cx="402336" cy="402336"/>
          </a:xfrm>
          <a:prstGeom prst="roundRect">
            <a:avLst>
              <a:gd name="adj" fmla="val 25000"/>
            </a:avLst>
          </a:prstGeom>
          <a:solidFill>
            <a:srgbClr val="00C08B"/>
          </a:solidFill>
          <a:ln/>
        </p:spPr>
      </p:sp>
      <p:sp>
        <p:nvSpPr>
          <p:cNvPr id="16" name="Text 14"/>
          <p:cNvSpPr/>
          <p:nvPr/>
        </p:nvSpPr>
        <p:spPr>
          <a:xfrm>
            <a:off x="685800" y="4407408"/>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4</a:t>
            </a:r>
            <a:endParaRPr lang="en-US" sz="1300" dirty="0"/>
          </a:p>
        </p:txBody>
      </p:sp>
      <p:sp>
        <p:nvSpPr>
          <p:cNvPr id="17" name="Text 15"/>
          <p:cNvSpPr/>
          <p:nvPr/>
        </p:nvSpPr>
        <p:spPr>
          <a:xfrm>
            <a:off x="1344168" y="4407408"/>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Compare alternatives</a:t>
            </a:r>
            <a:endParaRPr lang="en-US" sz="1800" dirty="0"/>
          </a:p>
        </p:txBody>
      </p:sp>
      <p:sp>
        <p:nvSpPr>
          <p:cNvPr id="18" name="Shape 16"/>
          <p:cNvSpPr/>
          <p:nvPr/>
        </p:nvSpPr>
        <p:spPr>
          <a:xfrm>
            <a:off x="685800" y="5084064"/>
            <a:ext cx="402336" cy="402336"/>
          </a:xfrm>
          <a:prstGeom prst="roundRect">
            <a:avLst>
              <a:gd name="adj" fmla="val 25000"/>
            </a:avLst>
          </a:prstGeom>
          <a:solidFill>
            <a:srgbClr val="00C08B"/>
          </a:solidFill>
          <a:ln/>
        </p:spPr>
      </p:sp>
      <p:sp>
        <p:nvSpPr>
          <p:cNvPr id="19" name="Text 17"/>
          <p:cNvSpPr/>
          <p:nvPr/>
        </p:nvSpPr>
        <p:spPr>
          <a:xfrm>
            <a:off x="685800" y="5084064"/>
            <a:ext cx="402336" cy="402336"/>
          </a:xfrm>
          <a:prstGeom prst="rect">
            <a:avLst/>
          </a:prstGeom>
          <a:noFill/>
          <a:ln/>
        </p:spPr>
        <p:txBody>
          <a:bodyPr wrap="square" lIns="0" tIns="0" rIns="0" bIns="0" rtlCol="0" anchor="ctr"/>
          <a:lstStyle/>
          <a:p>
            <a:pPr algn="ctr" indent="0" marL="0">
              <a:buNone/>
            </a:pPr>
            <a:r>
              <a:rPr lang="en-US" sz="1300" b="1" dirty="0">
                <a:solidFill>
                  <a:srgbClr val="0E1626"/>
                </a:solidFill>
                <a:latin typeface="Arial" pitchFamily="34" charset="0"/>
                <a:ea typeface="Arial" pitchFamily="34" charset="-122"/>
                <a:cs typeface="Arial" pitchFamily="34" charset="-120"/>
              </a:rPr>
              <a:t>5</a:t>
            </a:r>
            <a:endParaRPr lang="en-US" sz="1300" dirty="0"/>
          </a:p>
        </p:txBody>
      </p:sp>
      <p:sp>
        <p:nvSpPr>
          <p:cNvPr id="20" name="Text 18"/>
          <p:cNvSpPr/>
          <p:nvPr/>
        </p:nvSpPr>
        <p:spPr>
          <a:xfrm>
            <a:off x="1344168" y="5084064"/>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Choose the simplest solution the evidence supports</a:t>
            </a:r>
            <a:endParaRPr lang="en-US" sz="1800" dirty="0"/>
          </a:p>
        </p:txBody>
      </p:sp>
      <p:sp>
        <p:nvSpPr>
          <p:cNvPr id="21" name="Text 19"/>
          <p:cNvSpPr/>
          <p:nvPr/>
        </p:nvSpPr>
        <p:spPr>
          <a:xfrm>
            <a:off x="685800" y="5760720"/>
            <a:ext cx="10362895" cy="457200"/>
          </a:xfrm>
          <a:prstGeom prst="rect">
            <a:avLst/>
          </a:prstGeom>
          <a:noFill/>
          <a:ln/>
        </p:spPr>
        <p:txBody>
          <a:bodyPr wrap="square" lIns="0" tIns="0" rIns="0" bIns="0" rtlCol="0" anchor="ctr"/>
          <a:lstStyle/>
          <a:p>
            <a:pPr indent="0" marL="0">
              <a:buNone/>
            </a:pPr>
            <a:r>
              <a:rPr lang="en-US" sz="2000" b="1" dirty="0">
                <a:solidFill>
                  <a:srgbClr val="AE4718"/>
                </a:solidFill>
                <a:latin typeface="Arial" pitchFamily="34" charset="0"/>
                <a:ea typeface="Arial" pitchFamily="34" charset="-122"/>
                <a:cs typeface="Arial" pitchFamily="34" charset="-120"/>
              </a:rPr>
              <a:t>None of it works if one experiment costs a pipeline.</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Text 1"/>
          <p:cNvSpPr/>
          <p:nvPr/>
        </p:nvSpPr>
        <p:spPr>
          <a:xfrm>
            <a:off x="685800" y="1965960"/>
            <a:ext cx="9905695" cy="1463040"/>
          </a:xfrm>
          <a:prstGeom prst="rect">
            <a:avLst/>
          </a:prstGeom>
          <a:noFill/>
          <a:ln/>
        </p:spPr>
        <p:txBody>
          <a:bodyPr wrap="square" lIns="0" tIns="0" rIns="0" bIns="0" rtlCol="0" anchor="t"/>
          <a:lstStyle/>
          <a:p>
            <a:pPr indent="0" marL="0">
              <a:lnSpc>
                <a:spcPts val="4600"/>
              </a:lnSpc>
              <a:buNone/>
            </a:pPr>
            <a:r>
              <a:rPr lang="en-US" sz="3400" b="1" dirty="0">
                <a:solidFill>
                  <a:srgbClr val="8FA3BF"/>
                </a:solidFill>
                <a:latin typeface="Arial" pitchFamily="34" charset="0"/>
                <a:ea typeface="Arial" pitchFamily="34" charset="-122"/>
                <a:cs typeface="Arial" pitchFamily="34" charset="-120"/>
              </a:rPr>
              <a:t>Good engineering is not choosing</a:t>
            </a:r>
            <a:endParaRPr lang="en-US" sz="3400" dirty="0"/>
          </a:p>
          <a:p>
            <a:pPr indent="0" marL="0">
              <a:lnSpc>
                <a:spcPts val="4600"/>
              </a:lnSpc>
              <a:buNone/>
            </a:pPr>
            <a:r>
              <a:rPr lang="en-US" sz="3400" b="1" dirty="0">
                <a:solidFill>
                  <a:srgbClr val="8FA3BF"/>
                </a:solidFill>
                <a:latin typeface="Arial" pitchFamily="34" charset="0"/>
                <a:ea typeface="Arial" pitchFamily="34" charset="-122"/>
                <a:cs typeface="Arial" pitchFamily="34" charset="-120"/>
              </a:rPr>
              <a:t>the smartest architecture.</a:t>
            </a:r>
            <a:endParaRPr lang="en-US" sz="3400" dirty="0"/>
          </a:p>
        </p:txBody>
      </p:sp>
      <p:sp>
        <p:nvSpPr>
          <p:cNvPr id="4" name="Text 2"/>
          <p:cNvSpPr/>
          <p:nvPr/>
        </p:nvSpPr>
        <p:spPr>
          <a:xfrm>
            <a:off x="685800" y="3657600"/>
            <a:ext cx="9905695" cy="1463040"/>
          </a:xfrm>
          <a:prstGeom prst="rect">
            <a:avLst/>
          </a:prstGeom>
          <a:noFill/>
          <a:ln/>
        </p:spPr>
        <p:txBody>
          <a:bodyPr wrap="square" lIns="0" tIns="0" rIns="0" bIns="0" rtlCol="0" anchor="t"/>
          <a:lstStyle/>
          <a:p>
            <a:pPr indent="0" marL="0">
              <a:lnSpc>
                <a:spcPts val="4600"/>
              </a:lnSpc>
              <a:buNone/>
            </a:pPr>
            <a:r>
              <a:rPr lang="en-US" sz="3400" b="1" dirty="0">
                <a:solidFill>
                  <a:srgbClr val="FFFFFF"/>
                </a:solidFill>
                <a:latin typeface="Arial" pitchFamily="34" charset="0"/>
                <a:ea typeface="Arial" pitchFamily="34" charset="-122"/>
                <a:cs typeface="Arial" pitchFamily="34" charset="-120"/>
              </a:rPr>
              <a:t>It's reducing uncertainty until the right</a:t>
            </a:r>
            <a:endParaRPr lang="en-US" sz="3400" dirty="0"/>
          </a:p>
          <a:p>
            <a:pPr indent="0" marL="0">
              <a:lnSpc>
                <a:spcPts val="4600"/>
              </a:lnSpc>
              <a:buNone/>
            </a:pPr>
            <a:r>
              <a:rPr lang="en-US" sz="3400" b="1" dirty="0">
                <a:solidFill>
                  <a:srgbClr val="FFFFFF"/>
                </a:solidFill>
                <a:latin typeface="Arial" pitchFamily="34" charset="0"/>
                <a:ea typeface="Arial" pitchFamily="34" charset="-122"/>
                <a:cs typeface="Arial" pitchFamily="34" charset="-120"/>
              </a:rPr>
              <a:t>architecture becomes obvious.</a:t>
            </a:r>
            <a:endParaRPr lang="en-US" sz="3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Shape 1"/>
          <p:cNvSpPr/>
          <p:nvPr/>
        </p:nvSpPr>
        <p:spPr>
          <a:xfrm>
            <a:off x="685800" y="2103120"/>
            <a:ext cx="566928" cy="566928"/>
          </a:xfrm>
          <a:prstGeom prst="roundRect">
            <a:avLst>
              <a:gd name="adj" fmla="val 24194"/>
            </a:avLst>
          </a:prstGeom>
          <a:solidFill>
            <a:srgbClr val="00C08B"/>
          </a:solidFill>
          <a:ln/>
        </p:spPr>
      </p:sp>
      <p:sp>
        <p:nvSpPr>
          <p:cNvPr id="4" name="Text 2"/>
          <p:cNvSpPr/>
          <p:nvPr/>
        </p:nvSpPr>
        <p:spPr>
          <a:xfrm>
            <a:off x="685800" y="2971800"/>
            <a:ext cx="9722815" cy="1828800"/>
          </a:xfrm>
          <a:prstGeom prst="rect">
            <a:avLst/>
          </a:prstGeom>
          <a:noFill/>
          <a:ln/>
        </p:spPr>
        <p:txBody>
          <a:bodyPr wrap="square" lIns="0" tIns="0" rIns="0" bIns="0" rtlCol="0" anchor="t"/>
          <a:lstStyle/>
          <a:p>
            <a:pPr indent="0" marL="0">
              <a:lnSpc>
                <a:spcPts val="5400"/>
              </a:lnSpc>
              <a:buNone/>
            </a:pPr>
            <a:r>
              <a:rPr lang="en-US" sz="4400" b="1" dirty="0">
                <a:solidFill>
                  <a:srgbClr val="FFFFFF"/>
                </a:solidFill>
                <a:latin typeface="Arial" pitchFamily="34" charset="0"/>
                <a:ea typeface="Arial" pitchFamily="34" charset="-122"/>
                <a:cs typeface="Arial" pitchFamily="34" charset="-120"/>
              </a:rPr>
              <a:t>The feedback loop is</a:t>
            </a:r>
            <a:endParaRPr lang="en-US" sz="4400" dirty="0"/>
          </a:p>
          <a:p>
            <a:pPr indent="0" marL="0">
              <a:lnSpc>
                <a:spcPts val="5400"/>
              </a:lnSpc>
              <a:buNone/>
            </a:pPr>
            <a:r>
              <a:rPr lang="en-US" sz="4400" b="1" dirty="0">
                <a:solidFill>
                  <a:srgbClr val="FFFFFF"/>
                </a:solidFill>
                <a:latin typeface="Arial" pitchFamily="34" charset="0"/>
                <a:ea typeface="Arial" pitchFamily="34" charset="-122"/>
                <a:cs typeface="Arial" pitchFamily="34" charset="-120"/>
              </a:rPr>
              <a:t>the first architecture decision.</a:t>
            </a:r>
            <a:endParaRPr lang="en-US" sz="4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626"/>
        </a:solidFill>
      </p:bgPr>
    </p:bg>
    <p:spTree>
      <p:nvGrpSpPr>
        <p:cNvPr id="1" name=""/>
        <p:cNvGrpSpPr/>
        <p:nvPr/>
      </p:nvGrpSpPr>
      <p:grpSpPr>
        <a:xfrm>
          <a:off x="0" y="0"/>
          <a:ext cx="0" cy="0"/>
          <a:chOff x="0" y="0"/>
          <a:chExt cx="0" cy="0"/>
        </a:xfrm>
      </p:grpSpPr>
      <p:sp>
        <p:nvSpPr>
          <p:cNvPr id="2" name="Shape 0"/>
          <p:cNvSpPr/>
          <p:nvPr/>
        </p:nvSpPr>
        <p:spPr>
          <a:xfrm>
            <a:off x="-91440" y="-91440"/>
            <a:ext cx="12374575" cy="7040880"/>
          </a:xfrm>
          <a:prstGeom prst="rect">
            <a:avLst/>
          </a:prstGeom>
          <a:solidFill>
            <a:srgbClr val="0E1626"/>
          </a:solidFill>
          <a:ln/>
        </p:spPr>
      </p:sp>
      <p:sp>
        <p:nvSpPr>
          <p:cNvPr id="3" name="Text 1"/>
          <p:cNvSpPr/>
          <p:nvPr/>
        </p:nvSpPr>
        <p:spPr>
          <a:xfrm>
            <a:off x="685800" y="2743200"/>
            <a:ext cx="10820095"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Appendix</a:t>
            </a:r>
            <a:endParaRPr lang="en-US" sz="4000" dirty="0"/>
          </a:p>
        </p:txBody>
      </p:sp>
      <p:sp>
        <p:nvSpPr>
          <p:cNvPr id="4" name="Text 2"/>
          <p:cNvSpPr/>
          <p:nvPr/>
        </p:nvSpPr>
        <p:spPr>
          <a:xfrm>
            <a:off x="685800" y="3611880"/>
            <a:ext cx="10820095" cy="457200"/>
          </a:xfrm>
          <a:prstGeom prst="rect">
            <a:avLst/>
          </a:prstGeom>
          <a:noFill/>
          <a:ln/>
        </p:spPr>
        <p:txBody>
          <a:bodyPr wrap="square" lIns="0" tIns="0" rIns="0" bIns="0" rtlCol="0" anchor="ctr"/>
          <a:lstStyle/>
          <a:p>
            <a:pPr indent="0" marL="0">
              <a:buNone/>
            </a:pPr>
            <a:r>
              <a:rPr lang="en-US" sz="1600" dirty="0">
                <a:solidFill>
                  <a:srgbClr val="8FA3BF"/>
                </a:solidFill>
                <a:latin typeface="Calibri" pitchFamily="34" charset="0"/>
                <a:ea typeface="Calibri" pitchFamily="34" charset="-122"/>
                <a:cs typeface="Calibri" pitchFamily="34" charset="-120"/>
              </a:rPr>
              <a:t>Q&amp;A only — do not present</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A1</a:t>
            </a:r>
            <a:endParaRPr lang="en-US" sz="1100" dirty="0"/>
          </a:p>
        </p:txBody>
      </p:sp>
      <p:sp>
        <p:nvSpPr>
          <p:cNvPr id="3" name="Text 1"/>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Production architecture</a:t>
            </a:r>
            <a:endParaRPr lang="en-US" sz="3200" dirty="0"/>
          </a:p>
        </p:txBody>
      </p:sp>
      <p:sp>
        <p:nvSpPr>
          <p:cNvPr id="4" name="Shape 2"/>
          <p:cNvSpPr/>
          <p:nvPr/>
        </p:nvSpPr>
        <p:spPr>
          <a:xfrm>
            <a:off x="685800" y="2743200"/>
            <a:ext cx="1544269" cy="1371600"/>
          </a:xfrm>
          <a:prstGeom prst="roundRect">
            <a:avLst>
              <a:gd name="adj" fmla="val 8000"/>
            </a:avLst>
          </a:prstGeom>
          <a:solidFill>
            <a:srgbClr val="EDF2F8"/>
          </a:solidFill>
          <a:ln/>
        </p:spPr>
      </p:sp>
      <p:sp>
        <p:nvSpPr>
          <p:cNvPr id="5" name="Text 3"/>
          <p:cNvSpPr/>
          <p:nvPr/>
        </p:nvSpPr>
        <p:spPr>
          <a:xfrm>
            <a:off x="795528"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Step Functions</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orchestrate</a:t>
            </a:r>
            <a:endParaRPr lang="en-US" sz="1300" dirty="0"/>
          </a:p>
        </p:txBody>
      </p:sp>
      <p:sp>
        <p:nvSpPr>
          <p:cNvPr id="6" name="Text 4"/>
          <p:cNvSpPr/>
          <p:nvPr/>
        </p:nvSpPr>
        <p:spPr>
          <a:xfrm>
            <a:off x="2230069"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7" name="Shape 5"/>
          <p:cNvSpPr/>
          <p:nvPr/>
        </p:nvSpPr>
        <p:spPr>
          <a:xfrm>
            <a:off x="2540965" y="2743200"/>
            <a:ext cx="1544269" cy="1371600"/>
          </a:xfrm>
          <a:prstGeom prst="roundRect">
            <a:avLst>
              <a:gd name="adj" fmla="val 8000"/>
            </a:avLst>
          </a:prstGeom>
          <a:solidFill>
            <a:srgbClr val="EDF2F8"/>
          </a:solidFill>
          <a:ln/>
        </p:spPr>
      </p:sp>
      <p:sp>
        <p:nvSpPr>
          <p:cNvPr id="8" name="Text 6"/>
          <p:cNvSpPr/>
          <p:nvPr/>
        </p:nvSpPr>
        <p:spPr>
          <a:xfrm>
            <a:off x="2650693"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SQS</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distributes</a:t>
            </a:r>
            <a:endParaRPr lang="en-US" sz="1300" dirty="0"/>
          </a:p>
        </p:txBody>
      </p:sp>
      <p:sp>
        <p:nvSpPr>
          <p:cNvPr id="9" name="Text 7"/>
          <p:cNvSpPr/>
          <p:nvPr/>
        </p:nvSpPr>
        <p:spPr>
          <a:xfrm>
            <a:off x="4085234"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4396130" y="2743200"/>
            <a:ext cx="1544269" cy="1371600"/>
          </a:xfrm>
          <a:prstGeom prst="roundRect">
            <a:avLst>
              <a:gd name="adj" fmla="val 8000"/>
            </a:avLst>
          </a:prstGeom>
          <a:solidFill>
            <a:srgbClr val="EDF2F8"/>
          </a:solidFill>
          <a:ln/>
        </p:spPr>
      </p:sp>
      <p:sp>
        <p:nvSpPr>
          <p:cNvPr id="11" name="Text 9"/>
          <p:cNvSpPr/>
          <p:nvPr/>
        </p:nvSpPr>
        <p:spPr>
          <a:xfrm>
            <a:off x="4505858"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Fargate</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downloads</a:t>
            </a:r>
            <a:endParaRPr lang="en-US" sz="1300" dirty="0"/>
          </a:p>
        </p:txBody>
      </p:sp>
      <p:sp>
        <p:nvSpPr>
          <p:cNvPr id="12" name="Text 10"/>
          <p:cNvSpPr/>
          <p:nvPr/>
        </p:nvSpPr>
        <p:spPr>
          <a:xfrm>
            <a:off x="5940400"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3" name="Shape 11"/>
          <p:cNvSpPr/>
          <p:nvPr/>
        </p:nvSpPr>
        <p:spPr>
          <a:xfrm>
            <a:off x="6251296" y="2743200"/>
            <a:ext cx="1544269" cy="1371600"/>
          </a:xfrm>
          <a:prstGeom prst="roundRect">
            <a:avLst>
              <a:gd name="adj" fmla="val 8000"/>
            </a:avLst>
          </a:prstGeom>
          <a:solidFill>
            <a:srgbClr val="EDF2F8"/>
          </a:solidFill>
          <a:ln/>
        </p:spPr>
      </p:sp>
      <p:sp>
        <p:nvSpPr>
          <p:cNvPr id="14" name="Text 12"/>
          <p:cNvSpPr/>
          <p:nvPr/>
        </p:nvSpPr>
        <p:spPr>
          <a:xfrm>
            <a:off x="6361024"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S3</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stores</a:t>
            </a:r>
            <a:endParaRPr lang="en-US" sz="1300" dirty="0"/>
          </a:p>
        </p:txBody>
      </p:sp>
      <p:sp>
        <p:nvSpPr>
          <p:cNvPr id="15" name="Text 13"/>
          <p:cNvSpPr/>
          <p:nvPr/>
        </p:nvSpPr>
        <p:spPr>
          <a:xfrm>
            <a:off x="7795565"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8106461" y="2743200"/>
            <a:ext cx="1544269" cy="1371600"/>
          </a:xfrm>
          <a:prstGeom prst="roundRect">
            <a:avLst>
              <a:gd name="adj" fmla="val 8000"/>
            </a:avLst>
          </a:prstGeom>
          <a:solidFill>
            <a:srgbClr val="EDF2F8"/>
          </a:solidFill>
          <a:ln/>
        </p:spPr>
      </p:sp>
      <p:sp>
        <p:nvSpPr>
          <p:cNvPr id="17" name="Text 15"/>
          <p:cNvSpPr/>
          <p:nvPr/>
        </p:nvSpPr>
        <p:spPr>
          <a:xfrm>
            <a:off x="8216189"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Fargate</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callback</a:t>
            </a:r>
            <a:endParaRPr lang="en-US" sz="1300" dirty="0"/>
          </a:p>
        </p:txBody>
      </p:sp>
      <p:sp>
        <p:nvSpPr>
          <p:cNvPr id="18" name="Text 16"/>
          <p:cNvSpPr/>
          <p:nvPr/>
        </p:nvSpPr>
        <p:spPr>
          <a:xfrm>
            <a:off x="9650730" y="2743200"/>
            <a:ext cx="310896" cy="1371600"/>
          </a:xfrm>
          <a:prstGeom prst="rect">
            <a:avLst/>
          </a:prstGeom>
          <a:noFill/>
          <a:ln/>
        </p:spPr>
        <p:txBody>
          <a:bodyPr wrap="square" lIns="0" tIns="0" rIns="0" bIns="0" rtlCol="0" anchor="ctr"/>
          <a:lstStyle/>
          <a:p>
            <a:pPr algn="ctr" indent="0" marL="0">
              <a:buNone/>
            </a:pPr>
            <a:r>
              <a:rPr lang="en-US" sz="2000" b="1" dirty="0">
                <a:solidFill>
                  <a:srgbClr val="6B7B93"/>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9961626" y="2743200"/>
            <a:ext cx="1544269" cy="1371600"/>
          </a:xfrm>
          <a:prstGeom prst="roundRect">
            <a:avLst>
              <a:gd name="adj" fmla="val 8000"/>
            </a:avLst>
          </a:prstGeom>
          <a:solidFill>
            <a:srgbClr val="EDF2F8"/>
          </a:solidFill>
          <a:ln/>
        </p:spPr>
      </p:sp>
      <p:sp>
        <p:nvSpPr>
          <p:cNvPr id="20" name="Text 18"/>
          <p:cNvSpPr/>
          <p:nvPr/>
        </p:nvSpPr>
        <p:spPr>
          <a:xfrm>
            <a:off x="10071354" y="2743200"/>
            <a:ext cx="1324813" cy="1371600"/>
          </a:xfrm>
          <a:prstGeom prst="rect">
            <a:avLst/>
          </a:prstGeom>
          <a:noFill/>
          <a:ln/>
        </p:spPr>
        <p:txBody>
          <a:bodyPr wrap="square" lIns="0" tIns="0" rIns="0" bIns="0" rtlCol="0" anchor="ctr"/>
          <a:lstStyle/>
          <a:p>
            <a:pPr algn="ctr" indent="0" marL="0">
              <a:buNone/>
            </a:pPr>
            <a:r>
              <a:rPr lang="en-US" sz="1300" b="1" dirty="0">
                <a:solidFill>
                  <a:srgbClr val="16233A"/>
                </a:solidFill>
                <a:latin typeface="Calibri" pitchFamily="34" charset="0"/>
                <a:ea typeface="Calibri" pitchFamily="34" charset="-122"/>
                <a:cs typeface="Calibri" pitchFamily="34" charset="-120"/>
              </a:rPr>
              <a:t>Workflow</a:t>
            </a:r>
            <a:endParaRPr lang="en-US" sz="1300" dirty="0"/>
          </a:p>
          <a:p>
            <a:pPr algn="ctr" indent="0" marL="0">
              <a:buNone/>
            </a:pPr>
            <a:r>
              <a:rPr lang="en-US" sz="1300" b="1" dirty="0">
                <a:solidFill>
                  <a:srgbClr val="16233A"/>
                </a:solidFill>
                <a:latin typeface="Calibri" pitchFamily="34" charset="0"/>
                <a:ea typeface="Calibri" pitchFamily="34" charset="-122"/>
                <a:cs typeface="Calibri" pitchFamily="34" charset="-120"/>
              </a:rPr>
              <a:t>resumes</a:t>
            </a:r>
            <a:endParaRPr lang="en-US" sz="1300" dirty="0"/>
          </a:p>
        </p:txBody>
      </p:sp>
      <p:sp>
        <p:nvSpPr>
          <p:cNvPr id="21" name="Text 19"/>
          <p:cNvSpPr/>
          <p:nvPr/>
        </p:nvSpPr>
        <p:spPr>
          <a:xfrm>
            <a:off x="685800" y="4663440"/>
            <a:ext cx="10362895" cy="457200"/>
          </a:xfrm>
          <a:prstGeom prst="rect">
            <a:avLst/>
          </a:prstGeom>
          <a:noFill/>
          <a:ln/>
        </p:spPr>
        <p:txBody>
          <a:bodyPr wrap="square" lIns="0" tIns="0" rIns="0" bIns="0" rtlCol="0" anchor="ctr"/>
          <a:lstStyle/>
          <a:p>
            <a:pPr indent="0" marL="0">
              <a:buNone/>
            </a:pPr>
            <a:r>
              <a:rPr lang="en-US" sz="1700" dirty="0">
                <a:solidFill>
                  <a:srgbClr val="6B7B93"/>
                </a:solidFill>
                <a:latin typeface="Calibri" pitchFamily="34" charset="0"/>
                <a:ea typeface="Calibri" pitchFamily="34" charset="-122"/>
                <a:cs typeface="Calibri" pitchFamily="34" charset="-120"/>
              </a:rPr>
              <a:t>Orchestration separated from heavy file processing, without losing workflow state.</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A2</a:t>
            </a:r>
            <a:endParaRPr lang="en-US" sz="1100" dirty="0"/>
          </a:p>
        </p:txBody>
      </p:sp>
      <p:sp>
        <p:nvSpPr>
          <p:cNvPr id="3" name="Text 1"/>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Why Fargate + NestJS for ingestion</a:t>
            </a:r>
            <a:endParaRPr lang="en-US" sz="3200" dirty="0"/>
          </a:p>
        </p:txBody>
      </p:sp>
      <p:sp>
        <p:nvSpPr>
          <p:cNvPr id="4" name="Text 2"/>
          <p:cNvSpPr/>
          <p:nvPr/>
        </p:nvSpPr>
        <p:spPr>
          <a:xfrm>
            <a:off x="685800" y="233172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Prototyped</a:t>
            </a:r>
            <a:endParaRPr lang="en-US" sz="1400" dirty="0"/>
          </a:p>
        </p:txBody>
      </p:sp>
      <p:sp>
        <p:nvSpPr>
          <p:cNvPr id="5" name="Text 3"/>
          <p:cNvSpPr/>
          <p:nvPr/>
        </p:nvSpPr>
        <p:spPr>
          <a:xfrm>
            <a:off x="685800" y="2788920"/>
            <a:ext cx="10362895" cy="822960"/>
          </a:xfrm>
          <a:prstGeom prst="rect">
            <a:avLst/>
          </a:prstGeom>
          <a:noFill/>
          <a:ln/>
        </p:spPr>
        <p:txBody>
          <a:bodyPr wrap="square" lIns="0" tIns="0" rIns="0" bIns="0" rtlCol="0" anchor="ctr"/>
          <a:lstStyle/>
          <a:p>
            <a:pPr indent="0" marL="0">
              <a:buNone/>
            </a:pPr>
            <a:r>
              <a:rPr lang="en-US" sz="2000" b="1" dirty="0">
                <a:solidFill>
                  <a:srgbClr val="16233A"/>
                </a:solidFill>
                <a:latin typeface="Calibri" pitchFamily="34" charset="0"/>
                <a:ea typeface="Calibri" pitchFamily="34" charset="-122"/>
                <a:cs typeface="Calibri" pitchFamily="34" charset="-120"/>
              </a:rPr>
              <a:t>Go · Python · TypeScript · AWS Lambda · AWS Fargate · Containers · NestJS · Middy</a:t>
            </a:r>
            <a:endParaRPr lang="en-US" sz="2000" dirty="0"/>
          </a:p>
        </p:txBody>
      </p:sp>
      <p:sp>
        <p:nvSpPr>
          <p:cNvPr id="6" name="Text 4"/>
          <p:cNvSpPr/>
          <p:nvPr/>
        </p:nvSpPr>
        <p:spPr>
          <a:xfrm>
            <a:off x="685800" y="397764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Measured on</a:t>
            </a:r>
            <a:endParaRPr lang="en-US" sz="1400" dirty="0"/>
          </a:p>
        </p:txBody>
      </p:sp>
      <p:sp>
        <p:nvSpPr>
          <p:cNvPr id="7" name="Text 5"/>
          <p:cNvSpPr/>
          <p:nvPr/>
        </p:nvSpPr>
        <p:spPr>
          <a:xfrm>
            <a:off x="685800" y="4434840"/>
            <a:ext cx="10362895" cy="548640"/>
          </a:xfrm>
          <a:prstGeom prst="rect">
            <a:avLst/>
          </a:prstGeom>
          <a:noFill/>
          <a:ln/>
        </p:spPr>
        <p:txBody>
          <a:bodyPr wrap="square" lIns="0" tIns="0" rIns="0" bIns="0" rtlCol="0" anchor="ctr"/>
          <a:lstStyle/>
          <a:p>
            <a:pPr indent="0" marL="0">
              <a:buNone/>
            </a:pPr>
            <a:r>
              <a:rPr lang="en-US" sz="2000" b="1" dirty="0">
                <a:solidFill>
                  <a:srgbClr val="16233A"/>
                </a:solidFill>
                <a:latin typeface="Calibri" pitchFamily="34" charset="0"/>
                <a:ea typeface="Calibri" pitchFamily="34" charset="-122"/>
                <a:cs typeface="Calibri" pitchFamily="34" charset="-120"/>
              </a:rPr>
              <a:t>Throughput · scaling behaviour · maintainability · operational complexity</a:t>
            </a:r>
            <a:endParaRPr lang="en-US" sz="2000" dirty="0"/>
          </a:p>
        </p:txBody>
      </p:sp>
      <p:sp>
        <p:nvSpPr>
          <p:cNvPr id="8" name="Text 6"/>
          <p:cNvSpPr/>
          <p:nvPr/>
        </p:nvSpPr>
        <p:spPr>
          <a:xfrm>
            <a:off x="685800" y="5440680"/>
            <a:ext cx="10362895" cy="457200"/>
          </a:xfrm>
          <a:prstGeom prst="rect">
            <a:avLst/>
          </a:prstGeom>
          <a:noFill/>
          <a:ln/>
        </p:spPr>
        <p:txBody>
          <a:bodyPr wrap="square" lIns="0" tIns="0" rIns="0" bIns="0" rtlCol="0" anchor="ctr"/>
          <a:lstStyle/>
          <a:p>
            <a:pPr indent="0" marL="0">
              <a:buNone/>
            </a:pPr>
            <a:r>
              <a:rPr lang="en-US" sz="1700" b="1" dirty="0">
                <a:solidFill>
                  <a:srgbClr val="05795A"/>
                </a:solidFill>
                <a:latin typeface="Arial" pitchFamily="34" charset="0"/>
                <a:ea typeface="Arial" pitchFamily="34" charset="-122"/>
                <a:cs typeface="Arial" pitchFamily="34" charset="-120"/>
              </a:rPr>
              <a:t>Winner: AWS Fargate + NestJS. The stack answer is local to this problem — the method isn't.</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A3</a:t>
            </a:r>
            <a:endParaRPr lang="en-US" sz="1100" dirty="0"/>
          </a:p>
        </p:txBody>
      </p:sp>
      <p:sp>
        <p:nvSpPr>
          <p:cNvPr id="3" name="Text 1"/>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Tracking: deciding when to recover</a:t>
            </a:r>
            <a:endParaRPr lang="en-US" sz="3200" dirty="0"/>
          </a:p>
        </p:txBody>
      </p:sp>
      <p:sp>
        <p:nvSpPr>
          <p:cNvPr id="4" name="Shape 2"/>
          <p:cNvSpPr/>
          <p:nvPr/>
        </p:nvSpPr>
        <p:spPr>
          <a:xfrm>
            <a:off x="685800" y="2688336"/>
            <a:ext cx="146304" cy="146304"/>
          </a:xfrm>
          <a:prstGeom prst="roundRect">
            <a:avLst>
              <a:gd name="adj" fmla="val 31250"/>
            </a:avLst>
          </a:prstGeom>
          <a:solidFill>
            <a:srgbClr val="6B7B93"/>
          </a:solidFill>
          <a:ln/>
        </p:spPr>
      </p:sp>
      <p:sp>
        <p:nvSpPr>
          <p:cNvPr id="5" name="Text 3"/>
          <p:cNvSpPr/>
          <p:nvPr/>
        </p:nvSpPr>
        <p:spPr>
          <a:xfrm>
            <a:off x="1097280" y="2514600"/>
            <a:ext cx="9997135" cy="502920"/>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Every call is tracked through its lifecycle.</a:t>
            </a:r>
            <a:endParaRPr lang="en-US" sz="1800" dirty="0"/>
          </a:p>
        </p:txBody>
      </p:sp>
      <p:sp>
        <p:nvSpPr>
          <p:cNvPr id="6" name="Shape 4"/>
          <p:cNvSpPr/>
          <p:nvPr/>
        </p:nvSpPr>
        <p:spPr>
          <a:xfrm>
            <a:off x="685800" y="3602736"/>
            <a:ext cx="146304" cy="146304"/>
          </a:xfrm>
          <a:prstGeom prst="roundRect">
            <a:avLst>
              <a:gd name="adj" fmla="val 31250"/>
            </a:avLst>
          </a:prstGeom>
          <a:solidFill>
            <a:srgbClr val="6B7B93"/>
          </a:solidFill>
          <a:ln/>
        </p:spPr>
      </p:sp>
      <p:sp>
        <p:nvSpPr>
          <p:cNvPr id="7" name="Text 5"/>
          <p:cNvSpPr/>
          <p:nvPr/>
        </p:nvSpPr>
        <p:spPr>
          <a:xfrm>
            <a:off x="1097280" y="3429000"/>
            <a:ext cx="9997135" cy="502920"/>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Streaming delivers → the call is marked complete.</a:t>
            </a:r>
            <a:endParaRPr lang="en-US" sz="1800" dirty="0"/>
          </a:p>
        </p:txBody>
      </p:sp>
      <p:sp>
        <p:nvSpPr>
          <p:cNvPr id="8" name="Shape 6"/>
          <p:cNvSpPr/>
          <p:nvPr/>
        </p:nvSpPr>
        <p:spPr>
          <a:xfrm>
            <a:off x="685800" y="4517136"/>
            <a:ext cx="146304" cy="146304"/>
          </a:xfrm>
          <a:prstGeom prst="roundRect">
            <a:avLst>
              <a:gd name="adj" fmla="val 31250"/>
            </a:avLst>
          </a:prstGeom>
          <a:solidFill>
            <a:srgbClr val="6B7B93"/>
          </a:solidFill>
          <a:ln/>
        </p:spPr>
      </p:sp>
      <p:sp>
        <p:nvSpPr>
          <p:cNvPr id="9" name="Text 7"/>
          <p:cNvSpPr/>
          <p:nvPr/>
        </p:nvSpPr>
        <p:spPr>
          <a:xfrm>
            <a:off x="1097280" y="4343400"/>
            <a:ext cx="9997135" cy="502920"/>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No recording inside the expected window → recovery is scheduled automatically.</a:t>
            </a:r>
            <a:endParaRPr lang="en-US" sz="1800" dirty="0"/>
          </a:p>
        </p:txBody>
      </p:sp>
      <p:sp>
        <p:nvSpPr>
          <p:cNvPr id="10" name="Shape 8"/>
          <p:cNvSpPr/>
          <p:nvPr/>
        </p:nvSpPr>
        <p:spPr>
          <a:xfrm>
            <a:off x="685800" y="5431536"/>
            <a:ext cx="146304" cy="146304"/>
          </a:xfrm>
          <a:prstGeom prst="roundRect">
            <a:avLst>
              <a:gd name="adj" fmla="val 31250"/>
            </a:avLst>
          </a:prstGeom>
          <a:solidFill>
            <a:srgbClr val="05795A"/>
          </a:solidFill>
          <a:ln/>
        </p:spPr>
      </p:sp>
      <p:sp>
        <p:nvSpPr>
          <p:cNvPr id="11" name="Text 9"/>
          <p:cNvSpPr/>
          <p:nvPr/>
        </p:nvSpPr>
        <p:spPr>
          <a:xfrm>
            <a:off x="1097280" y="5257800"/>
            <a:ext cx="9997135" cy="502920"/>
          </a:xfrm>
          <a:prstGeom prst="rect">
            <a:avLst/>
          </a:prstGeom>
          <a:noFill/>
          <a:ln/>
        </p:spPr>
        <p:txBody>
          <a:bodyPr wrap="square" lIns="0" tIns="0" rIns="0" bIns="0" rtlCol="0" anchor="ctr"/>
          <a:lstStyle/>
          <a:p>
            <a:pPr indent="0" marL="0">
              <a:buNone/>
            </a:pPr>
            <a:r>
              <a:rPr lang="en-US" sz="1800" b="1" dirty="0">
                <a:solidFill>
                  <a:srgbClr val="05795A"/>
                </a:solidFill>
                <a:latin typeface="Calibri" pitchFamily="34" charset="0"/>
                <a:ea typeface="Calibri" pitchFamily="34" charset="-122"/>
                <a:cs typeface="Calibri" pitchFamily="34" charset="-120"/>
              </a:rPr>
              <a:t>Nothing is reconciled by hand. Everything is driven by state.</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A4</a:t>
            </a:r>
            <a:endParaRPr lang="en-US" sz="1100" dirty="0"/>
          </a:p>
        </p:txBody>
      </p:sp>
      <p:sp>
        <p:nvSpPr>
          <p:cNvPr id="3" name="Text 1"/>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Local environment: what's in it</a:t>
            </a:r>
            <a:endParaRPr lang="en-US" sz="3200" dirty="0"/>
          </a:p>
        </p:txBody>
      </p:sp>
      <p:sp>
        <p:nvSpPr>
          <p:cNvPr id="4" name="Text 2"/>
          <p:cNvSpPr/>
          <p:nvPr/>
        </p:nvSpPr>
        <p:spPr>
          <a:xfrm>
            <a:off x="685800" y="237744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In</a:t>
            </a:r>
            <a:endParaRPr lang="en-US" sz="1400" dirty="0"/>
          </a:p>
        </p:txBody>
      </p:sp>
      <p:sp>
        <p:nvSpPr>
          <p:cNvPr id="5" name="Text 3"/>
          <p:cNvSpPr/>
          <p:nvPr/>
        </p:nvSpPr>
        <p:spPr>
          <a:xfrm>
            <a:off x="685800" y="2834640"/>
            <a:ext cx="10362895" cy="822960"/>
          </a:xfrm>
          <a:prstGeom prst="rect">
            <a:avLst/>
          </a:prstGeom>
          <a:noFill/>
          <a:ln/>
        </p:spPr>
        <p:txBody>
          <a:bodyPr wrap="square" lIns="0" tIns="0" rIns="0" bIns="0" rtlCol="0" anchor="ctr"/>
          <a:lstStyle/>
          <a:p>
            <a:pPr indent="0" marL="0">
              <a:buNone/>
            </a:pPr>
            <a:r>
              <a:rPr lang="en-US" sz="1900" b="1" dirty="0">
                <a:solidFill>
                  <a:srgbClr val="16233A"/>
                </a:solidFill>
                <a:latin typeface="Calibri" pitchFamily="34" charset="0"/>
                <a:ea typeface="Calibri" pitchFamily="34" charset="-122"/>
                <a:cs typeface="Calibri" pitchFamily="34" charset="-120"/>
              </a:rPr>
              <a:t>Step Functions · Lambda · DynamoDB · SQS · S3 · supporting infrastructure from the production CDK</a:t>
            </a:r>
            <a:endParaRPr lang="en-US" sz="1900" dirty="0"/>
          </a:p>
        </p:txBody>
      </p:sp>
      <p:sp>
        <p:nvSpPr>
          <p:cNvPr id="6" name="Text 4"/>
          <p:cNvSpPr/>
          <p:nvPr/>
        </p:nvSpPr>
        <p:spPr>
          <a:xfrm>
            <a:off x="685800" y="4114800"/>
            <a:ext cx="3657600" cy="365760"/>
          </a:xfrm>
          <a:prstGeom prst="rect">
            <a:avLst/>
          </a:prstGeom>
          <a:noFill/>
          <a:ln/>
        </p:spPr>
        <p:txBody>
          <a:bodyPr wrap="square" lIns="0" tIns="0" rIns="0" bIns="0" rtlCol="0" anchor="ctr"/>
          <a:lstStyle/>
          <a:p>
            <a:pPr indent="0" marL="0">
              <a:buNone/>
            </a:pPr>
            <a:r>
              <a:rPr lang="en-US" sz="1400" b="1" spc="100" kern="0" dirty="0">
                <a:solidFill>
                  <a:srgbClr val="6B7B93"/>
                </a:solidFill>
                <a:latin typeface="Arial" pitchFamily="34" charset="0"/>
                <a:ea typeface="Arial" pitchFamily="34" charset="-122"/>
                <a:cs typeface="Arial" pitchFamily="34" charset="-120"/>
              </a:rPr>
              <a:t>Not in</a:t>
            </a:r>
            <a:endParaRPr lang="en-US" sz="1400" dirty="0"/>
          </a:p>
        </p:txBody>
      </p:sp>
      <p:sp>
        <p:nvSpPr>
          <p:cNvPr id="7" name="Text 5"/>
          <p:cNvSpPr/>
          <p:nvPr/>
        </p:nvSpPr>
        <p:spPr>
          <a:xfrm>
            <a:off x="685800" y="4572000"/>
            <a:ext cx="10362895" cy="640080"/>
          </a:xfrm>
          <a:prstGeom prst="rect">
            <a:avLst/>
          </a:prstGeom>
          <a:noFill/>
          <a:ln/>
        </p:spPr>
        <p:txBody>
          <a:bodyPr wrap="square" lIns="0" tIns="0" rIns="0" bIns="0" rtlCol="0" anchor="ctr"/>
          <a:lstStyle/>
          <a:p>
            <a:pPr indent="0" marL="0">
              <a:buNone/>
            </a:pPr>
            <a:r>
              <a:rPr lang="en-US" sz="1900" b="1" dirty="0">
                <a:solidFill>
                  <a:srgbClr val="AE4718"/>
                </a:solidFill>
                <a:latin typeface="Calibri" pitchFamily="34" charset="0"/>
                <a:ea typeface="Calibri" pitchFamily="34" charset="-122"/>
                <a:cs typeface="Calibri" pitchFamily="34" charset="-120"/>
              </a:rPr>
              <a:t>IAM behaviour · real throughput · production-scale timing · the vendor's APIs</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253167" cy="402336"/>
          </a:xfrm>
          <a:prstGeom prst="rect">
            <a:avLst/>
          </a:prstGeom>
          <a:noFill/>
          <a:ln/>
        </p:spPr>
        <p:txBody>
          <a:bodyPr wrap="square" lIns="0" tIns="0" rIns="0" bIns="0" rtlCol="0" anchor="ctr"/>
          <a:lstStyle/>
          <a:p>
            <a:pPr indent="0" marL="0">
              <a:buNone/>
            </a:pPr>
            <a:r>
              <a:rPr lang="en-US" sz="1100" b="1" spc="200" kern="0" dirty="0">
                <a:solidFill>
                  <a:srgbClr val="6B7B93"/>
                </a:solidFill>
                <a:latin typeface="Arial" pitchFamily="34" charset="0"/>
                <a:ea typeface="Arial" pitchFamily="34" charset="-122"/>
                <a:cs typeface="Arial" pitchFamily="34" charset="-120"/>
              </a:rPr>
              <a:t>APPENDIX A5</a:t>
            </a:r>
            <a:endParaRPr lang="en-US" sz="1100" dirty="0"/>
          </a:p>
        </p:txBody>
      </p:sp>
      <p:sp>
        <p:nvSpPr>
          <p:cNvPr id="3" name="Text 1"/>
          <p:cNvSpPr/>
          <p:nvPr/>
        </p:nvSpPr>
        <p:spPr>
          <a:xfrm>
            <a:off x="685800" y="1115568"/>
            <a:ext cx="10271455" cy="822960"/>
          </a:xfrm>
          <a:prstGeom prst="rect">
            <a:avLst/>
          </a:prstGeom>
          <a:noFill/>
          <a:ln/>
        </p:spPr>
        <p:txBody>
          <a:bodyPr wrap="square" lIns="0" tIns="0" rIns="0" bIns="0" rtlCol="0" anchor="ctr"/>
          <a:lstStyle/>
          <a:p>
            <a:pPr indent="0" marL="0">
              <a:buNone/>
            </a:pPr>
            <a:r>
              <a:rPr lang="en-US" sz="3200" b="1" dirty="0">
                <a:solidFill>
                  <a:srgbClr val="16233A"/>
                </a:solidFill>
                <a:latin typeface="Arial" pitchFamily="34" charset="0"/>
                <a:ea typeface="Arial" pitchFamily="34" charset="-122"/>
                <a:cs typeface="Arial" pitchFamily="34" charset="-120"/>
              </a:rPr>
              <a:t>Platform milestones</a:t>
            </a:r>
            <a:endParaRPr lang="en-US" sz="3200" dirty="0"/>
          </a:p>
        </p:txBody>
      </p:sp>
      <p:sp>
        <p:nvSpPr>
          <p:cNvPr id="4" name="Shape 2"/>
          <p:cNvSpPr/>
          <p:nvPr/>
        </p:nvSpPr>
        <p:spPr>
          <a:xfrm>
            <a:off x="685800" y="2560320"/>
            <a:ext cx="402336" cy="402336"/>
          </a:xfrm>
          <a:prstGeom prst="roundRect">
            <a:avLst>
              <a:gd name="adj" fmla="val 25000"/>
            </a:avLst>
          </a:prstGeom>
          <a:solidFill>
            <a:srgbClr val="EDF2F8"/>
          </a:solidFill>
          <a:ln/>
        </p:spPr>
      </p:sp>
      <p:sp>
        <p:nvSpPr>
          <p:cNvPr id="5" name="Text 3"/>
          <p:cNvSpPr/>
          <p:nvPr/>
        </p:nvSpPr>
        <p:spPr>
          <a:xfrm>
            <a:off x="685800" y="256032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344168" y="256032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First IVR initiative on the new platform SDK</a:t>
            </a:r>
            <a:endParaRPr lang="en-US" sz="1800" dirty="0"/>
          </a:p>
        </p:txBody>
      </p:sp>
      <p:sp>
        <p:nvSpPr>
          <p:cNvPr id="7" name="Shape 5"/>
          <p:cNvSpPr/>
          <p:nvPr/>
        </p:nvSpPr>
        <p:spPr>
          <a:xfrm>
            <a:off x="685800" y="3383280"/>
            <a:ext cx="402336" cy="402336"/>
          </a:xfrm>
          <a:prstGeom prst="roundRect">
            <a:avLst>
              <a:gd name="adj" fmla="val 25000"/>
            </a:avLst>
          </a:prstGeom>
          <a:solidFill>
            <a:srgbClr val="EDF2F8"/>
          </a:solidFill>
          <a:ln/>
        </p:spPr>
      </p:sp>
      <p:sp>
        <p:nvSpPr>
          <p:cNvPr id="8" name="Text 6"/>
          <p:cNvSpPr/>
          <p:nvPr/>
        </p:nvSpPr>
        <p:spPr>
          <a:xfrm>
            <a:off x="685800" y="338328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2</a:t>
            </a:r>
            <a:endParaRPr lang="en-US" sz="1300" dirty="0"/>
          </a:p>
        </p:txBody>
      </p:sp>
      <p:sp>
        <p:nvSpPr>
          <p:cNvPr id="9" name="Text 7"/>
          <p:cNvSpPr/>
          <p:nvPr/>
        </p:nvSpPr>
        <p:spPr>
          <a:xfrm>
            <a:off x="1344168" y="338328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First monorepo</a:t>
            </a:r>
            <a:endParaRPr lang="en-US" sz="1800" dirty="0"/>
          </a:p>
        </p:txBody>
      </p:sp>
      <p:sp>
        <p:nvSpPr>
          <p:cNvPr id="10" name="Shape 8"/>
          <p:cNvSpPr/>
          <p:nvPr/>
        </p:nvSpPr>
        <p:spPr>
          <a:xfrm>
            <a:off x="685800" y="4206240"/>
            <a:ext cx="402336" cy="402336"/>
          </a:xfrm>
          <a:prstGeom prst="roundRect">
            <a:avLst>
              <a:gd name="adj" fmla="val 25000"/>
            </a:avLst>
          </a:prstGeom>
          <a:solidFill>
            <a:srgbClr val="EDF2F8"/>
          </a:solidFill>
          <a:ln/>
        </p:spPr>
      </p:sp>
      <p:sp>
        <p:nvSpPr>
          <p:cNvPr id="11" name="Text 9"/>
          <p:cNvSpPr/>
          <p:nvPr/>
        </p:nvSpPr>
        <p:spPr>
          <a:xfrm>
            <a:off x="685800" y="420624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3</a:t>
            </a:r>
            <a:endParaRPr lang="en-US" sz="1300" dirty="0"/>
          </a:p>
        </p:txBody>
      </p:sp>
      <p:sp>
        <p:nvSpPr>
          <p:cNvPr id="12" name="Text 10"/>
          <p:cNvSpPr/>
          <p:nvPr/>
        </p:nvSpPr>
        <p:spPr>
          <a:xfrm>
            <a:off x="1344168" y="420624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Independently deployable services</a:t>
            </a:r>
            <a:endParaRPr lang="en-US" sz="1800" dirty="0"/>
          </a:p>
        </p:txBody>
      </p:sp>
      <p:sp>
        <p:nvSpPr>
          <p:cNvPr id="13" name="Shape 11"/>
          <p:cNvSpPr/>
          <p:nvPr/>
        </p:nvSpPr>
        <p:spPr>
          <a:xfrm>
            <a:off x="685800" y="5029200"/>
            <a:ext cx="402336" cy="402336"/>
          </a:xfrm>
          <a:prstGeom prst="roundRect">
            <a:avLst>
              <a:gd name="adj" fmla="val 25000"/>
            </a:avLst>
          </a:prstGeom>
          <a:solidFill>
            <a:srgbClr val="EDF2F8"/>
          </a:solidFill>
          <a:ln/>
        </p:spPr>
      </p:sp>
      <p:sp>
        <p:nvSpPr>
          <p:cNvPr id="14" name="Text 12"/>
          <p:cNvSpPr/>
          <p:nvPr/>
        </p:nvSpPr>
        <p:spPr>
          <a:xfrm>
            <a:off x="685800" y="5029200"/>
            <a:ext cx="402336" cy="402336"/>
          </a:xfrm>
          <a:prstGeom prst="rect">
            <a:avLst/>
          </a:prstGeom>
          <a:noFill/>
          <a:ln/>
        </p:spPr>
        <p:txBody>
          <a:bodyPr wrap="square" lIns="0" tIns="0" rIns="0" bIns="0" rtlCol="0" anchor="ctr"/>
          <a:lstStyle/>
          <a:p>
            <a:pPr algn="ctr" indent="0" marL="0">
              <a:buNone/>
            </a:pPr>
            <a:r>
              <a:rPr lang="en-US" sz="1300" b="1" dirty="0">
                <a:solidFill>
                  <a:srgbClr val="16233A"/>
                </a:solidFill>
                <a:latin typeface="Arial" pitchFamily="34" charset="0"/>
                <a:ea typeface="Arial" pitchFamily="34" charset="-122"/>
                <a:cs typeface="Arial" pitchFamily="34" charset="-120"/>
              </a:rPr>
              <a:t>4</a:t>
            </a:r>
            <a:endParaRPr lang="en-US" sz="1300" dirty="0"/>
          </a:p>
        </p:txBody>
      </p:sp>
      <p:sp>
        <p:nvSpPr>
          <p:cNvPr id="15" name="Text 13"/>
          <p:cNvSpPr/>
          <p:nvPr/>
        </p:nvSpPr>
        <p:spPr>
          <a:xfrm>
            <a:off x="1344168" y="5029200"/>
            <a:ext cx="10161727" cy="402336"/>
          </a:xfrm>
          <a:prstGeom prst="rect">
            <a:avLst/>
          </a:prstGeom>
          <a:noFill/>
          <a:ln/>
        </p:spPr>
        <p:txBody>
          <a:bodyPr wrap="square" lIns="0" tIns="0" rIns="0" bIns="0" rtlCol="0" anchor="ctr"/>
          <a:lstStyle/>
          <a:p>
            <a:pPr indent="0" marL="0">
              <a:buNone/>
            </a:pPr>
            <a:r>
              <a:rPr lang="en-US" sz="1800" dirty="0">
                <a:solidFill>
                  <a:srgbClr val="16233A"/>
                </a:solidFill>
                <a:latin typeface="Calibri" pitchFamily="34" charset="0"/>
                <a:ea typeface="Calibri" pitchFamily="34" charset="-122"/>
                <a:cs typeface="Calibri" pitchFamily="34" charset="-120"/>
              </a:rPr>
              <a:t>Independently deployable Step Functions</a:t>
            </a:r>
            <a:endParaRPr lang="en-US" sz="1800" dirty="0"/>
          </a:p>
        </p:txBody>
      </p:sp>
      <p:sp>
        <p:nvSpPr>
          <p:cNvPr id="16" name="Text 14"/>
          <p:cNvSpPr/>
          <p:nvPr/>
        </p:nvSpPr>
        <p:spPr>
          <a:xfrm>
            <a:off x="685800" y="5806440"/>
            <a:ext cx="10362895" cy="457200"/>
          </a:xfrm>
          <a:prstGeom prst="rect">
            <a:avLst/>
          </a:prstGeom>
          <a:noFill/>
          <a:ln/>
        </p:spPr>
        <p:txBody>
          <a:bodyPr wrap="square" lIns="0" tIns="0" rIns="0" bIns="0" rtlCol="0" anchor="ctr"/>
          <a:lstStyle/>
          <a:p>
            <a:pPr indent="0" marL="0">
              <a:buNone/>
            </a:pPr>
            <a:r>
              <a:rPr lang="en-US" sz="1600" dirty="0">
                <a:solidFill>
                  <a:srgbClr val="6B7B93"/>
                </a:solidFill>
                <a:latin typeface="Calibri" pitchFamily="34" charset="0"/>
                <a:ea typeface="Calibri" pitchFamily="34" charset="-122"/>
                <a:cs typeface="Calibri" pitchFamily="34" charset="-120"/>
              </a:rPr>
              <a:t>The repository is the single source of truth — new engineers joined without tribal knowledge.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LocalStack Saved the StateMachine</dc:title>
  <dc:subject>PptxGenJS Presentation</dc:subject>
  <dc:creator>Javier Benavides</dc:creator>
  <cp:lastModifiedBy>Javier Benavides</cp:lastModifiedBy>
  <cp:revision>1</cp:revision>
  <dcterms:created xsi:type="dcterms:W3CDTF">2026-08-17T12:15:24Z</dcterms:created>
  <dcterms:modified xsi:type="dcterms:W3CDTF">2026-08-17T12:15:24Z</dcterms:modified>
</cp:coreProperties>
</file>